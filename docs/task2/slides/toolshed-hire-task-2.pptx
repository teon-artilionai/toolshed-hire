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fb5acc7-47e1-56c0-b488-12337f2771bf}">
          <p14:sldIdLst>
            <p14:sldId id="256"/>
          </p14:sldIdLst>
        </p14:section>
        <p14:section name="The problem and the requirements" id="{043fdbd7-bc97-2f5f-241c-7df38d7198ae}">
          <p14:sldIdLst>
            <p14:sldId id="257"/>
            <p14:sldId id="258"/>
            <p14:sldId id="259"/>
          </p14:sldIdLst>
        </p14:section>
        <p14:section name="How it is built" id="{5c7f082b-10e8-ea88-1d81-14575d9f9d14}">
          <p14:sldIdLst>
            <p14:sldId id="260"/>
            <p14:sldId id="261"/>
            <p14:sldId id="262"/>
            <p14:sldId id="263"/>
          </p14:sldIdLst>
        </p14:section>
        <p14:section name="How it is delivered" id="{fd97d94b-0ff4-023b-5b91-969050f13a09}">
          <p14:sldIdLst>
            <p14:sldId id="264"/>
            <p14:sldId id="265"/>
          </p14:sldIdLst>
        </p14:section>
        <p14:section name="Live demonstration" id="{2c9eda83-7354-e3f6-bd62-30972ebe0555}">
          <p14:sldIdLst>
            <p14:sldId id="266"/>
          </p14:sldIdLst>
        </p14:section>
        <p14:section name="Testing, deviations and what is next" id="{fa1e855b-89fb-3c12-8176-55fb3e370b3a}">
          <p14:sldIdLst>
            <p14:sldId id="267"/>
            <p14:sldId id="268"/>
            <p14:sldId id="269"/>
          </p14:sldIdLst>
        </p14:section>
        <p14:section name="Close" id="{b2dbfc3a-88bf-2f2a-d52d-714c8155b66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introduce myself and say that this is the built system I designed in Task 1. Everything I show today runs on the production site, and the code, the pipeline and the evidence are all in the public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keep this short, because Task 1 covered it. The three problems drive everything that follows. The database now prevents the first, the locator answers the second, and the report answers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24 screens read from the API now, and no screen shows sample data any more. I say plainly that the statement download and the damage photographs are the parts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open the README on GitHub and scroll the traceability table. I pick FR-07, no unit with two overlapping bookings, and follow it to the pull request and to the test that proves it. I mention that the non-functional requirements are mapped to how I verify each one in the test plan, honestly, including the ones I have not verified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show the request path diagram. The browser only talks to the site's own address, and Vercel passes /api to Cloud Run on the server side, which keeps the refresh cookie on one origin and lets the Content Security Policy allow this origin alone. The rules sit in the domain layer, and a contract fails the build if anything there imports a database or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pattern I show the file and say the problem it solves here. I point out that a test reads every module to prove that only the policy works out a price or a late fee, so the rule cannot leak into other code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show the constraint in the backend README. Periods are half open, so a return on the twelfth frees the twelfth. I explain that the lock with SKIP LOCKED lets concurrent bookings take different units, and the constraint has the last word if anything gets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open the security controls file and say that I only marked a control in place where I can point at the code or the test. I name the ones still open, which are the photograph upload, edge filtering, alerting and the incident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switch to GitHub and show the branch list, a merged pull request with its checks and its "Manual verification" section, the Actions history, and the rulesets. I say that I am the only person on the project, so the checks are the review gate and I do not claim a second reviewer.
On GitHub, in this order.
1. The branch list. "Every branch is named after its issue, and I keep merged branches so the list shows the work."
2. A merged pull request, for example #55. "The description says what changed, why, how I checked it by hand and what I found in my own review. Both required checks passed before it merged."
3. The Actions page. "Fast checks on every push, integration checks on every pull request, and staging on every merge, followed by the header and TLS check and the three journeys in a browser. The journeys keep no trace or video, because those would record the passwords."
4. The v0.4.0 production deployment run. "It waited for my approval, smoke tested the candidate revision, shifted the traffic only then, and checked the deployed headers and TLS last."
5. The rulesets and environments. "The rules apply to me as well. Production only accepts version tags, and only after my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show the v0.4.0 production deployment run, cut from release/task-2, with its approval step and its summary. I explain why the API sits in London beside the database, and that the cold start is the price of scaling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the demonstration script in presentation.md. What I click comes first, and what I say is in quotes.
Customer, about one and a quarter minutes.
1. Open the catalogue home, pick dates from tomorrow and search. "No account is needed to see what we hire and what it costs."
2. Point at the results, then choose Bellville as the branch. "This one search replaces three phone calls. It says free or not free for each branch and never how many units there are."
3. Open a model, add it to the basket and review. "The price is the server's quote, and the browser does no sum of its own. Reviewing needs an account, so the site sends me to sign in and brings me back."
4. Sign in as the demo customer, then Hold. "Named units are now set aside for thirty minutes, and the countdown shows it."
5. Confirm. "The booking has a reference. The screen does not promise an email, because this demonstration only delivers to my own address."
6. My Hires, open the booking and cancel it. "The customer sees their own bookings only, and cancelling releases the units in the same transaction."
7. Account, then the last page of the hire history. "This closed hire is the worked example from Task 1, with the deposit shown as held, kept and returned. The newer hires come from the season of trading history the seed writes."
8. Sign out.
Counter, about one and three quarter minutes.
1. Sign in as the Cape Town CBD counter assistant. "Counter staff land on today's dashboard for their own branch."
2. Customers, register a walk-in with a made up name. "A walk-in has no login. Only the last four characters of the identity document are typed in."
3. New Booking for that customer, one unit for today, review, hold, confirm. "The counter uses exactly the same booking path as a customer. The server allocates the unit and shows its tag to staff."
4. Check out now, tick the tag, keep the condition, sign the agreement, confirm. "One transaction opens the hire, puts the unit on hire and takes the deposit."
5. Open the hire's return, tick the unit, take it back. "Back before the due date means no late fee, so the deposit is released in full and nothing is due."
6. Locator, search TSH-DR-0042. "Any unit at any branch, read only. This answers the second problem."
7. Type /counter/return/TSH-H-26-000098 in the address bar. "The return screen opens a hire by its reference. This is the worked example. R1,200.00 held, two days late at R120.00, R240.00 withheld, R960.00 released, R0.00 due. A test follows the same figures through the API on every pull request."
8. Sign out.
Owner, about two and a half minutes.
1. Sign in as the administrator. "The owner lands on the dashboard of the whole business. Each branch today, the month so far, and what waits on the owner, open damage reports, customers on hold and failed emails, each a link to where I would go next."
2. Open the report, which starts at the last full month, September 2026, and group by branch. "Utilisation is the days a unit was booked over the days it was in the fleet and fit to hire, so a broken machine neither flatters nor punishes it. Each branch shows about 20 to 24 percent over the season the seed writes. Gross contribution is never called profit, because the system carries no overheads."
3. Download CSV and open it. "The first line repeats both definitions. A cell a spreadsheet would run as a formula is escaped, and a negative amount stays a number so the owner can add it up."
4. Catalogue, search BR-HILTI-TE1000AVR, Edit, raise the daily rate, Save. "The question says before anything is saved that bookings already made keep the rate they were booked at. Every booking copies its rates when it is made, and a test proves a booking at R280 stays at R280 after the rate goes to R310." Then I put the rate back the same way.
5. Asset register, Register a unit with the new tag, commission it, then retire it with a reason. "A tag, its model and its branch never change once a unit is registered. Retiring is refused while a booking holds the unit, and the refusal names the booking. A retired unit keeps its row and its history and is never offered for hire again."
6. Users, add a counter assistant at Bellville, then deactivate them with a reason. "Nobody sees a password, me included. The person chooses their own from a link, and the screen says this demonstration cannot deliver it to that address. Setting the password through the link also verifies their email. Deactivating revokes every session the person has, and the last administrator can never be deactivated or demoted."
7. Customer holds. "Three no shows in twelve months put a customer on hold, and only the owner can release a hold, set one or blacklist a customer, each with a reason. A customer on hold is refused new bookings with one neutral refusal that names no cause. Releasing keeps the no show count."
8. Audit trail, newest first. "Every change I just made is here, who made it, in what role and the values before and after. Nobody can change this trail, the owner included. The database role the application uses cannot update or delete an event, and a test tries both."
9.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show the test plan table and one concurrency test. I mention the report's dataset worked out by hand, 31.25 percent and R1,321.95, and that axe finds nothing at any impact on all 24 screens. I say what is not verified yet, which is the load test, the volume test and the restore drill on the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open the deviations file and give the reason for two or three of them. I want it clear that each change was a decision with a reason and not something that drifted.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close the technical part by saying what Task 3 has to finish and that v1.0.0 is kept for the release where the built system matches the whole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thank the viewer and point at the README as the place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SH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148840"/>
            <a:ext cx="6949440" cy="868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457200" y="3090672"/>
            <a:ext cx="6766560" cy="502920"/>
          </a:xfrm>
          <a:prstGeom prst="rect">
            <a:avLst/>
          </a:prstGeom>
          <a:noFill/>
          <a:ln/>
        </p:spPr>
        <p:txBody>
          <a:bodyPr wrap="square" rtlCol="0"/>
          <a:lstStyle>
            <a:lvl1pPr algn="l" indent="0" marL="0">
              <a:buNone/>
              <a:defRPr lang="en-US" sz="2400" dirty="0">
                <a:solidFill>
                  <a:srgbClr val="CBD5E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SH_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rtlCol="0"/>
          <a:lstStyle>
            <a:lvl1pPr algn="l" indent="0" marL="0">
              <a:buNone/>
              <a:defRPr lang="en-US" sz="1200" b="1"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pic>
        <p:nvPicPr>
          <p:cNvPr id="4" name="Image 0" descr="C:\Users\teon\OneDrive\Projects\ToolshedHire\docs\task1\assets\toolshed-hire-mark.png">    </p:cNvPr>
          <p:cNvPicPr>
            <a:picLocks noChangeAspect="1"/>
          </p:cNvPicPr>
          <p:nvPr/>
        </p:nvPicPr>
        <p:blipFill>
          <a:blip r:embed="rId1"/>
          <a:stretch>
            <a:fillRect/>
          </a:stretch>
        </p:blipFill>
        <p:spPr>
          <a:xfrm>
            <a:off x="457200" y="6144768"/>
            <a:ext cx="256032" cy="256032"/>
          </a:xfrm>
          <a:prstGeom prst="rect">
            <a:avLst/>
          </a:prstGeom>
        </p:spPr>
      </p:pic>
      <p:sp>
        <p:nvSpPr>
          <p:cNvPr id="5" name="Text 0"/>
          <p:cNvSpPr/>
          <p:nvPr/>
        </p:nvSpPr>
        <p:spPr>
          <a:xfrm>
            <a:off x="822960" y="6144768"/>
            <a:ext cx="841248" cy="256032"/>
          </a:xfrm>
          <a:prstGeom prst="rect">
            <a:avLst/>
          </a:prstGeom>
          <a:noFill/>
          <a:ln/>
        </p:spPr>
        <p:txBody>
          <a:bodyPr wrap="square" lIns="0" tIns="0" rIns="0" bIns="0" rtlCol="0" anchor="ctr"/>
          <a:lstStyle/>
          <a:p>
            <a:pPr indent="0" marL="0">
              <a:buNone/>
            </a:pPr>
            <a:r>
              <a:rPr lang="en-US" sz="1000" b="1" dirty="0">
                <a:solidFill>
                  <a:schemeClr val="tx1"/>
                </a:solidFill>
              </a:rPr>
              <a:t>Toolshed Hire</a:t>
            </a:r>
            <a:endParaRPr lang="en-US" sz="1000" dirty="0"/>
          </a:p>
        </p:txBody>
      </p:sp>
      <p:sp>
        <p:nvSpPr>
          <p:cNvPr id="6" name="Text 1"/>
          <p:cNvSpPr/>
          <p:nvPr/>
        </p:nvSpPr>
        <p:spPr>
          <a:xfrm>
            <a:off x="1709928" y="6144768"/>
            <a:ext cx="2743200" cy="256032"/>
          </a:xfrm>
          <a:prstGeom prst="rect">
            <a:avLst/>
          </a:prstGeom>
          <a:noFill/>
          <a:ln/>
        </p:spPr>
        <p:txBody>
          <a:bodyPr wrap="square" lIns="0" tIns="0" rIns="0" bIns="0" rtlCol="0" anchor="ctr"/>
          <a:lstStyle/>
          <a:p>
            <a:pPr indent="0" marL="0">
              <a:buNone/>
            </a:pPr>
            <a:r>
              <a:rPr lang="en-US" sz="1000" dirty="0">
                <a:solidFill>
                  <a:srgbClr val="5D6B7E"/>
                </a:solidFill>
              </a:rPr>
              <a:t>Task 2, INSY7315</a:t>
            </a:r>
            <a:endParaRPr lang="en-US" sz="10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SH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600200"/>
            <a:ext cx="6949440" cy="10058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pic>
        <p:nvPicPr>
          <p:cNvPr id="3" name="Image 0" descr="C:\Users\teon\OneDrive\Projects\ToolshedHire\docs\task1\assets\toolshed-hire-mark.png">    </p:cNvPr>
          <p:cNvPicPr>
            <a:picLocks noChangeAspect="1"/>
          </p:cNvPicPr>
          <p:nvPr/>
        </p:nvPicPr>
        <p:blipFill>
          <a:blip r:embed="rId1"/>
          <a:stretch>
            <a:fillRect/>
          </a:stretch>
        </p:blipFill>
        <p:spPr>
          <a:xfrm>
            <a:off x="457200" y="6144768"/>
            <a:ext cx="256032" cy="256032"/>
          </a:xfrm>
          <a:prstGeom prst="rect">
            <a:avLst/>
          </a:prstGeom>
        </p:spPr>
      </p:pic>
      <p:sp>
        <p:nvSpPr>
          <p:cNvPr id="4" name="Text 0"/>
          <p:cNvSpPr/>
          <p:nvPr/>
        </p:nvSpPr>
        <p:spPr>
          <a:xfrm>
            <a:off x="822960" y="6144768"/>
            <a:ext cx="841248" cy="256032"/>
          </a:xfrm>
          <a:prstGeom prst="rect">
            <a:avLst/>
          </a:prstGeom>
          <a:noFill/>
          <a:ln/>
        </p:spPr>
        <p:txBody>
          <a:bodyPr wrap="square" lIns="0" tIns="0" rIns="0" bIns="0" rtlCol="0" anchor="ctr"/>
          <a:lstStyle/>
          <a:p>
            <a:pPr indent="0" marL="0">
              <a:buNone/>
            </a:pPr>
            <a:r>
              <a:rPr lang="en-US" sz="1000" b="1" dirty="0">
                <a:solidFill>
                  <a:schemeClr val="bg1"/>
                </a:solidFill>
              </a:rPr>
              <a:t>Toolshed Hire</a:t>
            </a:r>
            <a:endParaRPr lang="en-US" sz="1000" dirty="0"/>
          </a:p>
        </p:txBody>
      </p:sp>
      <p:sp>
        <p:nvSpPr>
          <p:cNvPr id="5" name="Text 1"/>
          <p:cNvSpPr/>
          <p:nvPr/>
        </p:nvSpPr>
        <p:spPr>
          <a:xfrm>
            <a:off x="1709928" y="6144768"/>
            <a:ext cx="2743200" cy="256032"/>
          </a:xfrm>
          <a:prstGeom prst="rect">
            <a:avLst/>
          </a:prstGeom>
          <a:noFill/>
          <a:ln/>
        </p:spPr>
        <p:txBody>
          <a:bodyPr wrap="square" lIns="0" tIns="0" rIns="0" bIns="0" rtlCol="0" anchor="ctr"/>
          <a:lstStyle/>
          <a:p>
            <a:pPr indent="0" marL="0">
              <a:buNone/>
            </a:pPr>
            <a:r>
              <a:rPr lang="en-US" sz="1000" dirty="0">
                <a:solidFill>
                  <a:srgbClr val="CBD5E1"/>
                </a:solidFill>
              </a:rPr>
              <a:t>Task 2, INSY7315</a:t>
            </a:r>
            <a:endParaRPr lang="en-US" sz="10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CBD5E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txBox="1"/>
          <p:nvPr/>
        </p:nvSpPr>
        <p:spPr>
          <a:xfrm>
            <a:off x="457200" y="1783080"/>
            <a:ext cx="6766560" cy="292608"/>
          </a:xfrm>
          <a:prstGeom prst="rect">
            <a:avLst/>
          </a:prstGeom>
          <a:noFill/>
          <a:ln/>
        </p:spPr>
        <p:txBody>
          <a:bodyPr wrap="square" lIns="0" tIns="0" rIns="0" bIns="0" rtlCol="0" anchor="t"/>
          <a:lstStyle/>
          <a:p>
            <a:pPr indent="0" marL="0">
              <a:buNone/>
            </a:pPr>
            <a:r>
              <a:rPr lang="en-US" sz="1400" b="1" spc="200" kern="0" dirty="0">
                <a:solidFill>
                  <a:schemeClr val="accent1"/>
                </a:solidFill>
              </a:rPr>
              <a:t>WORK INTEGRATED LEARNING, OCTOBER 2026</a:t>
            </a:r>
            <a:endParaRPr lang="en-US" sz="1400" dirty="0"/>
          </a:p>
        </p:txBody>
      </p:sp>
      <p:sp>
        <p:nvSpPr>
          <p:cNvPr id="4" name="Text 0"/>
          <p:cNvSpPr/>
          <p:nvPr>
            <p:ph idx="100" type="title" hasCustomPrompt="1"/>
          </p:nvPr>
        </p:nvSpPr>
        <p:spPr>
          <a:xfrm>
            <a:off x="457200" y="2148840"/>
            <a:ext cx="6949440" cy="868680"/>
          </a:xfrm>
          <a:prstGeom prst="rect">
            <a:avLst/>
          </a:prstGeom>
          <a:noFill/>
          <a:ln/>
        </p:spPr>
        <p:txBody>
          <a:bodyPr wrap="square" lIns="0" tIns="0" rIns="0" bIns="0" rtlCol="0" anchor="ctr"/>
          <a:lstStyle/>
          <a:p>
            <a:pPr algn="l" indent="0" marL="0">
              <a:buNone/>
            </a:pPr>
            <a:r>
              <a:rPr lang="en-US" sz="4800" b="1" dirty="0">
                <a:solidFill>
                  <a:schemeClr val="bg1"/>
                </a:solidFill>
              </a:rPr>
              <a:t>Toolshed Hire, Task 2</a:t>
            </a:r>
            <a:endParaRPr lang="en-US" sz="4800" dirty="0"/>
          </a:p>
        </p:txBody>
      </p:sp>
      <p:sp>
        <p:nvSpPr>
          <p:cNvPr id="5" name="Text 0"/>
          <p:cNvSpPr/>
          <p:nvPr>
            <p:ph idx="101" type="body" hasCustomPrompt="1"/>
          </p:nvPr>
        </p:nvSpPr>
        <p:spPr>
          <a:xfrm>
            <a:off x="457200" y="3090672"/>
            <a:ext cx="6766560" cy="502920"/>
          </a:xfrm>
          <a:prstGeom prst="rect">
            <a:avLst/>
          </a:prstGeom>
          <a:noFill/>
          <a:ln/>
        </p:spPr>
        <p:txBody>
          <a:bodyPr wrap="square" lIns="0" tIns="0" rIns="0" bIns="0" rtlCol="0" anchor="t"/>
          <a:lstStyle/>
          <a:p>
            <a:pPr algn="l" indent="0" marL="0">
              <a:buNone/>
            </a:pPr>
            <a:r>
              <a:rPr lang="en-US" sz="2400" dirty="0">
                <a:solidFill>
                  <a:srgbClr val="CBD5E1"/>
                </a:solidFill>
              </a:rPr>
              <a:t>The built system for INSY7315</a:t>
            </a:r>
            <a:endParaRPr lang="en-US" sz="2400" dirty="0"/>
          </a:p>
        </p:txBody>
      </p:sp>
      <p:sp>
        <p:nvSpPr>
          <p:cNvPr id="6" name="Glyph part 2"/>
          <p:cNvSpPr/>
          <p:nvPr/>
        </p:nvSpPr>
        <p:spPr>
          <a:xfrm>
            <a:off x="475488" y="4187952"/>
            <a:ext cx="146304" cy="146304"/>
          </a:xfrm>
          <a:prstGeom prst="ellipse">
            <a:avLst/>
          </a:prstGeom>
          <a:solidFill>
            <a:schemeClr val="accent1"/>
          </a:solidFill>
          <a:ln/>
        </p:spPr>
      </p:sp>
      <p:sp>
        <p:nvSpPr>
          <p:cNvPr id="7" name="Text 3"/>
          <p:cNvSpPr txBox="1"/>
          <p:nvPr/>
        </p:nvSpPr>
        <p:spPr>
          <a:xfrm>
            <a:off x="804672" y="4069080"/>
            <a:ext cx="6400800" cy="384048"/>
          </a:xfrm>
          <a:prstGeom prst="rect">
            <a:avLst/>
          </a:prstGeom>
          <a:noFill/>
          <a:ln/>
        </p:spPr>
        <p:txBody>
          <a:bodyPr wrap="square" lIns="0" tIns="0" rIns="0" bIns="0" rtlCol="0" anchor="ctr"/>
          <a:lstStyle/>
          <a:p>
            <a:pPr indent="0" marL="0">
              <a:buNone/>
            </a:pPr>
            <a:r>
              <a:rPr lang="en-US" sz="1800" dirty="0">
                <a:solidFill>
                  <a:schemeClr val="bg1"/>
                </a:solidFill>
              </a:rPr>
              <a:t>Teon Kleynhans, ST10434209, working alone</a:t>
            </a:r>
            <a:endParaRPr lang="en-US" sz="1800" dirty="0"/>
          </a:p>
        </p:txBody>
      </p:sp>
      <p:sp>
        <p:nvSpPr>
          <p:cNvPr id="8" name="Glyph part 4"/>
          <p:cNvSpPr/>
          <p:nvPr/>
        </p:nvSpPr>
        <p:spPr>
          <a:xfrm>
            <a:off x="475488" y="4690872"/>
            <a:ext cx="146304" cy="146304"/>
          </a:xfrm>
          <a:prstGeom prst="ellipse">
            <a:avLst/>
          </a:prstGeom>
          <a:solidFill>
            <a:schemeClr val="accent1"/>
          </a:solidFill>
          <a:ln/>
        </p:spPr>
      </p:sp>
      <p:sp>
        <p:nvSpPr>
          <p:cNvPr id="9" name="Text 5"/>
          <p:cNvSpPr txBox="1"/>
          <p:nvPr/>
        </p:nvSpPr>
        <p:spPr>
          <a:xfrm>
            <a:off x="804672" y="4572000"/>
            <a:ext cx="6400800" cy="384048"/>
          </a:xfrm>
          <a:prstGeom prst="rect">
            <a:avLst/>
          </a:prstGeom>
          <a:noFill/>
          <a:ln/>
        </p:spPr>
        <p:txBody>
          <a:bodyPr wrap="square" lIns="0" tIns="0" rIns="0" bIns="0" rtlCol="0" anchor="ctr"/>
          <a:lstStyle/>
          <a:p>
            <a:pPr indent="0" marL="0">
              <a:buNone/>
            </a:pPr>
            <a:r>
              <a:rPr lang="en-US" sz="1800" dirty="0">
                <a:solidFill>
                  <a:schemeClr val="bg1"/>
                </a:solidFill>
              </a:rPr>
              <a:t>Live at toolshed-hire.vercel.app</a:t>
            </a:r>
            <a:endParaRPr lang="en-US" sz="1800" dirty="0"/>
          </a:p>
        </p:txBody>
      </p:sp>
      <p:sp>
        <p:nvSpPr>
          <p:cNvPr id="10" name="Card 6"/>
          <p:cNvSpPr/>
          <p:nvPr/>
        </p:nvSpPr>
        <p:spPr>
          <a:xfrm>
            <a:off x="7635240" y="1783080"/>
            <a:ext cx="4099255" cy="3200400"/>
          </a:xfrm>
          <a:prstGeom prst="roundRect">
            <a:avLst>
              <a:gd name="adj" fmla="val 4571"/>
            </a:avLst>
          </a:prstGeom>
          <a:solidFill>
            <a:schemeClr val="bg1"/>
          </a:solidFill>
          <a:ln/>
        </p:spPr>
      </p:sp>
      <p:pic>
        <p:nvPicPr>
          <p:cNvPr id="11" name="Toolshed Hire logo" descr="Toolshed Hire">    </p:cNvPr>
          <p:cNvPicPr>
            <a:picLocks noChangeAspect="1"/>
          </p:cNvPicPr>
          <p:nvPr/>
        </p:nvPicPr>
        <p:blipFill>
          <a:blip r:embed="rId1"/>
          <a:stretch>
            <a:fillRect/>
          </a:stretch>
        </p:blipFill>
        <p:spPr>
          <a:xfrm>
            <a:off x="8084668" y="2438781"/>
            <a:ext cx="3200400" cy="1020319"/>
          </a:xfrm>
          <a:prstGeom prst="rect">
            <a:avLst/>
          </a:prstGeom>
        </p:spPr>
      </p:pic>
      <p:sp>
        <p:nvSpPr>
          <p:cNvPr id="12" name="Text 7"/>
          <p:cNvSpPr txBox="1"/>
          <p:nvPr/>
        </p:nvSpPr>
        <p:spPr>
          <a:xfrm>
            <a:off x="8084668" y="3824859"/>
            <a:ext cx="3200400" cy="502920"/>
          </a:xfrm>
          <a:prstGeom prst="rect">
            <a:avLst/>
          </a:prstGeom>
          <a:noFill/>
          <a:ln/>
        </p:spPr>
        <p:txBody>
          <a:bodyPr wrap="square" lIns="0" tIns="0" rIns="0" bIns="0" rtlCol="0" anchor="t"/>
          <a:lstStyle/>
          <a:p>
            <a:pPr indent="0" marL="0">
              <a:buNone/>
            </a:pPr>
            <a:r>
              <a:rPr lang="en-US" sz="1400" dirty="0">
                <a:solidFill>
                  <a:schemeClr val="tx2"/>
                </a:solidFill>
              </a:rPr>
              <a:t>Rental management for a tool hire business with three branches in Cape Town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1  |  THE PROBLEM AND THE REQUIREMENTS</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The problem</a:t>
            </a:r>
            <a:endParaRPr lang="en-US" sz="3600" dirty="0"/>
          </a:p>
        </p:txBody>
      </p:sp>
      <p:sp>
        <p:nvSpPr>
          <p:cNvPr id="5" name="Card 8"/>
          <p:cNvSpPr/>
          <p:nvPr/>
        </p:nvSpPr>
        <p:spPr>
          <a:xfrm>
            <a:off x="457200" y="1645920"/>
            <a:ext cx="1554480" cy="1417320"/>
          </a:xfrm>
          <a:prstGeom prst="roundRect">
            <a:avLst>
              <a:gd name="adj" fmla="val 64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Text 9"/>
          <p:cNvSpPr txBox="1"/>
          <p:nvPr/>
        </p:nvSpPr>
        <p:spPr>
          <a:xfrm>
            <a:off x="685800" y="1755648"/>
            <a:ext cx="1097280" cy="685800"/>
          </a:xfrm>
          <a:prstGeom prst="rect">
            <a:avLst/>
          </a:prstGeom>
          <a:noFill/>
          <a:ln/>
        </p:spPr>
        <p:txBody>
          <a:bodyPr wrap="square" lIns="0" tIns="0" rIns="0" bIns="0" rtlCol="0" anchor="b"/>
          <a:lstStyle/>
          <a:p>
            <a:pPr indent="0" marL="0">
              <a:buNone/>
            </a:pPr>
            <a:r>
              <a:rPr lang="en-US" sz="4000" b="1" dirty="0">
                <a:solidFill>
                  <a:schemeClr val="tx1"/>
                </a:solidFill>
              </a:rPr>
              <a:t>3</a:t>
            </a:r>
            <a:endParaRPr lang="en-US" sz="4000" dirty="0"/>
          </a:p>
        </p:txBody>
      </p:sp>
      <p:sp>
        <p:nvSpPr>
          <p:cNvPr id="7" name="Text 10"/>
          <p:cNvSpPr txBox="1"/>
          <p:nvPr/>
        </p:nvSpPr>
        <p:spPr>
          <a:xfrm>
            <a:off x="685800" y="2496312"/>
            <a:ext cx="1097280" cy="320040"/>
          </a:xfrm>
          <a:prstGeom prst="rect">
            <a:avLst/>
          </a:prstGeom>
          <a:noFill/>
          <a:ln/>
        </p:spPr>
        <p:txBody>
          <a:bodyPr wrap="square" lIns="0" tIns="0" rIns="0" bIns="0" rtlCol="0" anchor="t"/>
          <a:lstStyle/>
          <a:p>
            <a:pPr indent="0" marL="0">
              <a:buNone/>
            </a:pPr>
            <a:r>
              <a:rPr lang="en-US" sz="1400" dirty="0">
                <a:solidFill>
                  <a:schemeClr val="tx2"/>
                </a:solidFill>
              </a:rPr>
              <a:t>branches</a:t>
            </a:r>
            <a:endParaRPr lang="en-US" sz="1400" dirty="0"/>
          </a:p>
        </p:txBody>
      </p:sp>
      <p:sp>
        <p:nvSpPr>
          <p:cNvPr id="8" name="Card 11"/>
          <p:cNvSpPr/>
          <p:nvPr/>
        </p:nvSpPr>
        <p:spPr>
          <a:xfrm>
            <a:off x="2286000" y="1645920"/>
            <a:ext cx="1554480" cy="1417320"/>
          </a:xfrm>
          <a:prstGeom prst="roundRect">
            <a:avLst>
              <a:gd name="adj" fmla="val 64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9" name="Text 12"/>
          <p:cNvSpPr txBox="1"/>
          <p:nvPr/>
        </p:nvSpPr>
        <p:spPr>
          <a:xfrm>
            <a:off x="2514600" y="1755648"/>
            <a:ext cx="1097280" cy="685800"/>
          </a:xfrm>
          <a:prstGeom prst="rect">
            <a:avLst/>
          </a:prstGeom>
          <a:noFill/>
          <a:ln/>
        </p:spPr>
        <p:txBody>
          <a:bodyPr wrap="square" lIns="0" tIns="0" rIns="0" bIns="0" rtlCol="0" anchor="b"/>
          <a:lstStyle/>
          <a:p>
            <a:pPr indent="0" marL="0">
              <a:buNone/>
            </a:pPr>
            <a:r>
              <a:rPr lang="en-US" sz="4000" b="1" dirty="0">
                <a:solidFill>
                  <a:schemeClr val="tx1"/>
                </a:solidFill>
              </a:rPr>
              <a:t>400</a:t>
            </a:r>
            <a:endParaRPr lang="en-US" sz="4000" dirty="0"/>
          </a:p>
        </p:txBody>
      </p:sp>
      <p:sp>
        <p:nvSpPr>
          <p:cNvPr id="10" name="Text 13"/>
          <p:cNvSpPr txBox="1"/>
          <p:nvPr/>
        </p:nvSpPr>
        <p:spPr>
          <a:xfrm>
            <a:off x="2514600" y="2496312"/>
            <a:ext cx="1097280" cy="320040"/>
          </a:xfrm>
          <a:prstGeom prst="rect">
            <a:avLst/>
          </a:prstGeom>
          <a:noFill/>
          <a:ln/>
        </p:spPr>
        <p:txBody>
          <a:bodyPr wrap="square" lIns="0" tIns="0" rIns="0" bIns="0" rtlCol="0" anchor="t"/>
          <a:lstStyle/>
          <a:p>
            <a:pPr indent="0" marL="0">
              <a:buNone/>
            </a:pPr>
            <a:r>
              <a:rPr lang="en-US" sz="1400" dirty="0">
                <a:solidFill>
                  <a:schemeClr val="tx2"/>
                </a:solidFill>
              </a:rPr>
              <a:t>tagged units</a:t>
            </a:r>
            <a:endParaRPr lang="en-US" sz="1400" dirty="0"/>
          </a:p>
        </p:txBody>
      </p:sp>
      <p:sp>
        <p:nvSpPr>
          <p:cNvPr id="11" name="Card 14"/>
          <p:cNvSpPr/>
          <p:nvPr/>
        </p:nvSpPr>
        <p:spPr>
          <a:xfrm>
            <a:off x="4114800" y="1645920"/>
            <a:ext cx="1554480" cy="1417320"/>
          </a:xfrm>
          <a:prstGeom prst="roundRect">
            <a:avLst>
              <a:gd name="adj" fmla="val 64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2" name="Text 15"/>
          <p:cNvSpPr txBox="1"/>
          <p:nvPr/>
        </p:nvSpPr>
        <p:spPr>
          <a:xfrm>
            <a:off x="4343400" y="1755648"/>
            <a:ext cx="1097280" cy="685800"/>
          </a:xfrm>
          <a:prstGeom prst="rect">
            <a:avLst/>
          </a:prstGeom>
          <a:noFill/>
          <a:ln/>
        </p:spPr>
        <p:txBody>
          <a:bodyPr wrap="square" lIns="0" tIns="0" rIns="0" bIns="0" rtlCol="0" anchor="b"/>
          <a:lstStyle/>
          <a:p>
            <a:pPr indent="0" marL="0">
              <a:buNone/>
            </a:pPr>
            <a:r>
              <a:rPr lang="en-US" sz="4000" b="1" dirty="0">
                <a:solidFill>
                  <a:schemeClr val="tx1"/>
                </a:solidFill>
              </a:rPr>
              <a:t>120</a:t>
            </a:r>
            <a:endParaRPr lang="en-US" sz="4000" dirty="0"/>
          </a:p>
        </p:txBody>
      </p:sp>
      <p:sp>
        <p:nvSpPr>
          <p:cNvPr id="13" name="Text 16"/>
          <p:cNvSpPr txBox="1"/>
          <p:nvPr/>
        </p:nvSpPr>
        <p:spPr>
          <a:xfrm>
            <a:off x="4343400" y="2496312"/>
            <a:ext cx="1097280" cy="320040"/>
          </a:xfrm>
          <a:prstGeom prst="rect">
            <a:avLst/>
          </a:prstGeom>
          <a:noFill/>
          <a:ln/>
        </p:spPr>
        <p:txBody>
          <a:bodyPr wrap="square" lIns="0" tIns="0" rIns="0" bIns="0" rtlCol="0" anchor="t"/>
          <a:lstStyle/>
          <a:p>
            <a:pPr indent="0" marL="0">
              <a:buNone/>
            </a:pPr>
            <a:r>
              <a:rPr lang="en-US" sz="1400" dirty="0">
                <a:solidFill>
                  <a:schemeClr val="tx2"/>
                </a:solidFill>
              </a:rPr>
              <a:t>models</a:t>
            </a:r>
            <a:endParaRPr lang="en-US" sz="1400" dirty="0"/>
          </a:p>
        </p:txBody>
      </p:sp>
      <p:sp>
        <p:nvSpPr>
          <p:cNvPr id="14" name="Card 17"/>
          <p:cNvSpPr/>
          <p:nvPr/>
        </p:nvSpPr>
        <p:spPr>
          <a:xfrm>
            <a:off x="457200" y="3337560"/>
            <a:ext cx="5212080" cy="2514600"/>
          </a:xfrm>
          <a:prstGeom prst="roundRect">
            <a:avLst>
              <a:gd name="adj" fmla="val 3636"/>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5" name="Icon doc 18"/>
          <p:cNvSpPr/>
          <p:nvPr/>
        </p:nvSpPr>
        <p:spPr>
          <a:xfrm>
            <a:off x="731520" y="3657600"/>
            <a:ext cx="640080" cy="640080"/>
          </a:xfrm>
          <a:prstGeom prst="ellipse">
            <a:avLst/>
          </a:prstGeom>
          <a:solidFill>
            <a:schemeClr val="accent1"/>
          </a:solidFill>
          <a:ln/>
        </p:spPr>
      </p:sp>
      <p:sp>
        <p:nvSpPr>
          <p:cNvPr id="16" name="Glyph part 20"/>
          <p:cNvSpPr/>
          <p:nvPr/>
        </p:nvSpPr>
        <p:spPr>
          <a:xfrm>
            <a:off x="936346" y="3817620"/>
            <a:ext cx="230429" cy="320040"/>
          </a:xfrm>
          <a:prstGeom prst="snip1Rect">
            <a:avLst/>
          </a:prstGeom>
          <a:solidFill>
            <a:schemeClr val="tx1"/>
          </a:solidFill>
          <a:ln/>
        </p:spPr>
      </p:sp>
      <p:sp>
        <p:nvSpPr>
          <p:cNvPr id="17" name="Glyph part 21"/>
          <p:cNvSpPr/>
          <p:nvPr/>
        </p:nvSpPr>
        <p:spPr>
          <a:xfrm>
            <a:off x="981151" y="3952037"/>
            <a:ext cx="140818" cy="22403"/>
          </a:xfrm>
          <a:prstGeom prst="rect">
            <a:avLst/>
          </a:prstGeom>
          <a:solidFill>
            <a:schemeClr val="accent1"/>
          </a:solidFill>
          <a:ln/>
        </p:spPr>
      </p:sp>
      <p:sp>
        <p:nvSpPr>
          <p:cNvPr id="18" name="Glyph part 22"/>
          <p:cNvSpPr/>
          <p:nvPr/>
        </p:nvSpPr>
        <p:spPr>
          <a:xfrm>
            <a:off x="981151" y="4016045"/>
            <a:ext cx="140818" cy="22403"/>
          </a:xfrm>
          <a:prstGeom prst="rect">
            <a:avLst/>
          </a:prstGeom>
          <a:solidFill>
            <a:schemeClr val="accent1"/>
          </a:solidFill>
          <a:ln/>
        </p:spPr>
      </p:sp>
      <p:sp>
        <p:nvSpPr>
          <p:cNvPr id="19" name="Icon chat 23"/>
          <p:cNvSpPr/>
          <p:nvPr/>
        </p:nvSpPr>
        <p:spPr>
          <a:xfrm>
            <a:off x="1554480" y="3657600"/>
            <a:ext cx="640080" cy="640080"/>
          </a:xfrm>
          <a:prstGeom prst="ellipse">
            <a:avLst/>
          </a:prstGeom>
          <a:solidFill>
            <a:schemeClr val="tx2"/>
          </a:solidFill>
          <a:ln/>
        </p:spPr>
      </p:sp>
      <p:sp>
        <p:nvSpPr>
          <p:cNvPr id="20" name="Glyph part 25"/>
          <p:cNvSpPr/>
          <p:nvPr/>
        </p:nvSpPr>
        <p:spPr>
          <a:xfrm>
            <a:off x="1714500" y="3843223"/>
            <a:ext cx="320040" cy="211226"/>
          </a:xfrm>
          <a:prstGeom prst="wedgeRoundRectCallout">
            <a:avLst/>
          </a:prstGeom>
          <a:solidFill>
            <a:schemeClr val="bg1"/>
          </a:solidFill>
          <a:ln/>
        </p:spPr>
      </p:sp>
      <p:sp>
        <p:nvSpPr>
          <p:cNvPr id="21" name="Text 26"/>
          <p:cNvSpPr txBox="1"/>
          <p:nvPr/>
        </p:nvSpPr>
        <p:spPr>
          <a:xfrm>
            <a:off x="731520" y="4526280"/>
            <a:ext cx="4663440" cy="685800"/>
          </a:xfrm>
          <a:prstGeom prst="rect">
            <a:avLst/>
          </a:prstGeom>
          <a:noFill/>
          <a:ln/>
        </p:spPr>
        <p:txBody>
          <a:bodyPr wrap="square" lIns="0" tIns="0" rIns="0" bIns="0" rtlCol="0" anchor="t"/>
          <a:lstStyle/>
          <a:p>
            <a:pPr indent="0" marL="0">
              <a:buNone/>
            </a:pPr>
            <a:r>
              <a:rPr lang="en-US" sz="2000" b="1" dirty="0">
                <a:solidFill>
                  <a:schemeClr val="tx1"/>
                </a:solidFill>
              </a:rPr>
              <a:t>Bookings live in a paper diary and a WhatsApp group</a:t>
            </a:r>
            <a:endParaRPr lang="en-US" sz="2000" dirty="0"/>
          </a:p>
        </p:txBody>
      </p:sp>
      <p:sp>
        <p:nvSpPr>
          <p:cNvPr id="22" name="Text 27"/>
          <p:cNvSpPr txBox="1"/>
          <p:nvPr/>
        </p:nvSpPr>
        <p:spPr>
          <a:xfrm>
            <a:off x="731520" y="5230368"/>
            <a:ext cx="4663440" cy="301752"/>
          </a:xfrm>
          <a:prstGeom prst="rect">
            <a:avLst/>
          </a:prstGeom>
          <a:noFill/>
          <a:ln/>
        </p:spPr>
        <p:txBody>
          <a:bodyPr wrap="square" lIns="0" tIns="0" rIns="0" bIns="0" rtlCol="0" anchor="t"/>
          <a:lstStyle/>
          <a:p>
            <a:pPr indent="0" marL="0">
              <a:buNone/>
            </a:pPr>
            <a:r>
              <a:rPr lang="en-US" sz="1400" dirty="0">
                <a:solidFill>
                  <a:schemeClr val="tx2"/>
                </a:solidFill>
              </a:rPr>
              <a:t>A tool hire business with three branches in Cape Town</a:t>
            </a:r>
            <a:endParaRPr lang="en-US" sz="1400" dirty="0"/>
          </a:p>
        </p:txBody>
      </p:sp>
      <p:sp>
        <p:nvSpPr>
          <p:cNvPr id="23" name="Card 28"/>
          <p:cNvSpPr/>
          <p:nvPr/>
        </p:nvSpPr>
        <p:spPr>
          <a:xfrm>
            <a:off x="6035040" y="1645920"/>
            <a:ext cx="5699455" cy="1219200"/>
          </a:xfrm>
          <a:prstGeom prst="roundRect">
            <a:avLst>
              <a:gd name="adj" fmla="val 75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4" name="Number badge 29"/>
          <p:cNvSpPr/>
          <p:nvPr/>
        </p:nvSpPr>
        <p:spPr>
          <a:xfrm>
            <a:off x="6309360" y="19720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25" name="Text 30"/>
          <p:cNvSpPr txBox="1"/>
          <p:nvPr/>
        </p:nvSpPr>
        <p:spPr>
          <a:xfrm>
            <a:off x="7132320" y="1737360"/>
            <a:ext cx="4327855" cy="1036320"/>
          </a:xfrm>
          <a:prstGeom prst="rect">
            <a:avLst/>
          </a:prstGeom>
          <a:noFill/>
          <a:ln/>
        </p:spPr>
        <p:txBody>
          <a:bodyPr wrap="square" lIns="0" tIns="0" rIns="0" bIns="0" rtlCol="0" anchor="ctr"/>
          <a:lstStyle/>
          <a:p>
            <a:pPr indent="0" marL="0">
              <a:buNone/>
            </a:pPr>
            <a:r>
              <a:rPr lang="en-US" sz="1800" b="1" dirty="0">
                <a:solidFill>
                  <a:schemeClr val="tx1"/>
                </a:solidFill>
              </a:rPr>
              <a:t>The same unit is promised twice</a:t>
            </a:r>
            <a:endParaRPr lang="en-US" sz="1400" dirty="0"/>
          </a:p>
          <a:p>
            <a:pPr indent="0" marL="0">
              <a:spcBef>
                <a:spcPts val="300"/>
              </a:spcBef>
              <a:buNone/>
            </a:pPr>
            <a:r>
              <a:rPr lang="en-US" sz="1400" dirty="0">
                <a:solidFill>
                  <a:schemeClr val="tx2"/>
                </a:solidFill>
              </a:rPr>
              <a:t>The database itself now refuses a double booking</a:t>
            </a:r>
            <a:endParaRPr lang="en-US" sz="1400" dirty="0"/>
          </a:p>
        </p:txBody>
      </p:sp>
      <p:sp>
        <p:nvSpPr>
          <p:cNvPr id="26" name="Card 31"/>
          <p:cNvSpPr/>
          <p:nvPr/>
        </p:nvSpPr>
        <p:spPr>
          <a:xfrm>
            <a:off x="6035040" y="3139440"/>
            <a:ext cx="5699455" cy="1219200"/>
          </a:xfrm>
          <a:prstGeom prst="roundRect">
            <a:avLst>
              <a:gd name="adj" fmla="val 75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7" name="Number badge 32"/>
          <p:cNvSpPr/>
          <p:nvPr/>
        </p:nvSpPr>
        <p:spPr>
          <a:xfrm>
            <a:off x="6309360" y="346557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8" name="Text 33"/>
          <p:cNvSpPr txBox="1"/>
          <p:nvPr/>
        </p:nvSpPr>
        <p:spPr>
          <a:xfrm>
            <a:off x="7132320" y="3230880"/>
            <a:ext cx="4327855" cy="1036320"/>
          </a:xfrm>
          <a:prstGeom prst="rect">
            <a:avLst/>
          </a:prstGeom>
          <a:noFill/>
          <a:ln/>
        </p:spPr>
        <p:txBody>
          <a:bodyPr wrap="square" lIns="0" tIns="0" rIns="0" bIns="0" rtlCol="0" anchor="ctr"/>
          <a:lstStyle/>
          <a:p>
            <a:pPr indent="0" marL="0">
              <a:buNone/>
            </a:pPr>
            <a:r>
              <a:rPr lang="en-US" sz="1800" b="1" dirty="0">
                <a:solidFill>
                  <a:schemeClr val="tx1"/>
                </a:solidFill>
              </a:rPr>
              <a:t>Staff phone each other to find stock</a:t>
            </a:r>
            <a:endParaRPr lang="en-US" sz="1400" dirty="0"/>
          </a:p>
          <a:p>
            <a:pPr indent="0" marL="0">
              <a:spcBef>
                <a:spcPts val="300"/>
              </a:spcBef>
              <a:buNone/>
            </a:pPr>
            <a:r>
              <a:rPr lang="en-US" sz="1400" dirty="0">
                <a:solidFill>
                  <a:schemeClr val="tx2"/>
                </a:solidFill>
              </a:rPr>
              <a:t>The locator finds any unit at any branch by its tag</a:t>
            </a:r>
            <a:endParaRPr lang="en-US" sz="1400" dirty="0"/>
          </a:p>
        </p:txBody>
      </p:sp>
      <p:sp>
        <p:nvSpPr>
          <p:cNvPr id="29" name="Card 34"/>
          <p:cNvSpPr/>
          <p:nvPr/>
        </p:nvSpPr>
        <p:spPr>
          <a:xfrm>
            <a:off x="6035040" y="4632960"/>
            <a:ext cx="5699455" cy="1219200"/>
          </a:xfrm>
          <a:prstGeom prst="roundRect">
            <a:avLst>
              <a:gd name="adj" fmla="val 75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30" name="Number badge 35"/>
          <p:cNvSpPr/>
          <p:nvPr/>
        </p:nvSpPr>
        <p:spPr>
          <a:xfrm>
            <a:off x="6309360" y="495909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31" name="Text 36"/>
          <p:cNvSpPr txBox="1"/>
          <p:nvPr/>
        </p:nvSpPr>
        <p:spPr>
          <a:xfrm>
            <a:off x="7132320" y="4724400"/>
            <a:ext cx="4327855" cy="1036320"/>
          </a:xfrm>
          <a:prstGeom prst="rect">
            <a:avLst/>
          </a:prstGeom>
          <a:noFill/>
          <a:ln/>
        </p:spPr>
        <p:txBody>
          <a:bodyPr wrap="square" lIns="0" tIns="0" rIns="0" bIns="0" rtlCol="0" anchor="ctr"/>
          <a:lstStyle/>
          <a:p>
            <a:pPr indent="0" marL="0">
              <a:buNone/>
            </a:pPr>
            <a:r>
              <a:rPr lang="en-US" sz="1800" b="1" dirty="0">
                <a:solidFill>
                  <a:schemeClr val="tx1"/>
                </a:solidFill>
              </a:rPr>
              <a:t>The owner cannot say which equipment earns its keep</a:t>
            </a:r>
            <a:endParaRPr lang="en-US" sz="1400" dirty="0"/>
          </a:p>
          <a:p>
            <a:pPr indent="0" marL="0">
              <a:spcBef>
                <a:spcPts val="300"/>
              </a:spcBef>
              <a:buNone/>
            </a:pPr>
            <a:r>
              <a:rPr lang="en-US" sz="1400" dirty="0">
                <a:solidFill>
                  <a:schemeClr val="tx2"/>
                </a:solidFill>
              </a:rPr>
              <a:t>The report now gives utilisation and gross contribution</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1  |  THE PROBLEM AND THE REQUIREMENTS</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What Task 2 delivers</a:t>
            </a:r>
            <a:endParaRPr lang="en-US" sz="3600" dirty="0"/>
          </a:p>
        </p:txBody>
      </p:sp>
      <p:sp>
        <p:nvSpPr>
          <p:cNvPr id="5" name="Card 37"/>
          <p:cNvSpPr/>
          <p:nvPr/>
        </p:nvSpPr>
        <p:spPr>
          <a:xfrm>
            <a:off x="457200" y="1645920"/>
            <a:ext cx="3576218" cy="2926080"/>
          </a:xfrm>
          <a:prstGeom prst="roundRect">
            <a:avLst>
              <a:gd name="adj" fmla="val 3125"/>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Icon person 38"/>
          <p:cNvSpPr/>
          <p:nvPr/>
        </p:nvSpPr>
        <p:spPr>
          <a:xfrm>
            <a:off x="731520" y="1920240"/>
            <a:ext cx="566928" cy="566928"/>
          </a:xfrm>
          <a:prstGeom prst="ellipse">
            <a:avLst/>
          </a:prstGeom>
          <a:solidFill>
            <a:schemeClr val="accent1"/>
          </a:solidFill>
          <a:ln/>
        </p:spPr>
      </p:sp>
      <p:sp>
        <p:nvSpPr>
          <p:cNvPr id="7" name="Glyph part 40"/>
          <p:cNvSpPr/>
          <p:nvPr/>
        </p:nvSpPr>
        <p:spPr>
          <a:xfrm>
            <a:off x="961126" y="2061972"/>
            <a:ext cx="107716" cy="107716"/>
          </a:xfrm>
          <a:prstGeom prst="ellipse">
            <a:avLst/>
          </a:prstGeom>
          <a:solidFill>
            <a:schemeClr val="tx1"/>
          </a:solidFill>
          <a:ln/>
        </p:spPr>
      </p:sp>
      <p:sp>
        <p:nvSpPr>
          <p:cNvPr id="8" name="Glyph part 41"/>
          <p:cNvSpPr/>
          <p:nvPr/>
        </p:nvSpPr>
        <p:spPr>
          <a:xfrm rot="16200000">
            <a:off x="924276" y="2181027"/>
            <a:ext cx="181417" cy="181417"/>
          </a:xfrm>
          <a:prstGeom prst="flowChartDelay">
            <a:avLst/>
          </a:prstGeom>
          <a:solidFill>
            <a:schemeClr val="tx1"/>
          </a:solidFill>
          <a:ln/>
        </p:spPr>
      </p:sp>
      <p:sp>
        <p:nvSpPr>
          <p:cNvPr id="9" name="Text 42"/>
          <p:cNvSpPr txBox="1"/>
          <p:nvPr/>
        </p:nvSpPr>
        <p:spPr>
          <a:xfrm>
            <a:off x="1499616" y="1920240"/>
            <a:ext cx="2259482" cy="566928"/>
          </a:xfrm>
          <a:prstGeom prst="rect">
            <a:avLst/>
          </a:prstGeom>
          <a:noFill/>
          <a:ln/>
        </p:spPr>
        <p:txBody>
          <a:bodyPr wrap="square" lIns="0" tIns="0" rIns="0" bIns="0" rtlCol="0" anchor="ctr"/>
          <a:lstStyle/>
          <a:p>
            <a:pPr indent="0" marL="0">
              <a:buNone/>
            </a:pPr>
            <a:r>
              <a:rPr lang="en-US" sz="1800" b="1" dirty="0">
                <a:solidFill>
                  <a:schemeClr val="tx1"/>
                </a:solidFill>
              </a:rPr>
              <a:t>Customer journey</a:t>
            </a:r>
            <a:endParaRPr lang="en-US" sz="1800" dirty="0"/>
          </a:p>
        </p:txBody>
      </p:sp>
      <p:sp>
        <p:nvSpPr>
          <p:cNvPr id="10" name="Text 43"/>
          <p:cNvSpPr txBox="1"/>
          <p:nvPr/>
        </p:nvSpPr>
        <p:spPr>
          <a:xfrm>
            <a:off x="731520" y="2670048"/>
            <a:ext cx="3027578" cy="1005840"/>
          </a:xfrm>
          <a:prstGeom prst="rect">
            <a:avLst/>
          </a:prstGeom>
          <a:noFill/>
          <a:ln/>
        </p:spPr>
        <p:txBody>
          <a:bodyPr wrap="square" lIns="0" tIns="0" rIns="0" bIns="0" rtlCol="0" anchor="t"/>
          <a:lstStyle/>
          <a:p>
            <a:pPr indent="0" marL="0">
              <a:buNone/>
            </a:pPr>
            <a:r>
              <a:rPr lang="en-US" sz="1400" dirty="0">
                <a:solidFill>
                  <a:schemeClr val="tx2"/>
                </a:solidFill>
              </a:rPr>
              <a:t>From the catalogue to a confirmed booking</a:t>
            </a:r>
            <a:endParaRPr lang="en-US" sz="1400" dirty="0"/>
          </a:p>
        </p:txBody>
      </p:sp>
      <p:sp>
        <p:nvSpPr>
          <p:cNvPr id="11" name="Screen SC-01 44"/>
          <p:cNvSpPr/>
          <p:nvPr/>
        </p:nvSpPr>
        <p:spPr>
          <a:xfrm>
            <a:off x="731520"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01</a:t>
            </a:r>
            <a:endParaRPr lang="en-US" sz="1000" dirty="0"/>
          </a:p>
        </p:txBody>
      </p:sp>
      <p:sp>
        <p:nvSpPr>
          <p:cNvPr id="12" name="Screen SC-02 45"/>
          <p:cNvSpPr/>
          <p:nvPr/>
        </p:nvSpPr>
        <p:spPr>
          <a:xfrm>
            <a:off x="1060704"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02</a:t>
            </a:r>
            <a:endParaRPr lang="en-US" sz="1000" dirty="0"/>
          </a:p>
        </p:txBody>
      </p:sp>
      <p:sp>
        <p:nvSpPr>
          <p:cNvPr id="13" name="Screen SC-03 46"/>
          <p:cNvSpPr/>
          <p:nvPr/>
        </p:nvSpPr>
        <p:spPr>
          <a:xfrm>
            <a:off x="1389888"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03</a:t>
            </a:r>
            <a:endParaRPr lang="en-US" sz="1000" dirty="0"/>
          </a:p>
        </p:txBody>
      </p:sp>
      <p:sp>
        <p:nvSpPr>
          <p:cNvPr id="14" name="Screen SC-04 47"/>
          <p:cNvSpPr/>
          <p:nvPr/>
        </p:nvSpPr>
        <p:spPr>
          <a:xfrm>
            <a:off x="1719072"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04</a:t>
            </a:r>
            <a:endParaRPr lang="en-US" sz="1000" dirty="0"/>
          </a:p>
        </p:txBody>
      </p:sp>
      <p:sp>
        <p:nvSpPr>
          <p:cNvPr id="15" name="Screen SC-05 48"/>
          <p:cNvSpPr/>
          <p:nvPr/>
        </p:nvSpPr>
        <p:spPr>
          <a:xfrm>
            <a:off x="2048256"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05</a:t>
            </a:r>
            <a:endParaRPr lang="en-US" sz="1000" dirty="0"/>
          </a:p>
        </p:txBody>
      </p:sp>
      <p:sp>
        <p:nvSpPr>
          <p:cNvPr id="16" name="Screen SC-06 49"/>
          <p:cNvSpPr/>
          <p:nvPr/>
        </p:nvSpPr>
        <p:spPr>
          <a:xfrm>
            <a:off x="2377440"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06</a:t>
            </a:r>
            <a:endParaRPr lang="en-US" sz="1000" dirty="0"/>
          </a:p>
        </p:txBody>
      </p:sp>
      <p:sp>
        <p:nvSpPr>
          <p:cNvPr id="17" name="Screen SC-07 50"/>
          <p:cNvSpPr/>
          <p:nvPr/>
        </p:nvSpPr>
        <p:spPr>
          <a:xfrm>
            <a:off x="2706624"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07</a:t>
            </a:r>
            <a:endParaRPr lang="en-US" sz="1000" dirty="0"/>
          </a:p>
        </p:txBody>
      </p:sp>
      <p:sp>
        <p:nvSpPr>
          <p:cNvPr id="18" name="Screen SC-08 51"/>
          <p:cNvSpPr/>
          <p:nvPr/>
        </p:nvSpPr>
        <p:spPr>
          <a:xfrm>
            <a:off x="3035808"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08</a:t>
            </a:r>
            <a:endParaRPr lang="en-US" sz="1000" dirty="0"/>
          </a:p>
        </p:txBody>
      </p:sp>
      <p:sp>
        <p:nvSpPr>
          <p:cNvPr id="19" name="Screen SC-09 52"/>
          <p:cNvSpPr/>
          <p:nvPr/>
        </p:nvSpPr>
        <p:spPr>
          <a:xfrm>
            <a:off x="3364992"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09</a:t>
            </a:r>
            <a:endParaRPr lang="en-US" sz="1000" dirty="0"/>
          </a:p>
        </p:txBody>
      </p:sp>
      <p:sp>
        <p:nvSpPr>
          <p:cNvPr id="20" name="Text 53"/>
          <p:cNvSpPr txBox="1"/>
          <p:nvPr/>
        </p:nvSpPr>
        <p:spPr>
          <a:xfrm>
            <a:off x="731520" y="4133088"/>
            <a:ext cx="3027578" cy="237744"/>
          </a:xfrm>
          <a:prstGeom prst="rect">
            <a:avLst/>
          </a:prstGeom>
          <a:noFill/>
          <a:ln/>
        </p:spPr>
        <p:txBody>
          <a:bodyPr wrap="square" lIns="0" tIns="0" rIns="0" bIns="0" rtlCol="0" anchor="ctr"/>
          <a:lstStyle/>
          <a:p>
            <a:pPr indent="0" marL="0">
              <a:buNone/>
            </a:pPr>
            <a:r>
              <a:rPr lang="en-US" sz="1100" dirty="0">
                <a:solidFill>
                  <a:schemeClr val="tx2"/>
                </a:solidFill>
              </a:rPr>
              <a:t>SC-01 to SC-09, on the API</a:t>
            </a:r>
            <a:endParaRPr lang="en-US" sz="1100" dirty="0"/>
          </a:p>
        </p:txBody>
      </p:sp>
      <p:sp>
        <p:nvSpPr>
          <p:cNvPr id="21" name="Card 54"/>
          <p:cNvSpPr/>
          <p:nvPr/>
        </p:nvSpPr>
        <p:spPr>
          <a:xfrm>
            <a:off x="4307738" y="1645920"/>
            <a:ext cx="3576218" cy="2926080"/>
          </a:xfrm>
          <a:prstGeom prst="roundRect">
            <a:avLst>
              <a:gd name="adj" fmla="val 3125"/>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2" name="Icon house 55"/>
          <p:cNvSpPr/>
          <p:nvPr/>
        </p:nvSpPr>
        <p:spPr>
          <a:xfrm>
            <a:off x="4582058" y="1920240"/>
            <a:ext cx="566928" cy="566928"/>
          </a:xfrm>
          <a:prstGeom prst="ellipse">
            <a:avLst/>
          </a:prstGeom>
          <a:solidFill>
            <a:schemeClr val="accent1"/>
          </a:solidFill>
          <a:ln/>
        </p:spPr>
      </p:sp>
      <p:sp>
        <p:nvSpPr>
          <p:cNvPr id="23" name="Glyph part 57"/>
          <p:cNvSpPr/>
          <p:nvPr/>
        </p:nvSpPr>
        <p:spPr>
          <a:xfrm>
            <a:off x="4723790" y="2067641"/>
            <a:ext cx="283464" cy="124724"/>
          </a:xfrm>
          <a:prstGeom prst="triangle">
            <a:avLst/>
          </a:prstGeom>
          <a:solidFill>
            <a:schemeClr val="tx1"/>
          </a:solidFill>
          <a:ln/>
        </p:spPr>
      </p:sp>
      <p:sp>
        <p:nvSpPr>
          <p:cNvPr id="24" name="Glyph part 58"/>
          <p:cNvSpPr/>
          <p:nvPr/>
        </p:nvSpPr>
        <p:spPr>
          <a:xfrm>
            <a:off x="4771979" y="2192365"/>
            <a:ext cx="187086" cy="153071"/>
          </a:xfrm>
          <a:prstGeom prst="rect">
            <a:avLst/>
          </a:prstGeom>
          <a:solidFill>
            <a:schemeClr val="tx1"/>
          </a:solidFill>
          <a:ln/>
        </p:spPr>
      </p:sp>
      <p:sp>
        <p:nvSpPr>
          <p:cNvPr id="25" name="Glyph part 59"/>
          <p:cNvSpPr/>
          <p:nvPr/>
        </p:nvSpPr>
        <p:spPr>
          <a:xfrm>
            <a:off x="4837176" y="2249058"/>
            <a:ext cx="56693" cy="96378"/>
          </a:xfrm>
          <a:prstGeom prst="rect">
            <a:avLst/>
          </a:prstGeom>
          <a:solidFill>
            <a:schemeClr val="accent1"/>
          </a:solidFill>
          <a:ln/>
        </p:spPr>
      </p:sp>
      <p:sp>
        <p:nvSpPr>
          <p:cNvPr id="26" name="Text 60"/>
          <p:cNvSpPr txBox="1"/>
          <p:nvPr/>
        </p:nvSpPr>
        <p:spPr>
          <a:xfrm>
            <a:off x="5350154" y="1920240"/>
            <a:ext cx="2259482" cy="566928"/>
          </a:xfrm>
          <a:prstGeom prst="rect">
            <a:avLst/>
          </a:prstGeom>
          <a:noFill/>
          <a:ln/>
        </p:spPr>
        <p:txBody>
          <a:bodyPr wrap="square" lIns="0" tIns="0" rIns="0" bIns="0" rtlCol="0" anchor="ctr"/>
          <a:lstStyle/>
          <a:p>
            <a:pPr indent="0" marL="0">
              <a:buNone/>
            </a:pPr>
            <a:r>
              <a:rPr lang="en-US" sz="1800" b="1" dirty="0">
                <a:solidFill>
                  <a:schemeClr val="tx1"/>
                </a:solidFill>
              </a:rPr>
              <a:t>Counter journey</a:t>
            </a:r>
            <a:endParaRPr lang="en-US" sz="1800" dirty="0"/>
          </a:p>
        </p:txBody>
      </p:sp>
      <p:sp>
        <p:nvSpPr>
          <p:cNvPr id="27" name="Text 61"/>
          <p:cNvSpPr txBox="1"/>
          <p:nvPr/>
        </p:nvSpPr>
        <p:spPr>
          <a:xfrm>
            <a:off x="4582058" y="2670048"/>
            <a:ext cx="3027578" cy="1005840"/>
          </a:xfrm>
          <a:prstGeom prst="rect">
            <a:avLst/>
          </a:prstGeom>
          <a:noFill/>
          <a:ln/>
        </p:spPr>
        <p:txBody>
          <a:bodyPr wrap="square" lIns="0" tIns="0" rIns="0" bIns="0" rtlCol="0" anchor="t"/>
          <a:lstStyle/>
          <a:p>
            <a:pPr indent="0" marL="0">
              <a:buNone/>
            </a:pPr>
            <a:r>
              <a:rPr lang="en-US" sz="1400" dirty="0">
                <a:solidFill>
                  <a:schemeClr val="tx2"/>
                </a:solidFill>
              </a:rPr>
              <a:t>From a walk-in to checkout, return, damage and deposit settlement</a:t>
            </a:r>
            <a:endParaRPr lang="en-US" sz="1400" dirty="0"/>
          </a:p>
        </p:txBody>
      </p:sp>
      <p:sp>
        <p:nvSpPr>
          <p:cNvPr id="28" name="Screen SC-10 62"/>
          <p:cNvSpPr/>
          <p:nvPr/>
        </p:nvSpPr>
        <p:spPr>
          <a:xfrm>
            <a:off x="4582058"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10</a:t>
            </a:r>
            <a:endParaRPr lang="en-US" sz="1000" dirty="0"/>
          </a:p>
        </p:txBody>
      </p:sp>
      <p:sp>
        <p:nvSpPr>
          <p:cNvPr id="29" name="Screen SC-11 63"/>
          <p:cNvSpPr/>
          <p:nvPr/>
        </p:nvSpPr>
        <p:spPr>
          <a:xfrm>
            <a:off x="4911242"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11</a:t>
            </a:r>
            <a:endParaRPr lang="en-US" sz="1000" dirty="0"/>
          </a:p>
        </p:txBody>
      </p:sp>
      <p:sp>
        <p:nvSpPr>
          <p:cNvPr id="30" name="Screen SC-12 64"/>
          <p:cNvSpPr/>
          <p:nvPr/>
        </p:nvSpPr>
        <p:spPr>
          <a:xfrm>
            <a:off x="5240426"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12</a:t>
            </a:r>
            <a:endParaRPr lang="en-US" sz="1000" dirty="0"/>
          </a:p>
        </p:txBody>
      </p:sp>
      <p:sp>
        <p:nvSpPr>
          <p:cNvPr id="31" name="Screen SC-13 65"/>
          <p:cNvSpPr/>
          <p:nvPr/>
        </p:nvSpPr>
        <p:spPr>
          <a:xfrm>
            <a:off x="5569610"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13</a:t>
            </a:r>
            <a:endParaRPr lang="en-US" sz="1000" dirty="0"/>
          </a:p>
        </p:txBody>
      </p:sp>
      <p:sp>
        <p:nvSpPr>
          <p:cNvPr id="32" name="Screen SC-14 66"/>
          <p:cNvSpPr/>
          <p:nvPr/>
        </p:nvSpPr>
        <p:spPr>
          <a:xfrm>
            <a:off x="5898794"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14</a:t>
            </a:r>
            <a:endParaRPr lang="en-US" sz="1000" dirty="0"/>
          </a:p>
        </p:txBody>
      </p:sp>
      <p:sp>
        <p:nvSpPr>
          <p:cNvPr id="33" name="Screen SC-15 67"/>
          <p:cNvSpPr/>
          <p:nvPr/>
        </p:nvSpPr>
        <p:spPr>
          <a:xfrm>
            <a:off x="6227978"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15</a:t>
            </a:r>
            <a:endParaRPr lang="en-US" sz="1000" dirty="0"/>
          </a:p>
        </p:txBody>
      </p:sp>
      <p:sp>
        <p:nvSpPr>
          <p:cNvPr id="34" name="Screen SC-16 68"/>
          <p:cNvSpPr/>
          <p:nvPr/>
        </p:nvSpPr>
        <p:spPr>
          <a:xfrm>
            <a:off x="6557162"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16</a:t>
            </a:r>
            <a:endParaRPr lang="en-US" sz="1000" dirty="0"/>
          </a:p>
        </p:txBody>
      </p:sp>
      <p:sp>
        <p:nvSpPr>
          <p:cNvPr id="35" name="Screen SC-17 69"/>
          <p:cNvSpPr/>
          <p:nvPr/>
        </p:nvSpPr>
        <p:spPr>
          <a:xfrm>
            <a:off x="6886346"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17</a:t>
            </a:r>
            <a:endParaRPr lang="en-US" sz="1000" dirty="0"/>
          </a:p>
        </p:txBody>
      </p:sp>
      <p:sp>
        <p:nvSpPr>
          <p:cNvPr id="36" name="Screen SC-18 70"/>
          <p:cNvSpPr/>
          <p:nvPr/>
        </p:nvSpPr>
        <p:spPr>
          <a:xfrm>
            <a:off x="7215530"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18</a:t>
            </a:r>
            <a:endParaRPr lang="en-US" sz="1000" dirty="0"/>
          </a:p>
        </p:txBody>
      </p:sp>
      <p:sp>
        <p:nvSpPr>
          <p:cNvPr id="37" name="Text 71"/>
          <p:cNvSpPr txBox="1"/>
          <p:nvPr/>
        </p:nvSpPr>
        <p:spPr>
          <a:xfrm>
            <a:off x="4582058" y="4133088"/>
            <a:ext cx="3027578" cy="237744"/>
          </a:xfrm>
          <a:prstGeom prst="rect">
            <a:avLst/>
          </a:prstGeom>
          <a:noFill/>
          <a:ln/>
        </p:spPr>
        <p:txBody>
          <a:bodyPr wrap="square" lIns="0" tIns="0" rIns="0" bIns="0" rtlCol="0" anchor="ctr"/>
          <a:lstStyle/>
          <a:p>
            <a:pPr indent="0" marL="0">
              <a:buNone/>
            </a:pPr>
            <a:r>
              <a:rPr lang="en-US" sz="1100" dirty="0">
                <a:solidFill>
                  <a:schemeClr val="tx2"/>
                </a:solidFill>
              </a:rPr>
              <a:t>SC-10 to SC-18, on the API</a:t>
            </a:r>
            <a:endParaRPr lang="en-US" sz="1100" dirty="0"/>
          </a:p>
        </p:txBody>
      </p:sp>
      <p:sp>
        <p:nvSpPr>
          <p:cNvPr id="38" name="Card 72"/>
          <p:cNvSpPr/>
          <p:nvPr/>
        </p:nvSpPr>
        <p:spPr>
          <a:xfrm>
            <a:off x="8158277" y="1645920"/>
            <a:ext cx="3576218" cy="2926080"/>
          </a:xfrm>
          <a:prstGeom prst="roundRect">
            <a:avLst>
              <a:gd name="adj" fmla="val 3125"/>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39" name="Icon bars 73"/>
          <p:cNvSpPr/>
          <p:nvPr/>
        </p:nvSpPr>
        <p:spPr>
          <a:xfrm>
            <a:off x="8432597" y="1920240"/>
            <a:ext cx="566928" cy="566928"/>
          </a:xfrm>
          <a:prstGeom prst="ellipse">
            <a:avLst/>
          </a:prstGeom>
          <a:solidFill>
            <a:schemeClr val="accent1"/>
          </a:solidFill>
          <a:ln/>
        </p:spPr>
      </p:sp>
      <p:sp>
        <p:nvSpPr>
          <p:cNvPr id="40" name="Glyph part 75"/>
          <p:cNvSpPr/>
          <p:nvPr/>
        </p:nvSpPr>
        <p:spPr>
          <a:xfrm>
            <a:off x="8591337" y="2203704"/>
            <a:ext cx="62362" cy="141732"/>
          </a:xfrm>
          <a:prstGeom prst="rect">
            <a:avLst/>
          </a:prstGeom>
          <a:solidFill>
            <a:schemeClr val="tx1"/>
          </a:solidFill>
          <a:ln/>
        </p:spPr>
      </p:sp>
      <p:sp>
        <p:nvSpPr>
          <p:cNvPr id="41" name="Glyph part 76"/>
          <p:cNvSpPr/>
          <p:nvPr/>
        </p:nvSpPr>
        <p:spPr>
          <a:xfrm>
            <a:off x="8684880" y="2124334"/>
            <a:ext cx="62362" cy="221102"/>
          </a:xfrm>
          <a:prstGeom prst="rect">
            <a:avLst/>
          </a:prstGeom>
          <a:solidFill>
            <a:schemeClr val="tx1"/>
          </a:solidFill>
          <a:ln/>
        </p:spPr>
      </p:sp>
      <p:sp>
        <p:nvSpPr>
          <p:cNvPr id="42" name="Glyph part 77"/>
          <p:cNvSpPr/>
          <p:nvPr/>
        </p:nvSpPr>
        <p:spPr>
          <a:xfrm>
            <a:off x="8778423" y="2061972"/>
            <a:ext cx="62362" cy="283464"/>
          </a:xfrm>
          <a:prstGeom prst="rect">
            <a:avLst/>
          </a:prstGeom>
          <a:solidFill>
            <a:schemeClr val="tx1"/>
          </a:solidFill>
          <a:ln/>
        </p:spPr>
      </p:sp>
      <p:sp>
        <p:nvSpPr>
          <p:cNvPr id="43" name="Text 78"/>
          <p:cNvSpPr txBox="1"/>
          <p:nvPr/>
        </p:nvSpPr>
        <p:spPr>
          <a:xfrm>
            <a:off x="9200693" y="1920240"/>
            <a:ext cx="2259482" cy="566928"/>
          </a:xfrm>
          <a:prstGeom prst="rect">
            <a:avLst/>
          </a:prstGeom>
          <a:noFill/>
          <a:ln/>
        </p:spPr>
        <p:txBody>
          <a:bodyPr wrap="square" lIns="0" tIns="0" rIns="0" bIns="0" rtlCol="0" anchor="ctr"/>
          <a:lstStyle/>
          <a:p>
            <a:pPr indent="0" marL="0">
              <a:buNone/>
            </a:pPr>
            <a:r>
              <a:rPr lang="en-US" sz="1800" b="1" dirty="0">
                <a:solidFill>
                  <a:schemeClr val="tx1"/>
                </a:solidFill>
              </a:rPr>
              <a:t>The owner's side</a:t>
            </a:r>
            <a:endParaRPr lang="en-US" sz="1800" dirty="0"/>
          </a:p>
        </p:txBody>
      </p:sp>
      <p:sp>
        <p:nvSpPr>
          <p:cNvPr id="44" name="Text 79"/>
          <p:cNvSpPr txBox="1"/>
          <p:nvPr/>
        </p:nvSpPr>
        <p:spPr>
          <a:xfrm>
            <a:off x="8432597" y="2670048"/>
            <a:ext cx="3027578" cy="1005840"/>
          </a:xfrm>
          <a:prstGeom prst="rect">
            <a:avLst/>
          </a:prstGeom>
          <a:noFill/>
          <a:ln/>
        </p:spPr>
        <p:txBody>
          <a:bodyPr wrap="square" lIns="0" tIns="0" rIns="0" bIns="0" rtlCol="0" anchor="t"/>
          <a:lstStyle/>
          <a:p>
            <a:pPr indent="0" marL="0">
              <a:buNone/>
            </a:pPr>
            <a:r>
              <a:rPr lang="en-US" sz="1400" dirty="0">
                <a:solidFill>
                  <a:schemeClr val="tx2"/>
                </a:solidFill>
              </a:rPr>
              <a:t>The dashboard, the report with its CSV, the catalogue and prices, the asset register, users and customer holds, the audit trail and charge corrections</a:t>
            </a:r>
            <a:endParaRPr lang="en-US" sz="1400" dirty="0"/>
          </a:p>
        </p:txBody>
      </p:sp>
      <p:sp>
        <p:nvSpPr>
          <p:cNvPr id="45" name="Screen SC-19 80"/>
          <p:cNvSpPr/>
          <p:nvPr/>
        </p:nvSpPr>
        <p:spPr>
          <a:xfrm>
            <a:off x="8432597"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19</a:t>
            </a:r>
            <a:endParaRPr lang="en-US" sz="1000" dirty="0"/>
          </a:p>
        </p:txBody>
      </p:sp>
      <p:sp>
        <p:nvSpPr>
          <p:cNvPr id="46" name="Screen SC-20 81"/>
          <p:cNvSpPr/>
          <p:nvPr/>
        </p:nvSpPr>
        <p:spPr>
          <a:xfrm>
            <a:off x="8761781"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20</a:t>
            </a:r>
            <a:endParaRPr lang="en-US" sz="1000" dirty="0"/>
          </a:p>
        </p:txBody>
      </p:sp>
      <p:sp>
        <p:nvSpPr>
          <p:cNvPr id="47" name="Screen SC-21 82"/>
          <p:cNvSpPr/>
          <p:nvPr/>
        </p:nvSpPr>
        <p:spPr>
          <a:xfrm>
            <a:off x="9090965"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21</a:t>
            </a:r>
            <a:endParaRPr lang="en-US" sz="1000" dirty="0"/>
          </a:p>
        </p:txBody>
      </p:sp>
      <p:sp>
        <p:nvSpPr>
          <p:cNvPr id="48" name="Screen SC-22 83"/>
          <p:cNvSpPr/>
          <p:nvPr/>
        </p:nvSpPr>
        <p:spPr>
          <a:xfrm>
            <a:off x="9420149"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22</a:t>
            </a:r>
            <a:endParaRPr lang="en-US" sz="1000" dirty="0"/>
          </a:p>
        </p:txBody>
      </p:sp>
      <p:sp>
        <p:nvSpPr>
          <p:cNvPr id="49" name="Screen SC-23 84"/>
          <p:cNvSpPr/>
          <p:nvPr/>
        </p:nvSpPr>
        <p:spPr>
          <a:xfrm>
            <a:off x="9749333"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23</a:t>
            </a:r>
            <a:endParaRPr lang="en-US" sz="1000" dirty="0"/>
          </a:p>
        </p:txBody>
      </p:sp>
      <p:sp>
        <p:nvSpPr>
          <p:cNvPr id="50" name="Screen SC-24 85"/>
          <p:cNvSpPr/>
          <p:nvPr/>
        </p:nvSpPr>
        <p:spPr>
          <a:xfrm>
            <a:off x="10078517" y="3767328"/>
            <a:ext cx="274320" cy="274320"/>
          </a:xfrm>
          <a:prstGeom prst="roundRect">
            <a:avLst>
              <a:gd name="adj" fmla="val 16667"/>
            </a:avLst>
          </a:prstGeom>
          <a:solidFill>
            <a:schemeClr val="tx1"/>
          </a:solidFill>
          <a:ln/>
        </p:spPr>
        <p:txBody>
          <a:bodyPr wrap="square" lIns="0" tIns="0" rIns="0" bIns="0" rtlCol="0" anchor="ctr"/>
          <a:lstStyle/>
          <a:p>
            <a:pPr algn="ctr" indent="0" marL="0">
              <a:buNone/>
            </a:pPr>
            <a:r>
              <a:rPr lang="en-US" sz="1000" dirty="0">
                <a:solidFill>
                  <a:schemeClr val="bg1"/>
                </a:solidFill>
              </a:rPr>
              <a:t>24</a:t>
            </a:r>
            <a:endParaRPr lang="en-US" sz="1000" dirty="0"/>
          </a:p>
        </p:txBody>
      </p:sp>
      <p:sp>
        <p:nvSpPr>
          <p:cNvPr id="51" name="Text 86"/>
          <p:cNvSpPr txBox="1"/>
          <p:nvPr/>
        </p:nvSpPr>
        <p:spPr>
          <a:xfrm>
            <a:off x="8432597" y="4133088"/>
            <a:ext cx="3027578" cy="237744"/>
          </a:xfrm>
          <a:prstGeom prst="rect">
            <a:avLst/>
          </a:prstGeom>
          <a:noFill/>
          <a:ln/>
        </p:spPr>
        <p:txBody>
          <a:bodyPr wrap="square" lIns="0" tIns="0" rIns="0" bIns="0" rtlCol="0" anchor="ctr"/>
          <a:lstStyle/>
          <a:p>
            <a:pPr indent="0" marL="0">
              <a:buNone/>
            </a:pPr>
            <a:r>
              <a:rPr lang="en-US" sz="1100" dirty="0">
                <a:solidFill>
                  <a:schemeClr val="tx2"/>
                </a:solidFill>
              </a:rPr>
              <a:t>SC-19 to SC-24, on the API</a:t>
            </a:r>
            <a:endParaRPr lang="en-US" sz="1100" dirty="0"/>
          </a:p>
        </p:txBody>
      </p:sp>
      <p:sp>
        <p:nvSpPr>
          <p:cNvPr id="52" name="Card 87"/>
          <p:cNvSpPr/>
          <p:nvPr/>
        </p:nvSpPr>
        <p:spPr>
          <a:xfrm>
            <a:off x="457200" y="4846320"/>
            <a:ext cx="7426757" cy="1005840"/>
          </a:xfrm>
          <a:prstGeom prst="roundRect">
            <a:avLst>
              <a:gd name="adj" fmla="val 9091"/>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3" name="Text 88"/>
          <p:cNvSpPr txBox="1"/>
          <p:nvPr/>
        </p:nvSpPr>
        <p:spPr>
          <a:xfrm>
            <a:off x="731520" y="4846320"/>
            <a:ext cx="2103120" cy="1005840"/>
          </a:xfrm>
          <a:prstGeom prst="rect">
            <a:avLst/>
          </a:prstGeom>
          <a:noFill/>
          <a:ln/>
        </p:spPr>
        <p:txBody>
          <a:bodyPr wrap="square" lIns="0" tIns="0" rIns="0" bIns="0" rtlCol="0" anchor="ctr"/>
          <a:lstStyle/>
          <a:p>
            <a:pPr indent="0" marL="0">
              <a:buNone/>
            </a:pPr>
            <a:r>
              <a:rPr lang="en-US" sz="4000" b="1" dirty="0">
                <a:solidFill>
                  <a:schemeClr val="tx1"/>
                </a:solidFill>
              </a:rPr>
              <a:t>24 of 24</a:t>
            </a:r>
            <a:endParaRPr lang="en-US" sz="4000" dirty="0"/>
          </a:p>
        </p:txBody>
      </p:sp>
      <p:sp>
        <p:nvSpPr>
          <p:cNvPr id="54" name="Text 89"/>
          <p:cNvSpPr txBox="1"/>
          <p:nvPr/>
        </p:nvSpPr>
        <p:spPr>
          <a:xfrm>
            <a:off x="2926080" y="4846320"/>
            <a:ext cx="4683557" cy="1005840"/>
          </a:xfrm>
          <a:prstGeom prst="rect">
            <a:avLst/>
          </a:prstGeom>
          <a:noFill/>
          <a:ln/>
        </p:spPr>
        <p:txBody>
          <a:bodyPr wrap="square" lIns="0" tIns="0" rIns="0" bIns="0" rtlCol="0" anchor="ctr"/>
          <a:lstStyle/>
          <a:p>
            <a:pPr indent="0" marL="0">
              <a:buNone/>
            </a:pPr>
            <a:r>
              <a:rPr lang="en-US" sz="1800" dirty="0">
                <a:solidFill>
                  <a:schemeClr val="tx1"/>
                </a:solidFill>
              </a:rPr>
              <a:t>screens read from the API, and no screen shows sample data any more</a:t>
            </a:r>
            <a:endParaRPr lang="en-US" sz="1800" dirty="0"/>
          </a:p>
        </p:txBody>
      </p:sp>
      <p:sp>
        <p:nvSpPr>
          <p:cNvPr id="55" name="Card 90"/>
          <p:cNvSpPr/>
          <p:nvPr/>
        </p:nvSpPr>
        <p:spPr>
          <a:xfrm>
            <a:off x="8158277" y="4846320"/>
            <a:ext cx="3576218" cy="1005840"/>
          </a:xfrm>
          <a:prstGeom prst="roundRect">
            <a:avLst>
              <a:gd name="adj" fmla="val 9091"/>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6" name="Icon servers 91"/>
          <p:cNvSpPr/>
          <p:nvPr/>
        </p:nvSpPr>
        <p:spPr>
          <a:xfrm>
            <a:off x="8432597" y="5093208"/>
            <a:ext cx="512064" cy="512064"/>
          </a:xfrm>
          <a:prstGeom prst="ellipse">
            <a:avLst/>
          </a:prstGeom>
          <a:solidFill>
            <a:schemeClr val="accent1"/>
          </a:solidFill>
          <a:ln/>
        </p:spPr>
      </p:sp>
      <p:sp>
        <p:nvSpPr>
          <p:cNvPr id="57" name="Glyph part 93"/>
          <p:cNvSpPr/>
          <p:nvPr/>
        </p:nvSpPr>
        <p:spPr>
          <a:xfrm>
            <a:off x="8560613" y="5241707"/>
            <a:ext cx="256032" cy="92172"/>
          </a:xfrm>
          <a:prstGeom prst="roundRect">
            <a:avLst>
              <a:gd name="adj" fmla="val 16667"/>
            </a:avLst>
          </a:prstGeom>
          <a:solidFill>
            <a:schemeClr val="tx1"/>
          </a:solidFill>
          <a:ln/>
        </p:spPr>
      </p:sp>
      <p:sp>
        <p:nvSpPr>
          <p:cNvPr id="58" name="Glyph part 94"/>
          <p:cNvSpPr/>
          <p:nvPr/>
        </p:nvSpPr>
        <p:spPr>
          <a:xfrm>
            <a:off x="8591337" y="5272430"/>
            <a:ext cx="30724" cy="30724"/>
          </a:xfrm>
          <a:prstGeom prst="ellipse">
            <a:avLst/>
          </a:prstGeom>
          <a:solidFill>
            <a:schemeClr val="accent1"/>
          </a:solidFill>
          <a:ln/>
        </p:spPr>
      </p:sp>
      <p:sp>
        <p:nvSpPr>
          <p:cNvPr id="59" name="Glyph part 95"/>
          <p:cNvSpPr/>
          <p:nvPr/>
        </p:nvSpPr>
        <p:spPr>
          <a:xfrm>
            <a:off x="8560613" y="5364602"/>
            <a:ext cx="256032" cy="92172"/>
          </a:xfrm>
          <a:prstGeom prst="roundRect">
            <a:avLst>
              <a:gd name="adj" fmla="val 16667"/>
            </a:avLst>
          </a:prstGeom>
          <a:solidFill>
            <a:schemeClr val="tx1"/>
          </a:solidFill>
          <a:ln/>
        </p:spPr>
      </p:sp>
      <p:sp>
        <p:nvSpPr>
          <p:cNvPr id="60" name="Glyph part 96"/>
          <p:cNvSpPr/>
          <p:nvPr/>
        </p:nvSpPr>
        <p:spPr>
          <a:xfrm>
            <a:off x="8591337" y="5395326"/>
            <a:ext cx="30724" cy="30724"/>
          </a:xfrm>
          <a:prstGeom prst="ellipse">
            <a:avLst/>
          </a:prstGeom>
          <a:solidFill>
            <a:schemeClr val="accent1"/>
          </a:solidFill>
          <a:ln/>
        </p:spPr>
      </p:sp>
      <p:sp>
        <p:nvSpPr>
          <p:cNvPr id="61" name="Text 97"/>
          <p:cNvSpPr txBox="1"/>
          <p:nvPr/>
        </p:nvSpPr>
        <p:spPr>
          <a:xfrm>
            <a:off x="9173261" y="4937760"/>
            <a:ext cx="2286914" cy="822960"/>
          </a:xfrm>
          <a:prstGeom prst="rect">
            <a:avLst/>
          </a:prstGeom>
          <a:noFill/>
          <a:ln/>
        </p:spPr>
        <p:txBody>
          <a:bodyPr wrap="square" lIns="0" tIns="0" rIns="0" bIns="0" rtlCol="0" anchor="ctr"/>
          <a:lstStyle/>
          <a:p>
            <a:pPr indent="0" marL="0">
              <a:buNone/>
            </a:pPr>
            <a:r>
              <a:rPr lang="en-US" sz="1800" b="1" dirty="0">
                <a:solidFill>
                  <a:schemeClr val="tx1"/>
                </a:solidFill>
              </a:rPr>
              <a:t>Two environments</a:t>
            </a:r>
            <a:endParaRPr lang="en-US" sz="1400" dirty="0"/>
          </a:p>
          <a:p>
            <a:pPr indent="0" marL="0">
              <a:spcBef>
                <a:spcPts val="300"/>
              </a:spcBef>
              <a:buNone/>
            </a:pPr>
            <a:r>
              <a:rPr lang="en-US" sz="1400" dirty="0">
                <a:solidFill>
                  <a:schemeClr val="tx2"/>
                </a:solidFill>
              </a:rPr>
              <a:t>Deployed by the pipeline only, and live as v0.4.1</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1  |  THE PROBLEM AND THE REQUIREMENTS</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Requirements and how they are traced</a:t>
            </a:r>
            <a:endParaRPr lang="en-US" sz="3600" dirty="0"/>
          </a:p>
        </p:txBody>
      </p:sp>
      <p:sp>
        <p:nvSpPr>
          <p:cNvPr id="5" name="Card 98"/>
          <p:cNvSpPr/>
          <p:nvPr/>
        </p:nvSpPr>
        <p:spPr>
          <a:xfrm>
            <a:off x="457200" y="1645920"/>
            <a:ext cx="2331720" cy="1280160"/>
          </a:xfrm>
          <a:prstGeom prst="roundRect">
            <a:avLst>
              <a:gd name="adj" fmla="val 7143"/>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Icon doc 99"/>
          <p:cNvSpPr/>
          <p:nvPr/>
        </p:nvSpPr>
        <p:spPr>
          <a:xfrm>
            <a:off x="658368" y="1847088"/>
            <a:ext cx="502920" cy="502920"/>
          </a:xfrm>
          <a:prstGeom prst="ellipse">
            <a:avLst/>
          </a:prstGeom>
          <a:solidFill>
            <a:schemeClr val="accent1"/>
          </a:solidFill>
          <a:ln/>
        </p:spPr>
      </p:sp>
      <p:sp>
        <p:nvSpPr>
          <p:cNvPr id="7" name="Glyph part 101"/>
          <p:cNvSpPr/>
          <p:nvPr/>
        </p:nvSpPr>
        <p:spPr>
          <a:xfrm>
            <a:off x="819302" y="1972818"/>
            <a:ext cx="181051" cy="251460"/>
          </a:xfrm>
          <a:prstGeom prst="snip1Rect">
            <a:avLst/>
          </a:prstGeom>
          <a:solidFill>
            <a:schemeClr val="tx1"/>
          </a:solidFill>
          <a:ln/>
        </p:spPr>
      </p:sp>
      <p:sp>
        <p:nvSpPr>
          <p:cNvPr id="8" name="Glyph part 102"/>
          <p:cNvSpPr/>
          <p:nvPr/>
        </p:nvSpPr>
        <p:spPr>
          <a:xfrm>
            <a:off x="854507" y="2078431"/>
            <a:ext cx="110642" cy="17602"/>
          </a:xfrm>
          <a:prstGeom prst="rect">
            <a:avLst/>
          </a:prstGeom>
          <a:solidFill>
            <a:schemeClr val="accent1"/>
          </a:solidFill>
          <a:ln/>
        </p:spPr>
      </p:sp>
      <p:sp>
        <p:nvSpPr>
          <p:cNvPr id="9" name="Glyph part 103"/>
          <p:cNvSpPr/>
          <p:nvPr/>
        </p:nvSpPr>
        <p:spPr>
          <a:xfrm>
            <a:off x="854507" y="2128723"/>
            <a:ext cx="110642" cy="17602"/>
          </a:xfrm>
          <a:prstGeom prst="rect">
            <a:avLst/>
          </a:prstGeom>
          <a:solidFill>
            <a:schemeClr val="accent1"/>
          </a:solidFill>
          <a:ln/>
        </p:spPr>
      </p:sp>
      <p:sp>
        <p:nvSpPr>
          <p:cNvPr id="10" name="Text 104"/>
          <p:cNvSpPr txBox="1"/>
          <p:nvPr/>
        </p:nvSpPr>
        <p:spPr>
          <a:xfrm>
            <a:off x="1298448" y="1847088"/>
            <a:ext cx="1325880" cy="502920"/>
          </a:xfrm>
          <a:prstGeom prst="rect">
            <a:avLst/>
          </a:prstGeom>
          <a:noFill/>
          <a:ln/>
        </p:spPr>
        <p:txBody>
          <a:bodyPr wrap="square" lIns="0" tIns="0" rIns="0" bIns="0" rtlCol="0" anchor="ctr"/>
          <a:lstStyle/>
          <a:p>
            <a:pPr indent="0" marL="0">
              <a:buNone/>
            </a:pPr>
            <a:r>
              <a:rPr lang="en-US" sz="1600" b="1" dirty="0">
                <a:solidFill>
                  <a:schemeClr val="tx1"/>
                </a:solidFill>
              </a:rPr>
              <a:t>Issue</a:t>
            </a:r>
            <a:endParaRPr lang="en-US" sz="1600" dirty="0"/>
          </a:p>
        </p:txBody>
      </p:sp>
      <p:sp>
        <p:nvSpPr>
          <p:cNvPr id="11" name="Text 105"/>
          <p:cNvSpPr txBox="1"/>
          <p:nvPr/>
        </p:nvSpPr>
        <p:spPr>
          <a:xfrm>
            <a:off x="658368" y="2432304"/>
            <a:ext cx="1929384" cy="411480"/>
          </a:xfrm>
          <a:prstGeom prst="rect">
            <a:avLst/>
          </a:prstGeom>
          <a:noFill/>
          <a:ln/>
        </p:spPr>
        <p:txBody>
          <a:bodyPr wrap="square" lIns="0" tIns="0" rIns="0" bIns="0" rtlCol="0" anchor="t"/>
          <a:lstStyle/>
          <a:p>
            <a:pPr indent="0" marL="0">
              <a:buNone/>
            </a:pPr>
            <a:r>
              <a:rPr lang="en-US" sz="1200" dirty="0">
                <a:solidFill>
                  <a:schemeClr val="tx2"/>
                </a:solidFill>
              </a:rPr>
              <a:t>The outcome, the criteria and the requirement ids</a:t>
            </a:r>
            <a:endParaRPr lang="en-US" sz="1200" dirty="0"/>
          </a:p>
        </p:txBody>
      </p:sp>
      <p:sp>
        <p:nvSpPr>
          <p:cNvPr id="12" name="Connector 106"/>
          <p:cNvSpPr/>
          <p:nvPr/>
        </p:nvSpPr>
        <p:spPr>
          <a:xfrm>
            <a:off x="2880360" y="2286000"/>
            <a:ext cx="467258" cy="0"/>
          </a:xfrm>
          <a:prstGeom prst="line">
            <a:avLst/>
          </a:prstGeom>
          <a:noFill/>
          <a:ln w="25400">
            <a:solidFill>
              <a:schemeClr val="tx2"/>
            </a:solidFill>
            <a:prstDash val="solid"/>
            <a:tailEnd type="triangle"/>
          </a:ln>
        </p:spPr>
      </p:sp>
      <p:sp>
        <p:nvSpPr>
          <p:cNvPr id="13" name="Card 107"/>
          <p:cNvSpPr/>
          <p:nvPr/>
        </p:nvSpPr>
        <p:spPr>
          <a:xfrm>
            <a:off x="3439058" y="1645920"/>
            <a:ext cx="2331720" cy="1280160"/>
          </a:xfrm>
          <a:prstGeom prst="roundRect">
            <a:avLst>
              <a:gd name="adj" fmla="val 7143"/>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4" name="Icon branch 108"/>
          <p:cNvSpPr/>
          <p:nvPr/>
        </p:nvSpPr>
        <p:spPr>
          <a:xfrm>
            <a:off x="3640226" y="1847088"/>
            <a:ext cx="502920" cy="502920"/>
          </a:xfrm>
          <a:prstGeom prst="ellipse">
            <a:avLst/>
          </a:prstGeom>
          <a:solidFill>
            <a:schemeClr val="accent1"/>
          </a:solidFill>
          <a:ln/>
        </p:spPr>
      </p:sp>
      <p:sp>
        <p:nvSpPr>
          <p:cNvPr id="15" name="Glyph stroke 110"/>
          <p:cNvSpPr/>
          <p:nvPr/>
        </p:nvSpPr>
        <p:spPr>
          <a:xfrm>
            <a:off x="3826307" y="2008022"/>
            <a:ext cx="0" cy="181051"/>
          </a:xfrm>
          <a:prstGeom prst="line">
            <a:avLst/>
          </a:prstGeom>
          <a:noFill/>
          <a:ln w="28575">
            <a:solidFill>
              <a:schemeClr val="tx1"/>
            </a:solidFill>
            <a:prstDash val="solid"/>
          </a:ln>
        </p:spPr>
      </p:sp>
      <p:sp>
        <p:nvSpPr>
          <p:cNvPr id="16" name="Glyph stroke 111"/>
          <p:cNvSpPr/>
          <p:nvPr/>
        </p:nvSpPr>
        <p:spPr>
          <a:xfrm flipH="1">
            <a:off x="3826307" y="2043227"/>
            <a:ext cx="125730" cy="110642"/>
          </a:xfrm>
          <a:prstGeom prst="line">
            <a:avLst/>
          </a:prstGeom>
          <a:noFill/>
          <a:ln w="28575">
            <a:solidFill>
              <a:schemeClr val="tx1"/>
            </a:solidFill>
            <a:prstDash val="solid"/>
          </a:ln>
        </p:spPr>
      </p:sp>
      <p:sp>
        <p:nvSpPr>
          <p:cNvPr id="17" name="Glyph part 112"/>
          <p:cNvSpPr/>
          <p:nvPr/>
        </p:nvSpPr>
        <p:spPr>
          <a:xfrm>
            <a:off x="3791102" y="1972818"/>
            <a:ext cx="70409" cy="70409"/>
          </a:xfrm>
          <a:prstGeom prst="ellipse">
            <a:avLst/>
          </a:prstGeom>
          <a:solidFill>
            <a:schemeClr val="tx1"/>
          </a:solidFill>
          <a:ln/>
        </p:spPr>
      </p:sp>
      <p:sp>
        <p:nvSpPr>
          <p:cNvPr id="18" name="Glyph part 113"/>
          <p:cNvSpPr/>
          <p:nvPr/>
        </p:nvSpPr>
        <p:spPr>
          <a:xfrm>
            <a:off x="3791102" y="2153869"/>
            <a:ext cx="70409" cy="70409"/>
          </a:xfrm>
          <a:prstGeom prst="ellipse">
            <a:avLst/>
          </a:prstGeom>
          <a:solidFill>
            <a:schemeClr val="tx1"/>
          </a:solidFill>
          <a:ln/>
        </p:spPr>
      </p:sp>
      <p:sp>
        <p:nvSpPr>
          <p:cNvPr id="19" name="Glyph part 114"/>
          <p:cNvSpPr/>
          <p:nvPr/>
        </p:nvSpPr>
        <p:spPr>
          <a:xfrm>
            <a:off x="3916832" y="2008022"/>
            <a:ext cx="70409" cy="70409"/>
          </a:xfrm>
          <a:prstGeom prst="ellipse">
            <a:avLst/>
          </a:prstGeom>
          <a:solidFill>
            <a:schemeClr val="tx1"/>
          </a:solidFill>
          <a:ln/>
        </p:spPr>
      </p:sp>
      <p:sp>
        <p:nvSpPr>
          <p:cNvPr id="20" name="Text 115"/>
          <p:cNvSpPr txBox="1"/>
          <p:nvPr/>
        </p:nvSpPr>
        <p:spPr>
          <a:xfrm>
            <a:off x="4280306" y="1847088"/>
            <a:ext cx="1325880" cy="502920"/>
          </a:xfrm>
          <a:prstGeom prst="rect">
            <a:avLst/>
          </a:prstGeom>
          <a:noFill/>
          <a:ln/>
        </p:spPr>
        <p:txBody>
          <a:bodyPr wrap="square" lIns="0" tIns="0" rIns="0" bIns="0" rtlCol="0" anchor="ctr"/>
          <a:lstStyle/>
          <a:p>
            <a:pPr indent="0" marL="0">
              <a:buNone/>
            </a:pPr>
            <a:r>
              <a:rPr lang="en-US" sz="1600" b="1" dirty="0">
                <a:solidFill>
                  <a:schemeClr val="tx1"/>
                </a:solidFill>
              </a:rPr>
              <a:t>Branch</a:t>
            </a:r>
            <a:endParaRPr lang="en-US" sz="1600" dirty="0"/>
          </a:p>
        </p:txBody>
      </p:sp>
      <p:sp>
        <p:nvSpPr>
          <p:cNvPr id="21" name="Text 116"/>
          <p:cNvSpPr txBox="1"/>
          <p:nvPr/>
        </p:nvSpPr>
        <p:spPr>
          <a:xfrm>
            <a:off x="3640226" y="2432304"/>
            <a:ext cx="1929384" cy="411480"/>
          </a:xfrm>
          <a:prstGeom prst="rect">
            <a:avLst/>
          </a:prstGeom>
          <a:noFill/>
          <a:ln/>
        </p:spPr>
        <p:txBody>
          <a:bodyPr wrap="square" lIns="0" tIns="0" rIns="0" bIns="0" rtlCol="0" anchor="t"/>
          <a:lstStyle/>
          <a:p>
            <a:pPr indent="0" marL="0">
              <a:buNone/>
            </a:pPr>
            <a:r>
              <a:rPr lang="en-US" sz="1300" dirty="0">
                <a:solidFill>
                  <a:schemeClr val="tx2"/>
                </a:solidFill>
                <a:latin typeface="Consolas" pitchFamily="34" charset="0"/>
                <a:ea typeface="Consolas" pitchFamily="34" charset="-122"/>
                <a:cs typeface="Consolas" pitchFamily="34" charset="-120"/>
              </a:rPr>
              <a:t>feature/nnn-slug</a:t>
            </a:r>
            <a:endParaRPr lang="en-US" sz="1300" dirty="0"/>
          </a:p>
        </p:txBody>
      </p:sp>
      <p:sp>
        <p:nvSpPr>
          <p:cNvPr id="22" name="Connector 117"/>
          <p:cNvSpPr/>
          <p:nvPr/>
        </p:nvSpPr>
        <p:spPr>
          <a:xfrm>
            <a:off x="5862218" y="2286000"/>
            <a:ext cx="467258" cy="0"/>
          </a:xfrm>
          <a:prstGeom prst="line">
            <a:avLst/>
          </a:prstGeom>
          <a:noFill/>
          <a:ln w="25400">
            <a:solidFill>
              <a:schemeClr val="tx2"/>
            </a:solidFill>
            <a:prstDash val="solid"/>
            <a:tailEnd type="triangle"/>
          </a:ln>
        </p:spPr>
      </p:sp>
      <p:sp>
        <p:nvSpPr>
          <p:cNvPr id="23" name="Card 118"/>
          <p:cNvSpPr/>
          <p:nvPr/>
        </p:nvSpPr>
        <p:spPr>
          <a:xfrm>
            <a:off x="6420917" y="1645920"/>
            <a:ext cx="2331720" cy="1280160"/>
          </a:xfrm>
          <a:prstGeom prst="roundRect">
            <a:avLst>
              <a:gd name="adj" fmla="val 7143"/>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4" name="Icon check 119"/>
          <p:cNvSpPr/>
          <p:nvPr/>
        </p:nvSpPr>
        <p:spPr>
          <a:xfrm>
            <a:off x="6622085" y="1847088"/>
            <a:ext cx="502920" cy="502920"/>
          </a:xfrm>
          <a:prstGeom prst="ellipse">
            <a:avLst/>
          </a:prstGeom>
          <a:solidFill>
            <a:schemeClr val="accent1"/>
          </a:solidFill>
          <a:ln/>
        </p:spPr>
      </p:sp>
      <p:sp>
        <p:nvSpPr>
          <p:cNvPr id="25" name="Glyph stroke 121"/>
          <p:cNvSpPr/>
          <p:nvPr/>
        </p:nvSpPr>
        <p:spPr>
          <a:xfrm>
            <a:off x="6762902" y="2103577"/>
            <a:ext cx="80467" cy="80467"/>
          </a:xfrm>
          <a:prstGeom prst="line">
            <a:avLst/>
          </a:prstGeom>
          <a:noFill/>
          <a:ln w="44450">
            <a:solidFill>
              <a:schemeClr val="tx1"/>
            </a:solidFill>
            <a:prstDash val="solid"/>
          </a:ln>
        </p:spPr>
      </p:sp>
      <p:sp>
        <p:nvSpPr>
          <p:cNvPr id="26" name="Glyph stroke 122"/>
          <p:cNvSpPr/>
          <p:nvPr/>
        </p:nvSpPr>
        <p:spPr>
          <a:xfrm flipV="1">
            <a:off x="6843370" y="2018081"/>
            <a:ext cx="145847" cy="165964"/>
          </a:xfrm>
          <a:prstGeom prst="line">
            <a:avLst/>
          </a:prstGeom>
          <a:noFill/>
          <a:ln w="44450">
            <a:solidFill>
              <a:schemeClr val="tx1"/>
            </a:solidFill>
            <a:prstDash val="solid"/>
          </a:ln>
        </p:spPr>
      </p:sp>
      <p:sp>
        <p:nvSpPr>
          <p:cNvPr id="27" name="Text 123"/>
          <p:cNvSpPr txBox="1"/>
          <p:nvPr/>
        </p:nvSpPr>
        <p:spPr>
          <a:xfrm>
            <a:off x="7262165" y="1847088"/>
            <a:ext cx="1325880" cy="502920"/>
          </a:xfrm>
          <a:prstGeom prst="rect">
            <a:avLst/>
          </a:prstGeom>
          <a:noFill/>
          <a:ln/>
        </p:spPr>
        <p:txBody>
          <a:bodyPr wrap="square" lIns="0" tIns="0" rIns="0" bIns="0" rtlCol="0" anchor="ctr"/>
          <a:lstStyle/>
          <a:p>
            <a:pPr indent="0" marL="0">
              <a:buNone/>
            </a:pPr>
            <a:r>
              <a:rPr lang="en-US" sz="1600" b="1" dirty="0">
                <a:solidFill>
                  <a:schemeClr val="tx1"/>
                </a:solidFill>
              </a:rPr>
              <a:t>Pull request</a:t>
            </a:r>
            <a:endParaRPr lang="en-US" sz="1600" dirty="0"/>
          </a:p>
        </p:txBody>
      </p:sp>
      <p:sp>
        <p:nvSpPr>
          <p:cNvPr id="28" name="Text 124"/>
          <p:cNvSpPr txBox="1"/>
          <p:nvPr/>
        </p:nvSpPr>
        <p:spPr>
          <a:xfrm>
            <a:off x="6622085" y="2432304"/>
            <a:ext cx="1929384" cy="411480"/>
          </a:xfrm>
          <a:prstGeom prst="rect">
            <a:avLst/>
          </a:prstGeom>
          <a:noFill/>
          <a:ln/>
        </p:spPr>
        <p:txBody>
          <a:bodyPr wrap="square" lIns="0" tIns="0" rIns="0" bIns="0" rtlCol="0" anchor="t"/>
          <a:lstStyle/>
          <a:p>
            <a:pPr indent="0" marL="0">
              <a:buNone/>
            </a:pPr>
            <a:r>
              <a:rPr lang="en-US" sz="1200" dirty="0">
                <a:solidFill>
                  <a:schemeClr val="tx2"/>
                </a:solidFill>
              </a:rPr>
              <a:t>Both required checks pass first</a:t>
            </a:r>
            <a:endParaRPr lang="en-US" sz="1200" dirty="0"/>
          </a:p>
        </p:txBody>
      </p:sp>
      <p:sp>
        <p:nvSpPr>
          <p:cNvPr id="29" name="Connector 125"/>
          <p:cNvSpPr/>
          <p:nvPr/>
        </p:nvSpPr>
        <p:spPr>
          <a:xfrm>
            <a:off x="8844077" y="2286000"/>
            <a:ext cx="467258" cy="0"/>
          </a:xfrm>
          <a:prstGeom prst="line">
            <a:avLst/>
          </a:prstGeom>
          <a:noFill/>
          <a:ln w="25400">
            <a:solidFill>
              <a:schemeClr val="tx2"/>
            </a:solidFill>
            <a:prstDash val="solid"/>
            <a:tailEnd type="triangle"/>
          </a:ln>
        </p:spPr>
      </p:sp>
      <p:sp>
        <p:nvSpPr>
          <p:cNvPr id="30" name="Card 126"/>
          <p:cNvSpPr/>
          <p:nvPr/>
        </p:nvSpPr>
        <p:spPr>
          <a:xfrm>
            <a:off x="9402775" y="1645920"/>
            <a:ext cx="2331720" cy="1280160"/>
          </a:xfrm>
          <a:prstGeom prst="roundRect">
            <a:avLst>
              <a:gd name="adj" fmla="val 7143"/>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31" name="Icon gear 127"/>
          <p:cNvSpPr/>
          <p:nvPr/>
        </p:nvSpPr>
        <p:spPr>
          <a:xfrm>
            <a:off x="9603943" y="1847088"/>
            <a:ext cx="502920" cy="502920"/>
          </a:xfrm>
          <a:prstGeom prst="ellipse">
            <a:avLst/>
          </a:prstGeom>
          <a:solidFill>
            <a:schemeClr val="accent1"/>
          </a:solidFill>
          <a:ln/>
        </p:spPr>
      </p:sp>
      <p:sp>
        <p:nvSpPr>
          <p:cNvPr id="32" name="Glyph part 129"/>
          <p:cNvSpPr/>
          <p:nvPr/>
        </p:nvSpPr>
        <p:spPr>
          <a:xfrm>
            <a:off x="9729673" y="1972818"/>
            <a:ext cx="251460" cy="251460"/>
          </a:xfrm>
          <a:prstGeom prst="gear6">
            <a:avLst/>
          </a:prstGeom>
          <a:solidFill>
            <a:schemeClr val="tx1"/>
          </a:solidFill>
          <a:ln/>
        </p:spPr>
      </p:sp>
      <p:sp>
        <p:nvSpPr>
          <p:cNvPr id="33" name="Glyph part 130"/>
          <p:cNvSpPr/>
          <p:nvPr/>
        </p:nvSpPr>
        <p:spPr>
          <a:xfrm>
            <a:off x="9825228" y="2068373"/>
            <a:ext cx="60350" cy="60350"/>
          </a:xfrm>
          <a:prstGeom prst="ellipse">
            <a:avLst/>
          </a:prstGeom>
          <a:solidFill>
            <a:schemeClr val="accent1"/>
          </a:solidFill>
          <a:ln/>
        </p:spPr>
      </p:sp>
      <p:sp>
        <p:nvSpPr>
          <p:cNvPr id="34" name="Text 131"/>
          <p:cNvSpPr txBox="1"/>
          <p:nvPr/>
        </p:nvSpPr>
        <p:spPr>
          <a:xfrm>
            <a:off x="10244023" y="1847088"/>
            <a:ext cx="1325880" cy="502920"/>
          </a:xfrm>
          <a:prstGeom prst="rect">
            <a:avLst/>
          </a:prstGeom>
          <a:noFill/>
          <a:ln/>
        </p:spPr>
        <p:txBody>
          <a:bodyPr wrap="square" lIns="0" tIns="0" rIns="0" bIns="0" rtlCol="0" anchor="ctr"/>
          <a:lstStyle/>
          <a:p>
            <a:pPr indent="0" marL="0">
              <a:buNone/>
            </a:pPr>
            <a:r>
              <a:rPr lang="en-US" sz="1600" b="1" dirty="0">
                <a:solidFill>
                  <a:schemeClr val="tx1"/>
                </a:solidFill>
              </a:rPr>
              <a:t>Merge commit</a:t>
            </a:r>
            <a:endParaRPr lang="en-US" sz="1600" dirty="0"/>
          </a:p>
        </p:txBody>
      </p:sp>
      <p:sp>
        <p:nvSpPr>
          <p:cNvPr id="35" name="Text 132"/>
          <p:cNvSpPr txBox="1"/>
          <p:nvPr/>
        </p:nvSpPr>
        <p:spPr>
          <a:xfrm>
            <a:off x="9603943" y="2432304"/>
            <a:ext cx="1929384" cy="411480"/>
          </a:xfrm>
          <a:prstGeom prst="rect">
            <a:avLst/>
          </a:prstGeom>
          <a:noFill/>
          <a:ln/>
        </p:spPr>
        <p:txBody>
          <a:bodyPr wrap="square" lIns="0" tIns="0" rIns="0" bIns="0" rtlCol="0" anchor="t"/>
          <a:lstStyle/>
          <a:p>
            <a:pPr indent="0" marL="0">
              <a:buNone/>
            </a:pPr>
            <a:r>
              <a:rPr lang="en-US" sz="1200" dirty="0">
                <a:solidFill>
                  <a:schemeClr val="tx2"/>
                </a:solidFill>
              </a:rPr>
              <a:t>Into develop, then staging</a:t>
            </a:r>
            <a:endParaRPr lang="en-US" sz="1200" dirty="0"/>
          </a:p>
        </p:txBody>
      </p:sp>
      <p:sp>
        <p:nvSpPr>
          <p:cNvPr id="36" name="Card 133"/>
          <p:cNvSpPr/>
          <p:nvPr/>
        </p:nvSpPr>
        <p:spPr>
          <a:xfrm>
            <a:off x="457200" y="3246120"/>
            <a:ext cx="5486400" cy="2606040"/>
          </a:xfrm>
          <a:prstGeom prst="roundRect">
            <a:avLst>
              <a:gd name="adj" fmla="val 3509"/>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37" name="Text 134"/>
          <p:cNvSpPr txBox="1"/>
          <p:nvPr/>
        </p:nvSpPr>
        <p:spPr>
          <a:xfrm>
            <a:off x="731520" y="3447288"/>
            <a:ext cx="4937760" cy="365760"/>
          </a:xfrm>
          <a:prstGeom prst="rect">
            <a:avLst/>
          </a:prstGeom>
          <a:noFill/>
          <a:ln/>
        </p:spPr>
        <p:txBody>
          <a:bodyPr wrap="square" lIns="0" tIns="0" rIns="0" bIns="0" rtlCol="0" anchor="t"/>
          <a:lstStyle/>
          <a:p>
            <a:pPr indent="0" marL="0">
              <a:buNone/>
            </a:pPr>
            <a:r>
              <a:rPr lang="en-US" sz="2000" b="1" dirty="0">
                <a:solidFill>
                  <a:schemeClr val="tx1"/>
                </a:solidFill>
              </a:rPr>
              <a:t>28 functional requirements</a:t>
            </a:r>
            <a:endParaRPr lang="en-US" sz="2000" dirty="0"/>
          </a:p>
        </p:txBody>
      </p:sp>
      <p:sp>
        <p:nvSpPr>
          <p:cNvPr id="38" name="Glyph part 135"/>
          <p:cNvSpPr/>
          <p:nvPr/>
        </p:nvSpPr>
        <p:spPr>
          <a:xfrm>
            <a:off x="731520" y="3959352"/>
            <a:ext cx="145488" cy="457200"/>
          </a:xfrm>
          <a:prstGeom prst="rect">
            <a:avLst/>
          </a:prstGeom>
          <a:solidFill>
            <a:schemeClr val="accent3"/>
          </a:solidFill>
          <a:ln/>
        </p:spPr>
      </p:sp>
      <p:sp>
        <p:nvSpPr>
          <p:cNvPr id="39" name="Glyph part 136"/>
          <p:cNvSpPr/>
          <p:nvPr/>
        </p:nvSpPr>
        <p:spPr>
          <a:xfrm>
            <a:off x="909012" y="3959352"/>
            <a:ext cx="145488" cy="457200"/>
          </a:xfrm>
          <a:prstGeom prst="rect">
            <a:avLst/>
          </a:prstGeom>
          <a:solidFill>
            <a:schemeClr val="accent3"/>
          </a:solidFill>
          <a:ln/>
        </p:spPr>
      </p:sp>
      <p:sp>
        <p:nvSpPr>
          <p:cNvPr id="40" name="Glyph part 137"/>
          <p:cNvSpPr/>
          <p:nvPr/>
        </p:nvSpPr>
        <p:spPr>
          <a:xfrm>
            <a:off x="1086503" y="3959352"/>
            <a:ext cx="145488" cy="457200"/>
          </a:xfrm>
          <a:prstGeom prst="rect">
            <a:avLst/>
          </a:prstGeom>
          <a:solidFill>
            <a:schemeClr val="accent3"/>
          </a:solidFill>
          <a:ln/>
        </p:spPr>
      </p:sp>
      <p:sp>
        <p:nvSpPr>
          <p:cNvPr id="41" name="Glyph part 138"/>
          <p:cNvSpPr/>
          <p:nvPr/>
        </p:nvSpPr>
        <p:spPr>
          <a:xfrm>
            <a:off x="1263995" y="3959352"/>
            <a:ext cx="145488" cy="457200"/>
          </a:xfrm>
          <a:prstGeom prst="rect">
            <a:avLst/>
          </a:prstGeom>
          <a:solidFill>
            <a:schemeClr val="accent3"/>
          </a:solidFill>
          <a:ln/>
        </p:spPr>
      </p:sp>
      <p:sp>
        <p:nvSpPr>
          <p:cNvPr id="42" name="Glyph part 139"/>
          <p:cNvSpPr/>
          <p:nvPr/>
        </p:nvSpPr>
        <p:spPr>
          <a:xfrm>
            <a:off x="1441486" y="3959352"/>
            <a:ext cx="145488" cy="457200"/>
          </a:xfrm>
          <a:prstGeom prst="rect">
            <a:avLst/>
          </a:prstGeom>
          <a:solidFill>
            <a:schemeClr val="accent3"/>
          </a:solidFill>
          <a:ln/>
        </p:spPr>
      </p:sp>
      <p:sp>
        <p:nvSpPr>
          <p:cNvPr id="43" name="Glyph part 140"/>
          <p:cNvSpPr/>
          <p:nvPr/>
        </p:nvSpPr>
        <p:spPr>
          <a:xfrm>
            <a:off x="1618978" y="3959352"/>
            <a:ext cx="145488" cy="457200"/>
          </a:xfrm>
          <a:prstGeom prst="rect">
            <a:avLst/>
          </a:prstGeom>
          <a:solidFill>
            <a:schemeClr val="accent3"/>
          </a:solidFill>
          <a:ln/>
        </p:spPr>
      </p:sp>
      <p:sp>
        <p:nvSpPr>
          <p:cNvPr id="44" name="Glyph part 141"/>
          <p:cNvSpPr/>
          <p:nvPr/>
        </p:nvSpPr>
        <p:spPr>
          <a:xfrm>
            <a:off x="1796469" y="3959352"/>
            <a:ext cx="145488" cy="457200"/>
          </a:xfrm>
          <a:prstGeom prst="rect">
            <a:avLst/>
          </a:prstGeom>
          <a:solidFill>
            <a:schemeClr val="accent3"/>
          </a:solidFill>
          <a:ln/>
        </p:spPr>
      </p:sp>
      <p:sp>
        <p:nvSpPr>
          <p:cNvPr id="45" name="Glyph part 142"/>
          <p:cNvSpPr/>
          <p:nvPr/>
        </p:nvSpPr>
        <p:spPr>
          <a:xfrm>
            <a:off x="1973961" y="3959352"/>
            <a:ext cx="145488" cy="457200"/>
          </a:xfrm>
          <a:prstGeom prst="rect">
            <a:avLst/>
          </a:prstGeom>
          <a:solidFill>
            <a:schemeClr val="accent3"/>
          </a:solidFill>
          <a:ln/>
        </p:spPr>
      </p:sp>
      <p:sp>
        <p:nvSpPr>
          <p:cNvPr id="46" name="Glyph part 143"/>
          <p:cNvSpPr/>
          <p:nvPr/>
        </p:nvSpPr>
        <p:spPr>
          <a:xfrm>
            <a:off x="2151453" y="3959352"/>
            <a:ext cx="145488" cy="457200"/>
          </a:xfrm>
          <a:prstGeom prst="rect">
            <a:avLst/>
          </a:prstGeom>
          <a:solidFill>
            <a:schemeClr val="accent3"/>
          </a:solidFill>
          <a:ln/>
        </p:spPr>
      </p:sp>
      <p:sp>
        <p:nvSpPr>
          <p:cNvPr id="47" name="Glyph part 144"/>
          <p:cNvSpPr/>
          <p:nvPr/>
        </p:nvSpPr>
        <p:spPr>
          <a:xfrm>
            <a:off x="2328944" y="3959352"/>
            <a:ext cx="145488" cy="457200"/>
          </a:xfrm>
          <a:prstGeom prst="rect">
            <a:avLst/>
          </a:prstGeom>
          <a:solidFill>
            <a:schemeClr val="accent3"/>
          </a:solidFill>
          <a:ln/>
        </p:spPr>
      </p:sp>
      <p:sp>
        <p:nvSpPr>
          <p:cNvPr id="48" name="Glyph part 145"/>
          <p:cNvSpPr/>
          <p:nvPr/>
        </p:nvSpPr>
        <p:spPr>
          <a:xfrm>
            <a:off x="2506436" y="3959352"/>
            <a:ext cx="145488" cy="457200"/>
          </a:xfrm>
          <a:prstGeom prst="rect">
            <a:avLst/>
          </a:prstGeom>
          <a:solidFill>
            <a:schemeClr val="accent3"/>
          </a:solidFill>
          <a:ln/>
        </p:spPr>
      </p:sp>
      <p:sp>
        <p:nvSpPr>
          <p:cNvPr id="49" name="Glyph part 146"/>
          <p:cNvSpPr/>
          <p:nvPr/>
        </p:nvSpPr>
        <p:spPr>
          <a:xfrm>
            <a:off x="2683927" y="3959352"/>
            <a:ext cx="145488" cy="457200"/>
          </a:xfrm>
          <a:prstGeom prst="rect">
            <a:avLst/>
          </a:prstGeom>
          <a:solidFill>
            <a:schemeClr val="accent3"/>
          </a:solidFill>
          <a:ln/>
        </p:spPr>
      </p:sp>
      <p:sp>
        <p:nvSpPr>
          <p:cNvPr id="50" name="Glyph part 147"/>
          <p:cNvSpPr/>
          <p:nvPr/>
        </p:nvSpPr>
        <p:spPr>
          <a:xfrm>
            <a:off x="2861419" y="3959352"/>
            <a:ext cx="145488" cy="457200"/>
          </a:xfrm>
          <a:prstGeom prst="rect">
            <a:avLst/>
          </a:prstGeom>
          <a:solidFill>
            <a:schemeClr val="accent3"/>
          </a:solidFill>
          <a:ln/>
        </p:spPr>
      </p:sp>
      <p:sp>
        <p:nvSpPr>
          <p:cNvPr id="51" name="Glyph part 148"/>
          <p:cNvSpPr/>
          <p:nvPr/>
        </p:nvSpPr>
        <p:spPr>
          <a:xfrm>
            <a:off x="3038910" y="3959352"/>
            <a:ext cx="145488" cy="457200"/>
          </a:xfrm>
          <a:prstGeom prst="rect">
            <a:avLst/>
          </a:prstGeom>
          <a:solidFill>
            <a:schemeClr val="accent3"/>
          </a:solidFill>
          <a:ln/>
        </p:spPr>
      </p:sp>
      <p:sp>
        <p:nvSpPr>
          <p:cNvPr id="52" name="Glyph part 149"/>
          <p:cNvSpPr/>
          <p:nvPr/>
        </p:nvSpPr>
        <p:spPr>
          <a:xfrm>
            <a:off x="3216402" y="3959352"/>
            <a:ext cx="145488" cy="457200"/>
          </a:xfrm>
          <a:prstGeom prst="rect">
            <a:avLst/>
          </a:prstGeom>
          <a:solidFill>
            <a:schemeClr val="accent3"/>
          </a:solidFill>
          <a:ln/>
        </p:spPr>
      </p:sp>
      <p:sp>
        <p:nvSpPr>
          <p:cNvPr id="53" name="Glyph part 150"/>
          <p:cNvSpPr/>
          <p:nvPr/>
        </p:nvSpPr>
        <p:spPr>
          <a:xfrm>
            <a:off x="3393894" y="3959352"/>
            <a:ext cx="145488" cy="457200"/>
          </a:xfrm>
          <a:prstGeom prst="rect">
            <a:avLst/>
          </a:prstGeom>
          <a:solidFill>
            <a:schemeClr val="accent3"/>
          </a:solidFill>
          <a:ln/>
        </p:spPr>
      </p:sp>
      <p:sp>
        <p:nvSpPr>
          <p:cNvPr id="54" name="Glyph part 151"/>
          <p:cNvSpPr/>
          <p:nvPr/>
        </p:nvSpPr>
        <p:spPr>
          <a:xfrm>
            <a:off x="3571385" y="3959352"/>
            <a:ext cx="145488" cy="457200"/>
          </a:xfrm>
          <a:prstGeom prst="rect">
            <a:avLst/>
          </a:prstGeom>
          <a:solidFill>
            <a:schemeClr val="accent3"/>
          </a:solidFill>
          <a:ln/>
        </p:spPr>
      </p:sp>
      <p:sp>
        <p:nvSpPr>
          <p:cNvPr id="55" name="Glyph part 152"/>
          <p:cNvSpPr/>
          <p:nvPr/>
        </p:nvSpPr>
        <p:spPr>
          <a:xfrm>
            <a:off x="3748877" y="3959352"/>
            <a:ext cx="145488" cy="457200"/>
          </a:xfrm>
          <a:prstGeom prst="rect">
            <a:avLst/>
          </a:prstGeom>
          <a:solidFill>
            <a:schemeClr val="accent3"/>
          </a:solidFill>
          <a:ln/>
        </p:spPr>
      </p:sp>
      <p:sp>
        <p:nvSpPr>
          <p:cNvPr id="56" name="Glyph part 153"/>
          <p:cNvSpPr/>
          <p:nvPr/>
        </p:nvSpPr>
        <p:spPr>
          <a:xfrm>
            <a:off x="3926368" y="3959352"/>
            <a:ext cx="145488" cy="457200"/>
          </a:xfrm>
          <a:prstGeom prst="rect">
            <a:avLst/>
          </a:prstGeom>
          <a:solidFill>
            <a:schemeClr val="accent3"/>
          </a:solidFill>
          <a:ln/>
        </p:spPr>
      </p:sp>
      <p:sp>
        <p:nvSpPr>
          <p:cNvPr id="57" name="Glyph part 154"/>
          <p:cNvSpPr/>
          <p:nvPr/>
        </p:nvSpPr>
        <p:spPr>
          <a:xfrm>
            <a:off x="4103860" y="3959352"/>
            <a:ext cx="145488" cy="457200"/>
          </a:xfrm>
          <a:prstGeom prst="rect">
            <a:avLst/>
          </a:prstGeom>
          <a:solidFill>
            <a:schemeClr val="accent3"/>
          </a:solidFill>
          <a:ln/>
        </p:spPr>
      </p:sp>
      <p:sp>
        <p:nvSpPr>
          <p:cNvPr id="58" name="Glyph part 155"/>
          <p:cNvSpPr/>
          <p:nvPr/>
        </p:nvSpPr>
        <p:spPr>
          <a:xfrm>
            <a:off x="4281351" y="3959352"/>
            <a:ext cx="145488" cy="457200"/>
          </a:xfrm>
          <a:prstGeom prst="rect">
            <a:avLst/>
          </a:prstGeom>
          <a:solidFill>
            <a:schemeClr val="accent3"/>
          </a:solidFill>
          <a:ln/>
        </p:spPr>
      </p:sp>
      <p:sp>
        <p:nvSpPr>
          <p:cNvPr id="59" name="Glyph part 156"/>
          <p:cNvSpPr/>
          <p:nvPr/>
        </p:nvSpPr>
        <p:spPr>
          <a:xfrm>
            <a:off x="4458843" y="3959352"/>
            <a:ext cx="145488" cy="457200"/>
          </a:xfrm>
          <a:prstGeom prst="rect">
            <a:avLst/>
          </a:prstGeom>
          <a:solidFill>
            <a:schemeClr val="accent3"/>
          </a:solidFill>
          <a:ln/>
        </p:spPr>
      </p:sp>
      <p:sp>
        <p:nvSpPr>
          <p:cNvPr id="60" name="Glyph part 157"/>
          <p:cNvSpPr/>
          <p:nvPr/>
        </p:nvSpPr>
        <p:spPr>
          <a:xfrm>
            <a:off x="4636335" y="3959352"/>
            <a:ext cx="145488" cy="457200"/>
          </a:xfrm>
          <a:prstGeom prst="rect">
            <a:avLst/>
          </a:prstGeom>
          <a:solidFill>
            <a:schemeClr val="accent3"/>
          </a:solidFill>
          <a:ln/>
        </p:spPr>
      </p:sp>
      <p:sp>
        <p:nvSpPr>
          <p:cNvPr id="61" name="Glyph part 158"/>
          <p:cNvSpPr/>
          <p:nvPr/>
        </p:nvSpPr>
        <p:spPr>
          <a:xfrm>
            <a:off x="4813826" y="3959352"/>
            <a:ext cx="145488" cy="457200"/>
          </a:xfrm>
          <a:prstGeom prst="rect">
            <a:avLst/>
          </a:prstGeom>
          <a:solidFill>
            <a:schemeClr val="accent3"/>
          </a:solidFill>
          <a:ln/>
        </p:spPr>
      </p:sp>
      <p:sp>
        <p:nvSpPr>
          <p:cNvPr id="62" name="Glyph part 159"/>
          <p:cNvSpPr/>
          <p:nvPr/>
        </p:nvSpPr>
        <p:spPr>
          <a:xfrm>
            <a:off x="4991318" y="3959352"/>
            <a:ext cx="145488" cy="457200"/>
          </a:xfrm>
          <a:prstGeom prst="rect">
            <a:avLst/>
          </a:prstGeom>
          <a:solidFill>
            <a:schemeClr val="accent3"/>
          </a:solidFill>
          <a:ln/>
        </p:spPr>
      </p:sp>
      <p:sp>
        <p:nvSpPr>
          <p:cNvPr id="63" name="Glyph part 160"/>
          <p:cNvSpPr/>
          <p:nvPr/>
        </p:nvSpPr>
        <p:spPr>
          <a:xfrm>
            <a:off x="5168809" y="3959352"/>
            <a:ext cx="145488" cy="457200"/>
          </a:xfrm>
          <a:prstGeom prst="rect">
            <a:avLst/>
          </a:prstGeom>
          <a:solidFill>
            <a:schemeClr val="accent3"/>
          </a:solidFill>
          <a:ln/>
        </p:spPr>
      </p:sp>
      <p:sp>
        <p:nvSpPr>
          <p:cNvPr id="64" name="Glyph part 161"/>
          <p:cNvSpPr/>
          <p:nvPr/>
        </p:nvSpPr>
        <p:spPr>
          <a:xfrm>
            <a:off x="5346301" y="3959352"/>
            <a:ext cx="145488" cy="457200"/>
          </a:xfrm>
          <a:prstGeom prst="rect">
            <a:avLst/>
          </a:prstGeom>
          <a:solidFill>
            <a:schemeClr val="accent3"/>
          </a:solidFill>
          <a:ln/>
        </p:spPr>
      </p:sp>
      <p:sp>
        <p:nvSpPr>
          <p:cNvPr id="65" name="Glyph part 162"/>
          <p:cNvSpPr/>
          <p:nvPr/>
        </p:nvSpPr>
        <p:spPr>
          <a:xfrm>
            <a:off x="5523792" y="3959352"/>
            <a:ext cx="145488" cy="457200"/>
          </a:xfrm>
          <a:prstGeom prst="rect">
            <a:avLst/>
          </a:prstGeom>
          <a:solidFill>
            <a:schemeClr val="accent5"/>
          </a:solidFill>
          <a:ln/>
        </p:spPr>
      </p:sp>
      <p:sp>
        <p:nvSpPr>
          <p:cNvPr id="66" name="Glyph part 163"/>
          <p:cNvSpPr/>
          <p:nvPr/>
        </p:nvSpPr>
        <p:spPr>
          <a:xfrm>
            <a:off x="731520" y="4645152"/>
            <a:ext cx="164592" cy="164592"/>
          </a:xfrm>
          <a:prstGeom prst="rect">
            <a:avLst/>
          </a:prstGeom>
          <a:solidFill>
            <a:schemeClr val="accent3"/>
          </a:solidFill>
          <a:ln/>
        </p:spPr>
      </p:sp>
      <p:sp>
        <p:nvSpPr>
          <p:cNvPr id="67" name="Text 164"/>
          <p:cNvSpPr txBox="1"/>
          <p:nvPr/>
        </p:nvSpPr>
        <p:spPr>
          <a:xfrm>
            <a:off x="1005840" y="4581144"/>
            <a:ext cx="4663440" cy="292608"/>
          </a:xfrm>
          <a:prstGeom prst="rect">
            <a:avLst/>
          </a:prstGeom>
          <a:noFill/>
          <a:ln/>
        </p:spPr>
        <p:txBody>
          <a:bodyPr wrap="square" lIns="0" tIns="0" rIns="0" bIns="0" rtlCol="0" anchor="ctr"/>
          <a:lstStyle/>
          <a:p>
            <a:pPr indent="0" marL="0">
              <a:buNone/>
            </a:pPr>
            <a:r>
              <a:rPr lang="en-US" sz="1400" dirty="0">
                <a:solidFill>
                  <a:schemeClr val="tx2"/>
                </a:solidFill>
              </a:rPr>
              <a:t>27 built</a:t>
            </a:r>
            <a:endParaRPr lang="en-US" sz="1400" dirty="0"/>
          </a:p>
        </p:txBody>
      </p:sp>
      <p:sp>
        <p:nvSpPr>
          <p:cNvPr id="68" name="Glyph part 165"/>
          <p:cNvSpPr/>
          <p:nvPr/>
        </p:nvSpPr>
        <p:spPr>
          <a:xfrm>
            <a:off x="731520" y="4992624"/>
            <a:ext cx="164592" cy="164592"/>
          </a:xfrm>
          <a:prstGeom prst="rect">
            <a:avLst/>
          </a:prstGeom>
          <a:solidFill>
            <a:schemeClr val="accent5"/>
          </a:solidFill>
          <a:ln/>
        </p:spPr>
      </p:sp>
      <p:sp>
        <p:nvSpPr>
          <p:cNvPr id="69" name="Text 166"/>
          <p:cNvSpPr txBox="1"/>
          <p:nvPr/>
        </p:nvSpPr>
        <p:spPr>
          <a:xfrm>
            <a:off x="1005840" y="4928616"/>
            <a:ext cx="4663440" cy="292608"/>
          </a:xfrm>
          <a:prstGeom prst="rect">
            <a:avLst/>
          </a:prstGeom>
          <a:noFill/>
          <a:ln/>
        </p:spPr>
        <p:txBody>
          <a:bodyPr wrap="square" lIns="0" tIns="0" rIns="0" bIns="0" rtlCol="0" anchor="ctr"/>
          <a:lstStyle/>
          <a:p>
            <a:pPr indent="0" marL="0">
              <a:buNone/>
            </a:pPr>
            <a:r>
              <a:rPr lang="en-US" sz="1400" dirty="0">
                <a:solidFill>
                  <a:schemeClr val="tx2"/>
                </a:solidFill>
              </a:rPr>
              <a:t>1 partly built, FR-28, whose statement download is planned</a:t>
            </a:r>
            <a:endParaRPr lang="en-US" sz="1400" dirty="0"/>
          </a:p>
        </p:txBody>
      </p:sp>
      <p:sp>
        <p:nvSpPr>
          <p:cNvPr id="70" name="Text 167"/>
          <p:cNvSpPr txBox="1"/>
          <p:nvPr/>
        </p:nvSpPr>
        <p:spPr>
          <a:xfrm>
            <a:off x="731520" y="5349240"/>
            <a:ext cx="4937760" cy="292608"/>
          </a:xfrm>
          <a:prstGeom prst="rect">
            <a:avLst/>
          </a:prstGeom>
          <a:noFill/>
          <a:ln/>
        </p:spPr>
        <p:txBody>
          <a:bodyPr wrap="square" lIns="0" tIns="0" rIns="0" bIns="0" rtlCol="0" anchor="ctr"/>
          <a:lstStyle/>
          <a:p>
            <a:pPr indent="0" marL="0">
              <a:buNone/>
            </a:pPr>
            <a:r>
              <a:rPr lang="en-US" sz="1400" b="1" dirty="0">
                <a:solidFill>
                  <a:schemeClr val="tx1"/>
                </a:solidFill>
              </a:rPr>
              <a:t>18 </a:t>
            </a:r>
            <a:pPr indent="0" marL="0">
              <a:buNone/>
            </a:pPr>
            <a:r>
              <a:rPr lang="en-US" sz="1400" dirty="0">
                <a:solidFill>
                  <a:schemeClr val="tx2"/>
                </a:solidFill>
              </a:rPr>
              <a:t>non-functional requirements, each mapped to how I verify it</a:t>
            </a:r>
            <a:endParaRPr lang="en-US" sz="1400" dirty="0"/>
          </a:p>
        </p:txBody>
      </p:sp>
      <p:sp>
        <p:nvSpPr>
          <p:cNvPr id="71" name="Card 168"/>
          <p:cNvSpPr/>
          <p:nvPr/>
        </p:nvSpPr>
        <p:spPr>
          <a:xfrm>
            <a:off x="6217920" y="3246120"/>
            <a:ext cx="5516575" cy="2606040"/>
          </a:xfrm>
          <a:prstGeom prst="roundRect">
            <a:avLst>
              <a:gd name="adj" fmla="val 3509"/>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72" name="Text 169"/>
          <p:cNvSpPr txBox="1"/>
          <p:nvPr/>
        </p:nvSpPr>
        <p:spPr>
          <a:xfrm>
            <a:off x="6492240" y="3447288"/>
            <a:ext cx="4967935" cy="365760"/>
          </a:xfrm>
          <a:prstGeom prst="rect">
            <a:avLst/>
          </a:prstGeom>
          <a:noFill/>
          <a:ln/>
        </p:spPr>
        <p:txBody>
          <a:bodyPr wrap="square" lIns="0" tIns="0" rIns="0" bIns="0" rtlCol="0" anchor="t"/>
          <a:lstStyle/>
          <a:p>
            <a:pPr indent="0" marL="0">
              <a:buNone/>
            </a:pPr>
            <a:r>
              <a:rPr lang="en-US" sz="2000" b="1" dirty="0">
                <a:solidFill>
                  <a:schemeClr val="tx1"/>
                </a:solidFill>
              </a:rPr>
              <a:t>FR-07, followed through</a:t>
            </a:r>
            <a:endParaRPr lang="en-US" sz="2000" dirty="0"/>
          </a:p>
        </p:txBody>
      </p:sp>
      <p:sp>
        <p:nvSpPr>
          <p:cNvPr id="73" name="Text 170"/>
          <p:cNvSpPr txBox="1"/>
          <p:nvPr/>
        </p:nvSpPr>
        <p:spPr>
          <a:xfrm>
            <a:off x="6492240" y="3831336"/>
            <a:ext cx="4967935" cy="292608"/>
          </a:xfrm>
          <a:prstGeom prst="rect">
            <a:avLst/>
          </a:prstGeom>
          <a:noFill/>
          <a:ln/>
        </p:spPr>
        <p:txBody>
          <a:bodyPr wrap="square" lIns="0" tIns="0" rIns="0" bIns="0" rtlCol="0" anchor="t"/>
          <a:lstStyle/>
          <a:p>
            <a:pPr indent="0" marL="0">
              <a:buNone/>
            </a:pPr>
            <a:r>
              <a:rPr lang="en-US" sz="1400" dirty="0">
                <a:solidFill>
                  <a:schemeClr val="tx2"/>
                </a:solidFill>
              </a:rPr>
              <a:t>No unit ever holds two overlapping bookings</a:t>
            </a:r>
            <a:endParaRPr lang="en-US" sz="1400" dirty="0"/>
          </a:p>
        </p:txBody>
      </p:sp>
      <p:sp>
        <p:nvSpPr>
          <p:cNvPr id="74" name="Glyph part 171"/>
          <p:cNvSpPr/>
          <p:nvPr/>
        </p:nvSpPr>
        <p:spPr>
          <a:xfrm>
            <a:off x="6492240" y="4242816"/>
            <a:ext cx="4967935" cy="9144"/>
          </a:xfrm>
          <a:prstGeom prst="rect">
            <a:avLst/>
          </a:prstGeom>
          <a:solidFill>
            <a:srgbClr val="E2E5E9"/>
          </a:solidFill>
          <a:ln/>
        </p:spPr>
      </p:sp>
      <p:sp>
        <p:nvSpPr>
          <p:cNvPr id="75" name="Text 172"/>
          <p:cNvSpPr txBox="1"/>
          <p:nvPr/>
        </p:nvSpPr>
        <p:spPr>
          <a:xfrm>
            <a:off x="6492240" y="4297680"/>
            <a:ext cx="1325880" cy="292608"/>
          </a:xfrm>
          <a:prstGeom prst="rect">
            <a:avLst/>
          </a:prstGeom>
          <a:noFill/>
          <a:ln/>
        </p:spPr>
        <p:txBody>
          <a:bodyPr wrap="square" lIns="0" tIns="0" rIns="0" bIns="0" rtlCol="0" anchor="ctr"/>
          <a:lstStyle/>
          <a:p>
            <a:pPr indent="0" marL="0">
              <a:buNone/>
            </a:pPr>
            <a:r>
              <a:rPr lang="en-US" sz="1200" b="1" dirty="0">
                <a:solidFill>
                  <a:srgbClr val="5D6B7E"/>
                </a:solidFill>
              </a:rPr>
              <a:t>Status</a:t>
            </a:r>
            <a:endParaRPr lang="en-US" sz="1200" dirty="0"/>
          </a:p>
        </p:txBody>
      </p:sp>
      <p:sp>
        <p:nvSpPr>
          <p:cNvPr id="76" name="Chip 173"/>
          <p:cNvSpPr/>
          <p:nvPr/>
        </p:nvSpPr>
        <p:spPr>
          <a:xfrm>
            <a:off x="7818120" y="4315968"/>
            <a:ext cx="731520" cy="256032"/>
          </a:xfrm>
          <a:prstGeom prst="roundRect">
            <a:avLst>
              <a:gd name="adj" fmla="val 50000"/>
            </a:avLst>
          </a:prstGeom>
          <a:solidFill>
            <a:srgbClr val="ECFDF5"/>
          </a:solidFill>
          <a:ln/>
        </p:spPr>
        <p:txBody>
          <a:bodyPr wrap="square" lIns="25400" tIns="25400" rIns="25400" bIns="25400" rtlCol="0" anchor="ctr"/>
          <a:lstStyle/>
          <a:p>
            <a:pPr algn="ctr" indent="0" marL="0">
              <a:buNone/>
            </a:pPr>
            <a:r>
              <a:rPr lang="en-US" sz="1200" b="1" dirty="0">
                <a:solidFill>
                  <a:schemeClr val="accent3"/>
                </a:solidFill>
              </a:rPr>
              <a:t>Built</a:t>
            </a:r>
            <a:endParaRPr lang="en-US" sz="1200" dirty="0"/>
          </a:p>
        </p:txBody>
      </p:sp>
      <p:sp>
        <p:nvSpPr>
          <p:cNvPr id="77" name="Glyph part 174"/>
          <p:cNvSpPr/>
          <p:nvPr/>
        </p:nvSpPr>
        <p:spPr>
          <a:xfrm>
            <a:off x="6492240" y="4700016"/>
            <a:ext cx="4967935" cy="9144"/>
          </a:xfrm>
          <a:prstGeom prst="rect">
            <a:avLst/>
          </a:prstGeom>
          <a:solidFill>
            <a:srgbClr val="E2E5E9"/>
          </a:solidFill>
          <a:ln/>
        </p:spPr>
      </p:sp>
      <p:sp>
        <p:nvSpPr>
          <p:cNvPr id="78" name="Text 175"/>
          <p:cNvSpPr txBox="1"/>
          <p:nvPr/>
        </p:nvSpPr>
        <p:spPr>
          <a:xfrm>
            <a:off x="6492240" y="4754880"/>
            <a:ext cx="1325880" cy="292608"/>
          </a:xfrm>
          <a:prstGeom prst="rect">
            <a:avLst/>
          </a:prstGeom>
          <a:noFill/>
          <a:ln/>
        </p:spPr>
        <p:txBody>
          <a:bodyPr wrap="square" lIns="0" tIns="0" rIns="0" bIns="0" rtlCol="0" anchor="ctr"/>
          <a:lstStyle/>
          <a:p>
            <a:pPr indent="0" marL="0">
              <a:buNone/>
            </a:pPr>
            <a:r>
              <a:rPr lang="en-US" sz="1200" b="1" dirty="0">
                <a:solidFill>
                  <a:srgbClr val="5D6B7E"/>
                </a:solidFill>
              </a:rPr>
              <a:t>Pull requests</a:t>
            </a:r>
            <a:endParaRPr lang="en-US" sz="1200" dirty="0"/>
          </a:p>
        </p:txBody>
      </p:sp>
      <p:sp>
        <p:nvSpPr>
          <p:cNvPr id="79" name="Text 176"/>
          <p:cNvSpPr txBox="1"/>
          <p:nvPr/>
        </p:nvSpPr>
        <p:spPr>
          <a:xfrm>
            <a:off x="7818120" y="4754880"/>
            <a:ext cx="3642055" cy="292608"/>
          </a:xfrm>
          <a:prstGeom prst="rect">
            <a:avLst/>
          </a:prstGeom>
          <a:noFill/>
          <a:ln/>
        </p:spPr>
        <p:txBody>
          <a:bodyPr wrap="square" lIns="0" tIns="0" rIns="0" bIns="0" rtlCol="0" anchor="ctr"/>
          <a:lstStyle/>
          <a:p>
            <a:pPr indent="0" marL="0">
              <a:buNone/>
            </a:pPr>
            <a:r>
              <a:rPr lang="en-US" sz="1400" dirty="0">
                <a:solidFill>
                  <a:schemeClr val="tx1"/>
                </a:solidFill>
              </a:rPr>
              <a:t>#24 on branch 002, #38 on branch 005</a:t>
            </a:r>
            <a:endParaRPr lang="en-US" sz="1400" dirty="0"/>
          </a:p>
        </p:txBody>
      </p:sp>
      <p:sp>
        <p:nvSpPr>
          <p:cNvPr id="80" name="Glyph part 177"/>
          <p:cNvSpPr/>
          <p:nvPr/>
        </p:nvSpPr>
        <p:spPr>
          <a:xfrm>
            <a:off x="6492240" y="5157216"/>
            <a:ext cx="4967935" cy="9144"/>
          </a:xfrm>
          <a:prstGeom prst="rect">
            <a:avLst/>
          </a:prstGeom>
          <a:solidFill>
            <a:srgbClr val="E2E5E9"/>
          </a:solidFill>
          <a:ln/>
        </p:spPr>
      </p:sp>
      <p:sp>
        <p:nvSpPr>
          <p:cNvPr id="81" name="Text 178"/>
          <p:cNvSpPr txBox="1"/>
          <p:nvPr/>
        </p:nvSpPr>
        <p:spPr>
          <a:xfrm>
            <a:off x="6492240" y="5212080"/>
            <a:ext cx="1325880" cy="292608"/>
          </a:xfrm>
          <a:prstGeom prst="rect">
            <a:avLst/>
          </a:prstGeom>
          <a:noFill/>
          <a:ln/>
        </p:spPr>
        <p:txBody>
          <a:bodyPr wrap="square" lIns="0" tIns="0" rIns="0" bIns="0" rtlCol="0" anchor="ctr"/>
          <a:lstStyle/>
          <a:p>
            <a:pPr indent="0" marL="0">
              <a:buNone/>
            </a:pPr>
            <a:r>
              <a:rPr lang="en-US" sz="1200" b="1" dirty="0">
                <a:solidFill>
                  <a:srgbClr val="5D6B7E"/>
                </a:solidFill>
              </a:rPr>
              <a:t>Tests</a:t>
            </a:r>
            <a:endParaRPr lang="en-US" sz="1200" dirty="0"/>
          </a:p>
        </p:txBody>
      </p:sp>
      <p:sp>
        <p:nvSpPr>
          <p:cNvPr id="82" name="Text 179"/>
          <p:cNvSpPr txBox="1"/>
          <p:nvPr/>
        </p:nvSpPr>
        <p:spPr>
          <a:xfrm>
            <a:off x="7818120" y="5212080"/>
            <a:ext cx="3642055" cy="548640"/>
          </a:xfrm>
          <a:prstGeom prst="rect">
            <a:avLst/>
          </a:prstGeom>
          <a:noFill/>
          <a:ln/>
        </p:spPr>
        <p:txBody>
          <a:bodyPr wrap="square" lIns="0" tIns="0" rIns="0" bIns="0" rtlCol="0" anchor="t"/>
          <a:lstStyle/>
          <a:p>
            <a:pPr indent="0" marL="0">
              <a:buNone/>
            </a:pPr>
            <a:r>
              <a:rPr lang="en-US" sz="1300" dirty="0">
                <a:solidFill>
                  <a:schemeClr val="tx1"/>
                </a:solidFill>
                <a:latin typeface="Consolas" pitchFamily="34" charset="0"/>
                <a:ea typeface="Consolas" pitchFamily="34" charset="-122"/>
                <a:cs typeface="Consolas" pitchFamily="34" charset="-120"/>
              </a:rPr>
              <a:t>test_exclusion_constraint.py</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test_concurrent_holds.py</a:t>
            </a:r>
            <a:endParaRPr lang="en-US" sz="13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2  |  HOW IT IS BUILT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Architecture</a:t>
            </a:r>
            <a:endParaRPr lang="en-US" sz="3600" dirty="0"/>
          </a:p>
        </p:txBody>
      </p:sp>
      <p:sp>
        <p:nvSpPr>
          <p:cNvPr id="5" name="Card 180"/>
          <p:cNvSpPr/>
          <p:nvPr/>
        </p:nvSpPr>
        <p:spPr>
          <a:xfrm>
            <a:off x="457200" y="1691640"/>
            <a:ext cx="2103120" cy="914400"/>
          </a:xfrm>
          <a:prstGeom prst="roundRect">
            <a:avLst>
              <a:gd name="adj" fmla="val 100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Icon browser 181"/>
          <p:cNvSpPr/>
          <p:nvPr/>
        </p:nvSpPr>
        <p:spPr>
          <a:xfrm>
            <a:off x="621792" y="1911096"/>
            <a:ext cx="475488" cy="475488"/>
          </a:xfrm>
          <a:prstGeom prst="ellipse">
            <a:avLst/>
          </a:prstGeom>
          <a:solidFill>
            <a:schemeClr val="accent1"/>
          </a:solidFill>
          <a:ln/>
        </p:spPr>
      </p:sp>
      <p:sp>
        <p:nvSpPr>
          <p:cNvPr id="7" name="Glyph part 183"/>
          <p:cNvSpPr/>
          <p:nvPr/>
        </p:nvSpPr>
        <p:spPr>
          <a:xfrm>
            <a:off x="740664" y="2053742"/>
            <a:ext cx="237744" cy="190195"/>
          </a:xfrm>
          <a:prstGeom prst="rect">
            <a:avLst/>
          </a:prstGeom>
          <a:noFill/>
          <a:ln w="28575">
            <a:solidFill>
              <a:schemeClr val="tx1"/>
            </a:solidFill>
            <a:prstDash val="solid"/>
          </a:ln>
        </p:spPr>
      </p:sp>
      <p:sp>
        <p:nvSpPr>
          <p:cNvPr id="8" name="Glyph part 184"/>
          <p:cNvSpPr/>
          <p:nvPr/>
        </p:nvSpPr>
        <p:spPr>
          <a:xfrm>
            <a:off x="740664" y="2053742"/>
            <a:ext cx="237744" cy="52304"/>
          </a:xfrm>
          <a:prstGeom prst="rect">
            <a:avLst/>
          </a:prstGeom>
          <a:solidFill>
            <a:schemeClr val="tx1"/>
          </a:solidFill>
          <a:ln/>
        </p:spPr>
      </p:sp>
      <p:sp>
        <p:nvSpPr>
          <p:cNvPr id="9" name="Text 185"/>
          <p:cNvSpPr txBox="1"/>
          <p:nvPr/>
        </p:nvSpPr>
        <p:spPr>
          <a:xfrm>
            <a:off x="1207008" y="1764792"/>
            <a:ext cx="1280160" cy="768096"/>
          </a:xfrm>
          <a:prstGeom prst="rect">
            <a:avLst/>
          </a:prstGeom>
          <a:noFill/>
          <a:ln/>
        </p:spPr>
        <p:txBody>
          <a:bodyPr wrap="square" lIns="0" tIns="0" rIns="0" bIns="0" rtlCol="0" anchor="ctr"/>
          <a:lstStyle/>
          <a:p>
            <a:pPr indent="0" marL="0">
              <a:buNone/>
            </a:pPr>
            <a:r>
              <a:rPr lang="en-US" sz="1600" b="1" dirty="0">
                <a:solidFill>
                  <a:schemeClr val="tx1"/>
                </a:solidFill>
              </a:rPr>
              <a:t>Browser</a:t>
            </a:r>
            <a:endParaRPr lang="en-US" sz="1400" dirty="0"/>
          </a:p>
          <a:p>
            <a:pPr indent="0" marL="0">
              <a:spcBef>
                <a:spcPts val="300"/>
              </a:spcBef>
              <a:buNone/>
            </a:pPr>
            <a:r>
              <a:rPr lang="en-US" sz="1100" dirty="0">
                <a:solidFill>
                  <a:schemeClr val="tx2"/>
                </a:solidFill>
              </a:rPr>
              <a:t>The React app</a:t>
            </a:r>
            <a:endParaRPr lang="en-US" sz="1400" dirty="0"/>
          </a:p>
        </p:txBody>
      </p:sp>
      <p:sp>
        <p:nvSpPr>
          <p:cNvPr id="10" name="Card 186"/>
          <p:cNvSpPr/>
          <p:nvPr/>
        </p:nvSpPr>
        <p:spPr>
          <a:xfrm>
            <a:off x="3515258" y="1691640"/>
            <a:ext cx="2103120" cy="914400"/>
          </a:xfrm>
          <a:prstGeom prst="roundRect">
            <a:avLst>
              <a:gd name="adj" fmla="val 100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1" name="Icon cloud 187"/>
          <p:cNvSpPr/>
          <p:nvPr/>
        </p:nvSpPr>
        <p:spPr>
          <a:xfrm>
            <a:off x="3679850" y="1911096"/>
            <a:ext cx="475488" cy="475488"/>
          </a:xfrm>
          <a:prstGeom prst="ellipse">
            <a:avLst/>
          </a:prstGeom>
          <a:solidFill>
            <a:schemeClr val="accent1"/>
          </a:solidFill>
          <a:ln/>
        </p:spPr>
      </p:sp>
      <p:sp>
        <p:nvSpPr>
          <p:cNvPr id="12" name="Glyph part 189"/>
          <p:cNvSpPr/>
          <p:nvPr/>
        </p:nvSpPr>
        <p:spPr>
          <a:xfrm>
            <a:off x="3789213" y="2148840"/>
            <a:ext cx="256764" cy="90343"/>
          </a:xfrm>
          <a:prstGeom prst="roundRect">
            <a:avLst>
              <a:gd name="adj" fmla="val 50000"/>
            </a:avLst>
          </a:prstGeom>
          <a:solidFill>
            <a:schemeClr val="tx1"/>
          </a:solidFill>
          <a:ln/>
        </p:spPr>
      </p:sp>
      <p:sp>
        <p:nvSpPr>
          <p:cNvPr id="13" name="Glyph part 190"/>
          <p:cNvSpPr/>
          <p:nvPr/>
        </p:nvSpPr>
        <p:spPr>
          <a:xfrm>
            <a:off x="3808232" y="2115556"/>
            <a:ext cx="95098" cy="95098"/>
          </a:xfrm>
          <a:prstGeom prst="ellipse">
            <a:avLst/>
          </a:prstGeom>
          <a:solidFill>
            <a:schemeClr val="tx1"/>
          </a:solidFill>
          <a:ln/>
        </p:spPr>
      </p:sp>
      <p:sp>
        <p:nvSpPr>
          <p:cNvPr id="14" name="Glyph part 191"/>
          <p:cNvSpPr/>
          <p:nvPr/>
        </p:nvSpPr>
        <p:spPr>
          <a:xfrm>
            <a:off x="3855781" y="2053742"/>
            <a:ext cx="133137" cy="133137"/>
          </a:xfrm>
          <a:prstGeom prst="ellipse">
            <a:avLst/>
          </a:prstGeom>
          <a:solidFill>
            <a:schemeClr val="tx1"/>
          </a:solidFill>
          <a:ln/>
        </p:spPr>
      </p:sp>
      <p:sp>
        <p:nvSpPr>
          <p:cNvPr id="15" name="Glyph part 192"/>
          <p:cNvSpPr/>
          <p:nvPr/>
        </p:nvSpPr>
        <p:spPr>
          <a:xfrm>
            <a:off x="3936614" y="2106046"/>
            <a:ext cx="99852" cy="99852"/>
          </a:xfrm>
          <a:prstGeom prst="ellipse">
            <a:avLst/>
          </a:prstGeom>
          <a:solidFill>
            <a:schemeClr val="tx1"/>
          </a:solidFill>
          <a:ln/>
        </p:spPr>
      </p:sp>
      <p:sp>
        <p:nvSpPr>
          <p:cNvPr id="16" name="Text 193"/>
          <p:cNvSpPr txBox="1"/>
          <p:nvPr/>
        </p:nvSpPr>
        <p:spPr>
          <a:xfrm>
            <a:off x="4265066" y="1764792"/>
            <a:ext cx="1280160" cy="768096"/>
          </a:xfrm>
          <a:prstGeom prst="rect">
            <a:avLst/>
          </a:prstGeom>
          <a:noFill/>
          <a:ln/>
        </p:spPr>
        <p:txBody>
          <a:bodyPr wrap="square" lIns="0" tIns="0" rIns="0" bIns="0" rtlCol="0" anchor="ctr"/>
          <a:lstStyle/>
          <a:p>
            <a:pPr indent="0" marL="0">
              <a:buNone/>
            </a:pPr>
            <a:r>
              <a:rPr lang="en-US" sz="1600" b="1" dirty="0">
                <a:solidFill>
                  <a:schemeClr val="tx1"/>
                </a:solidFill>
              </a:rPr>
              <a:t>Vercel</a:t>
            </a:r>
            <a:endParaRPr lang="en-US" sz="1400" dirty="0"/>
          </a:p>
          <a:p>
            <a:pPr indent="0" marL="0">
              <a:spcBef>
                <a:spcPts val="300"/>
              </a:spcBef>
              <a:buNone/>
            </a:pPr>
            <a:r>
              <a:rPr lang="en-US" sz="1100" dirty="0">
                <a:solidFill>
                  <a:schemeClr val="tx2"/>
                </a:solidFill>
              </a:rPr>
              <a:t>The static bundle</a:t>
            </a:r>
            <a:endParaRPr lang="en-US" sz="1400" dirty="0"/>
          </a:p>
          <a:p>
            <a:pPr indent="0" marL="0">
              <a:spcBef>
                <a:spcPts val="300"/>
              </a:spcBef>
              <a:buNone/>
            </a:pPr>
            <a:r>
              <a:rPr lang="en-US" sz="1100" dirty="0">
                <a:solidFill>
                  <a:schemeClr val="tx2"/>
                </a:solidFill>
              </a:rPr>
              <a:t>and /api rewrite</a:t>
            </a:r>
            <a:endParaRPr lang="en-US" sz="1400" dirty="0"/>
          </a:p>
        </p:txBody>
      </p:sp>
      <p:sp>
        <p:nvSpPr>
          <p:cNvPr id="17" name="Card 194"/>
          <p:cNvSpPr/>
          <p:nvPr/>
        </p:nvSpPr>
        <p:spPr>
          <a:xfrm>
            <a:off x="6573317" y="1691640"/>
            <a:ext cx="2103120" cy="914400"/>
          </a:xfrm>
          <a:prstGeom prst="roundRect">
            <a:avLst>
              <a:gd name="adj" fmla="val 100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8" name="Icon gear 195"/>
          <p:cNvSpPr/>
          <p:nvPr/>
        </p:nvSpPr>
        <p:spPr>
          <a:xfrm>
            <a:off x="6737909" y="1911096"/>
            <a:ext cx="475488" cy="475488"/>
          </a:xfrm>
          <a:prstGeom prst="ellipse">
            <a:avLst/>
          </a:prstGeom>
          <a:solidFill>
            <a:schemeClr val="accent1"/>
          </a:solidFill>
          <a:ln/>
        </p:spPr>
      </p:sp>
      <p:sp>
        <p:nvSpPr>
          <p:cNvPr id="19" name="Glyph part 197"/>
          <p:cNvSpPr/>
          <p:nvPr/>
        </p:nvSpPr>
        <p:spPr>
          <a:xfrm>
            <a:off x="6856781" y="2029968"/>
            <a:ext cx="237744" cy="237744"/>
          </a:xfrm>
          <a:prstGeom prst="gear6">
            <a:avLst/>
          </a:prstGeom>
          <a:solidFill>
            <a:schemeClr val="tx1"/>
          </a:solidFill>
          <a:ln/>
        </p:spPr>
      </p:sp>
      <p:sp>
        <p:nvSpPr>
          <p:cNvPr id="20" name="Glyph part 198"/>
          <p:cNvSpPr/>
          <p:nvPr/>
        </p:nvSpPr>
        <p:spPr>
          <a:xfrm>
            <a:off x="6947124" y="2120311"/>
            <a:ext cx="57059" cy="57059"/>
          </a:xfrm>
          <a:prstGeom prst="ellipse">
            <a:avLst/>
          </a:prstGeom>
          <a:solidFill>
            <a:schemeClr val="accent1"/>
          </a:solidFill>
          <a:ln/>
        </p:spPr>
      </p:sp>
      <p:sp>
        <p:nvSpPr>
          <p:cNvPr id="21" name="Text 199"/>
          <p:cNvSpPr txBox="1"/>
          <p:nvPr/>
        </p:nvSpPr>
        <p:spPr>
          <a:xfrm>
            <a:off x="7323125" y="1764792"/>
            <a:ext cx="1280160" cy="768096"/>
          </a:xfrm>
          <a:prstGeom prst="rect">
            <a:avLst/>
          </a:prstGeom>
          <a:noFill/>
          <a:ln/>
        </p:spPr>
        <p:txBody>
          <a:bodyPr wrap="square" lIns="0" tIns="0" rIns="0" bIns="0" rtlCol="0" anchor="ctr"/>
          <a:lstStyle/>
          <a:p>
            <a:pPr indent="0" marL="0">
              <a:buNone/>
            </a:pPr>
            <a:r>
              <a:rPr lang="en-US" sz="1600" b="1" dirty="0">
                <a:solidFill>
                  <a:schemeClr val="tx1"/>
                </a:solidFill>
              </a:rPr>
              <a:t>Cloud Run</a:t>
            </a:r>
            <a:endParaRPr lang="en-US" sz="1400" dirty="0"/>
          </a:p>
          <a:p>
            <a:pPr indent="0" marL="0">
              <a:spcBef>
                <a:spcPts val="300"/>
              </a:spcBef>
              <a:buNone/>
            </a:pPr>
            <a:r>
              <a:rPr lang="en-US" sz="1100" dirty="0">
                <a:solidFill>
                  <a:schemeClr val="tx2"/>
                </a:solidFill>
              </a:rPr>
              <a:t>FastAPI</a:t>
            </a:r>
            <a:endParaRPr lang="en-US" sz="1400" dirty="0"/>
          </a:p>
          <a:p>
            <a:pPr indent="0" marL="0">
              <a:spcBef>
                <a:spcPts val="300"/>
              </a:spcBef>
              <a:buNone/>
            </a:pPr>
            <a:r>
              <a:rPr lang="en-US" sz="1100" dirty="0">
                <a:solidFill>
                  <a:schemeClr val="tx2"/>
                </a:solidFill>
              </a:rPr>
              <a:t>in London</a:t>
            </a:r>
            <a:endParaRPr lang="en-US" sz="1400" dirty="0"/>
          </a:p>
        </p:txBody>
      </p:sp>
      <p:sp>
        <p:nvSpPr>
          <p:cNvPr id="22" name="Card 200"/>
          <p:cNvSpPr/>
          <p:nvPr/>
        </p:nvSpPr>
        <p:spPr>
          <a:xfrm>
            <a:off x="9631375" y="1691640"/>
            <a:ext cx="2103120" cy="914400"/>
          </a:xfrm>
          <a:prstGeom prst="roundRect">
            <a:avLst>
              <a:gd name="adj" fmla="val 100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3" name="Icon db 201"/>
          <p:cNvSpPr/>
          <p:nvPr/>
        </p:nvSpPr>
        <p:spPr>
          <a:xfrm>
            <a:off x="9795967" y="1911096"/>
            <a:ext cx="475488" cy="475488"/>
          </a:xfrm>
          <a:prstGeom prst="ellipse">
            <a:avLst/>
          </a:prstGeom>
          <a:solidFill>
            <a:schemeClr val="accent1"/>
          </a:solidFill>
          <a:ln/>
        </p:spPr>
      </p:sp>
      <p:sp>
        <p:nvSpPr>
          <p:cNvPr id="24" name="Glyph part 203"/>
          <p:cNvSpPr/>
          <p:nvPr/>
        </p:nvSpPr>
        <p:spPr>
          <a:xfrm>
            <a:off x="9952878" y="2029968"/>
            <a:ext cx="161666" cy="237744"/>
          </a:xfrm>
          <a:prstGeom prst="can">
            <a:avLst/>
          </a:prstGeom>
          <a:solidFill>
            <a:schemeClr val="tx1"/>
          </a:solidFill>
          <a:ln/>
        </p:spPr>
      </p:sp>
      <p:sp>
        <p:nvSpPr>
          <p:cNvPr id="25" name="Text 204"/>
          <p:cNvSpPr txBox="1"/>
          <p:nvPr/>
        </p:nvSpPr>
        <p:spPr>
          <a:xfrm>
            <a:off x="10381183" y="1764792"/>
            <a:ext cx="1280160" cy="768096"/>
          </a:xfrm>
          <a:prstGeom prst="rect">
            <a:avLst/>
          </a:prstGeom>
          <a:noFill/>
          <a:ln/>
        </p:spPr>
        <p:txBody>
          <a:bodyPr wrap="square" lIns="0" tIns="0" rIns="0" bIns="0" rtlCol="0" anchor="ctr"/>
          <a:lstStyle/>
          <a:p>
            <a:pPr indent="0" marL="0">
              <a:buNone/>
            </a:pPr>
            <a:r>
              <a:rPr lang="en-US" sz="1600" b="1" dirty="0">
                <a:solidFill>
                  <a:schemeClr val="tx1"/>
                </a:solidFill>
              </a:rPr>
              <a:t>Neon</a:t>
            </a:r>
            <a:endParaRPr lang="en-US" sz="1400" dirty="0"/>
          </a:p>
          <a:p>
            <a:pPr indent="0" marL="0">
              <a:spcBef>
                <a:spcPts val="300"/>
              </a:spcBef>
              <a:buNone/>
            </a:pPr>
            <a:r>
              <a:rPr lang="en-US" sz="1100" dirty="0">
                <a:solidFill>
                  <a:schemeClr val="tx2"/>
                </a:solidFill>
              </a:rPr>
              <a:t>PostgreSQL 16</a:t>
            </a:r>
            <a:endParaRPr lang="en-US" sz="1400" dirty="0"/>
          </a:p>
          <a:p>
            <a:pPr indent="0" marL="0">
              <a:spcBef>
                <a:spcPts val="300"/>
              </a:spcBef>
              <a:buNone/>
            </a:pPr>
            <a:r>
              <a:rPr lang="en-US" sz="1100" dirty="0">
                <a:solidFill>
                  <a:schemeClr val="tx2"/>
                </a:solidFill>
              </a:rPr>
              <a:t>in London</a:t>
            </a:r>
            <a:endParaRPr lang="en-US" sz="1400" dirty="0"/>
          </a:p>
        </p:txBody>
      </p:sp>
      <p:sp>
        <p:nvSpPr>
          <p:cNvPr id="26" name="Connector 205"/>
          <p:cNvSpPr/>
          <p:nvPr/>
        </p:nvSpPr>
        <p:spPr>
          <a:xfrm>
            <a:off x="2633472" y="2148840"/>
            <a:ext cx="808634" cy="0"/>
          </a:xfrm>
          <a:prstGeom prst="line">
            <a:avLst/>
          </a:prstGeom>
          <a:noFill/>
          <a:ln w="25400">
            <a:solidFill>
              <a:schemeClr val="tx2"/>
            </a:solidFill>
            <a:prstDash val="solid"/>
            <a:tailEnd type="triangle"/>
          </a:ln>
        </p:spPr>
      </p:sp>
      <p:sp>
        <p:nvSpPr>
          <p:cNvPr id="27" name="Text 206"/>
          <p:cNvSpPr txBox="1"/>
          <p:nvPr/>
        </p:nvSpPr>
        <p:spPr>
          <a:xfrm>
            <a:off x="2633472" y="2221992"/>
            <a:ext cx="808634" cy="384048"/>
          </a:xfrm>
          <a:prstGeom prst="rect">
            <a:avLst/>
          </a:prstGeom>
          <a:noFill/>
          <a:ln/>
        </p:spPr>
        <p:txBody>
          <a:bodyPr wrap="square" lIns="0" tIns="0" rIns="0" bIns="0" rtlCol="0" anchor="t"/>
          <a:lstStyle/>
          <a:p>
            <a:pPr algn="ctr" indent="0" marL="0">
              <a:buNone/>
            </a:pPr>
            <a:r>
              <a:rPr lang="en-US" sz="1100" dirty="0">
                <a:solidFill>
                  <a:schemeClr val="tx2"/>
                </a:solidFill>
              </a:rPr>
              <a:t>HTTPS,</a:t>
            </a:r>
            <a:endParaRPr lang="en-US" sz="1100" dirty="0"/>
          </a:p>
          <a:p>
            <a:pPr algn="ctr" indent="0" marL="0">
              <a:buNone/>
            </a:pPr>
            <a:r>
              <a:rPr lang="en-US" sz="1100" dirty="0">
                <a:solidFill>
                  <a:schemeClr val="tx2"/>
                </a:solidFill>
              </a:rPr>
              <a:t>one origin</a:t>
            </a:r>
            <a:endParaRPr lang="en-US" sz="1100" dirty="0"/>
          </a:p>
        </p:txBody>
      </p:sp>
      <p:sp>
        <p:nvSpPr>
          <p:cNvPr id="28" name="Connector 207"/>
          <p:cNvSpPr/>
          <p:nvPr/>
        </p:nvSpPr>
        <p:spPr>
          <a:xfrm>
            <a:off x="5691530" y="2148840"/>
            <a:ext cx="808634" cy="0"/>
          </a:xfrm>
          <a:prstGeom prst="line">
            <a:avLst/>
          </a:prstGeom>
          <a:noFill/>
          <a:ln w="25400">
            <a:solidFill>
              <a:schemeClr val="tx2"/>
            </a:solidFill>
            <a:prstDash val="solid"/>
            <a:tailEnd type="triangle"/>
          </a:ln>
        </p:spPr>
      </p:sp>
      <p:sp>
        <p:nvSpPr>
          <p:cNvPr id="29" name="Text 208"/>
          <p:cNvSpPr txBox="1"/>
          <p:nvPr/>
        </p:nvSpPr>
        <p:spPr>
          <a:xfrm>
            <a:off x="5691530" y="2221992"/>
            <a:ext cx="808634" cy="384048"/>
          </a:xfrm>
          <a:prstGeom prst="rect">
            <a:avLst/>
          </a:prstGeom>
          <a:noFill/>
          <a:ln/>
        </p:spPr>
        <p:txBody>
          <a:bodyPr wrap="square" lIns="0" tIns="0" rIns="0" bIns="0" rtlCol="0" anchor="t"/>
          <a:lstStyle/>
          <a:p>
            <a:pPr algn="ctr" indent="0" marL="0">
              <a:buNone/>
            </a:pPr>
            <a:r>
              <a:rPr lang="en-US" sz="1100" dirty="0">
                <a:solidFill>
                  <a:schemeClr val="tx2"/>
                </a:solidFill>
              </a:rPr>
              <a:t>/api,</a:t>
            </a:r>
            <a:endParaRPr lang="en-US" sz="1100" dirty="0"/>
          </a:p>
          <a:p>
            <a:pPr algn="ctr" indent="0" marL="0">
              <a:buNone/>
            </a:pPr>
            <a:r>
              <a:rPr lang="en-US" sz="1100" dirty="0">
                <a:solidFill>
                  <a:schemeClr val="tx2"/>
                </a:solidFill>
              </a:rPr>
              <a:t>server side</a:t>
            </a:r>
            <a:endParaRPr lang="en-US" sz="1100" dirty="0"/>
          </a:p>
        </p:txBody>
      </p:sp>
      <p:sp>
        <p:nvSpPr>
          <p:cNvPr id="30" name="Connector 209"/>
          <p:cNvSpPr/>
          <p:nvPr/>
        </p:nvSpPr>
        <p:spPr>
          <a:xfrm>
            <a:off x="8749589" y="2148840"/>
            <a:ext cx="808634" cy="0"/>
          </a:xfrm>
          <a:prstGeom prst="line">
            <a:avLst/>
          </a:prstGeom>
          <a:noFill/>
          <a:ln w="25400">
            <a:solidFill>
              <a:schemeClr val="tx2"/>
            </a:solidFill>
            <a:prstDash val="solid"/>
            <a:tailEnd type="triangle"/>
          </a:ln>
        </p:spPr>
      </p:sp>
      <p:sp>
        <p:nvSpPr>
          <p:cNvPr id="31" name="Text 210"/>
          <p:cNvSpPr txBox="1"/>
          <p:nvPr/>
        </p:nvSpPr>
        <p:spPr>
          <a:xfrm>
            <a:off x="8749589" y="2221992"/>
            <a:ext cx="808634" cy="384048"/>
          </a:xfrm>
          <a:prstGeom prst="rect">
            <a:avLst/>
          </a:prstGeom>
          <a:noFill/>
          <a:ln/>
        </p:spPr>
        <p:txBody>
          <a:bodyPr wrap="square" lIns="0" tIns="0" rIns="0" bIns="0" rtlCol="0" anchor="t"/>
          <a:lstStyle/>
          <a:p>
            <a:pPr algn="ctr" indent="0" marL="0">
              <a:buNone/>
            </a:pPr>
            <a:r>
              <a:rPr lang="en-US" sz="1100" dirty="0">
                <a:solidFill>
                  <a:schemeClr val="tx2"/>
                </a:solidFill>
              </a:rPr>
              <a:t>pooled,</a:t>
            </a:r>
            <a:endParaRPr lang="en-US" sz="1100" dirty="0"/>
          </a:p>
          <a:p>
            <a:pPr algn="ctr" indent="0" marL="0">
              <a:buNone/>
            </a:pPr>
            <a:r>
              <a:rPr lang="en-US" sz="1100" dirty="0">
                <a:solidFill>
                  <a:schemeClr val="tx2"/>
                </a:solidFill>
              </a:rPr>
              <a:t>verified TLS</a:t>
            </a:r>
            <a:endParaRPr lang="en-US" sz="1100" dirty="0"/>
          </a:p>
        </p:txBody>
      </p:sp>
      <p:sp>
        <p:nvSpPr>
          <p:cNvPr id="32" name="Card 211"/>
          <p:cNvSpPr/>
          <p:nvPr/>
        </p:nvSpPr>
        <p:spPr>
          <a:xfrm>
            <a:off x="6573317" y="3063240"/>
            <a:ext cx="2103120" cy="777240"/>
          </a:xfrm>
          <a:prstGeom prst="roundRect">
            <a:avLst>
              <a:gd name="adj" fmla="val 11765"/>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33" name="Icon mail 212"/>
          <p:cNvSpPr/>
          <p:nvPr/>
        </p:nvSpPr>
        <p:spPr>
          <a:xfrm>
            <a:off x="6737909" y="3214116"/>
            <a:ext cx="475488" cy="475488"/>
          </a:xfrm>
          <a:prstGeom prst="ellipse">
            <a:avLst/>
          </a:prstGeom>
          <a:solidFill>
            <a:schemeClr val="accent1"/>
          </a:solidFill>
          <a:ln/>
        </p:spPr>
      </p:sp>
      <p:sp>
        <p:nvSpPr>
          <p:cNvPr id="34" name="Glyph part 214"/>
          <p:cNvSpPr/>
          <p:nvPr/>
        </p:nvSpPr>
        <p:spPr>
          <a:xfrm>
            <a:off x="6856781" y="3375782"/>
            <a:ext cx="237744" cy="152156"/>
          </a:xfrm>
          <a:prstGeom prst="rect">
            <a:avLst/>
          </a:prstGeom>
          <a:noFill/>
          <a:ln w="28575">
            <a:solidFill>
              <a:schemeClr val="tx1"/>
            </a:solidFill>
            <a:prstDash val="solid"/>
          </a:ln>
        </p:spPr>
      </p:sp>
      <p:sp>
        <p:nvSpPr>
          <p:cNvPr id="35" name="Glyph stroke 215"/>
          <p:cNvSpPr/>
          <p:nvPr/>
        </p:nvSpPr>
        <p:spPr>
          <a:xfrm>
            <a:off x="6856781" y="3375782"/>
            <a:ext cx="118872" cy="80833"/>
          </a:xfrm>
          <a:prstGeom prst="line">
            <a:avLst/>
          </a:prstGeom>
          <a:noFill/>
          <a:ln w="28575">
            <a:solidFill>
              <a:schemeClr val="tx1"/>
            </a:solidFill>
            <a:prstDash val="solid"/>
          </a:ln>
        </p:spPr>
      </p:sp>
      <p:sp>
        <p:nvSpPr>
          <p:cNvPr id="36" name="Glyph stroke 216"/>
          <p:cNvSpPr/>
          <p:nvPr/>
        </p:nvSpPr>
        <p:spPr>
          <a:xfrm flipH="1">
            <a:off x="6975653" y="3375782"/>
            <a:ext cx="118872" cy="80833"/>
          </a:xfrm>
          <a:prstGeom prst="line">
            <a:avLst/>
          </a:prstGeom>
          <a:noFill/>
          <a:ln w="28575">
            <a:solidFill>
              <a:schemeClr val="tx1"/>
            </a:solidFill>
            <a:prstDash val="solid"/>
          </a:ln>
        </p:spPr>
      </p:sp>
      <p:sp>
        <p:nvSpPr>
          <p:cNvPr id="37" name="Text 217"/>
          <p:cNvSpPr txBox="1"/>
          <p:nvPr/>
        </p:nvSpPr>
        <p:spPr>
          <a:xfrm>
            <a:off x="7323125" y="3118104"/>
            <a:ext cx="1280160" cy="667512"/>
          </a:xfrm>
          <a:prstGeom prst="rect">
            <a:avLst/>
          </a:prstGeom>
          <a:noFill/>
          <a:ln/>
        </p:spPr>
        <p:txBody>
          <a:bodyPr wrap="square" lIns="0" tIns="0" rIns="0" bIns="0" rtlCol="0" anchor="ctr"/>
          <a:lstStyle/>
          <a:p>
            <a:pPr indent="0" marL="0">
              <a:buNone/>
            </a:pPr>
            <a:r>
              <a:rPr lang="en-US" sz="1600" b="1" dirty="0">
                <a:solidFill>
                  <a:schemeClr val="tx1"/>
                </a:solidFill>
              </a:rPr>
              <a:t>Resend</a:t>
            </a:r>
            <a:endParaRPr lang="en-US" sz="1400" dirty="0"/>
          </a:p>
          <a:p>
            <a:pPr indent="0" marL="0">
              <a:spcBef>
                <a:spcPts val="300"/>
              </a:spcBef>
              <a:buNone/>
            </a:pPr>
            <a:r>
              <a:rPr lang="en-US" sz="1100" dirty="0">
                <a:solidFill>
                  <a:schemeClr val="tx2"/>
                </a:solidFill>
              </a:rPr>
              <a:t>Email, sent after</a:t>
            </a:r>
            <a:endParaRPr lang="en-US" sz="1400" dirty="0"/>
          </a:p>
          <a:p>
            <a:pPr indent="0" marL="0">
              <a:spcBef>
                <a:spcPts val="300"/>
              </a:spcBef>
              <a:buNone/>
            </a:pPr>
            <a:r>
              <a:rPr lang="en-US" sz="1100" dirty="0">
                <a:solidFill>
                  <a:schemeClr val="tx2"/>
                </a:solidFill>
              </a:rPr>
              <a:t>the commit</a:t>
            </a:r>
            <a:endParaRPr lang="en-US" sz="1400" dirty="0"/>
          </a:p>
        </p:txBody>
      </p:sp>
      <p:sp>
        <p:nvSpPr>
          <p:cNvPr id="38" name="Connector 218"/>
          <p:cNvSpPr/>
          <p:nvPr/>
        </p:nvSpPr>
        <p:spPr>
          <a:xfrm>
            <a:off x="7624877" y="2660904"/>
            <a:ext cx="0" cy="347472"/>
          </a:xfrm>
          <a:prstGeom prst="line">
            <a:avLst/>
          </a:prstGeom>
          <a:noFill/>
          <a:ln w="25400">
            <a:solidFill>
              <a:schemeClr val="tx2"/>
            </a:solidFill>
            <a:prstDash val="solid"/>
            <a:tailEnd type="triangle"/>
          </a:ln>
        </p:spPr>
      </p:sp>
      <p:sp>
        <p:nvSpPr>
          <p:cNvPr id="39" name="Icon shield 219"/>
          <p:cNvSpPr/>
          <p:nvPr/>
        </p:nvSpPr>
        <p:spPr>
          <a:xfrm>
            <a:off x="621792" y="3214116"/>
            <a:ext cx="475488" cy="475488"/>
          </a:xfrm>
          <a:prstGeom prst="ellipse">
            <a:avLst/>
          </a:prstGeom>
          <a:solidFill>
            <a:schemeClr val="tx2"/>
          </a:solidFill>
          <a:ln/>
        </p:spPr>
      </p:sp>
      <p:sp>
        <p:nvSpPr>
          <p:cNvPr id="40" name="Glyph part 221"/>
          <p:cNvSpPr/>
          <p:nvPr/>
        </p:nvSpPr>
        <p:spPr>
          <a:xfrm>
            <a:off x="769193" y="3332988"/>
            <a:ext cx="180685" cy="237744"/>
          </a:xfrm>
          <a:prstGeom prst="flowChartOffpageConnector">
            <a:avLst/>
          </a:prstGeom>
          <a:solidFill>
            <a:schemeClr val="bg1"/>
          </a:solidFill>
          <a:ln/>
        </p:spPr>
      </p:sp>
      <p:sp>
        <p:nvSpPr>
          <p:cNvPr id="41" name="Text 222"/>
          <p:cNvSpPr txBox="1"/>
          <p:nvPr/>
        </p:nvSpPr>
        <p:spPr>
          <a:xfrm>
            <a:off x="1325880" y="3017520"/>
            <a:ext cx="4790237" cy="868680"/>
          </a:xfrm>
          <a:prstGeom prst="rect">
            <a:avLst/>
          </a:prstGeom>
          <a:noFill/>
          <a:ln/>
        </p:spPr>
        <p:txBody>
          <a:bodyPr wrap="square" lIns="0" tIns="0" rIns="0" bIns="0" rtlCol="0" anchor="ctr"/>
          <a:lstStyle/>
          <a:p>
            <a:pPr indent="0" marL="0">
              <a:buNone/>
            </a:pPr>
            <a:r>
              <a:rPr lang="en-US" sz="1600" b="1" dirty="0">
                <a:solidFill>
                  <a:schemeClr val="tx1"/>
                </a:solidFill>
              </a:rPr>
              <a:t>One origin</a:t>
            </a:r>
            <a:endParaRPr lang="en-US" sz="1400" dirty="0"/>
          </a:p>
          <a:p>
            <a:pPr indent="0" marL="0">
              <a:spcBef>
                <a:spcPts val="300"/>
              </a:spcBef>
              <a:buNone/>
            </a:pPr>
            <a:r>
              <a:rPr lang="en-US" sz="1400" dirty="0">
                <a:solidFill>
                  <a:schemeClr val="tx2"/>
                </a:solidFill>
              </a:rPr>
              <a:t>The browser only talks to the site's own address, and Vercel passes /api to Cloud Run on the server side</a:t>
            </a:r>
            <a:endParaRPr lang="en-US" sz="1400" dirty="0"/>
          </a:p>
        </p:txBody>
      </p:sp>
      <p:sp>
        <p:nvSpPr>
          <p:cNvPr id="42" name="Layer API"/>
          <p:cNvSpPr/>
          <p:nvPr/>
        </p:nvSpPr>
        <p:spPr>
          <a:xfrm>
            <a:off x="457200" y="4206240"/>
            <a:ext cx="6400800" cy="1645920"/>
          </a:xfrm>
          <a:prstGeom prst="roundRect">
            <a:avLst>
              <a:gd name="adj" fmla="val 5556"/>
            </a:avLst>
          </a:prstGeom>
          <a:solidFill>
            <a:srgbClr val="F1F2F4"/>
          </a:solidFill>
          <a:ln w="9525">
            <a:solidFill>
              <a:srgbClr val="E2E5E9"/>
            </a:solidFill>
            <a:prstDash val="solid"/>
          </a:ln>
        </p:spPr>
      </p:sp>
      <p:sp>
        <p:nvSpPr>
          <p:cNvPr id="43" name="Text 223"/>
          <p:cNvSpPr txBox="1"/>
          <p:nvPr/>
        </p:nvSpPr>
        <p:spPr>
          <a:xfrm>
            <a:off x="612648" y="4279392"/>
            <a:ext cx="1005840" cy="1499616"/>
          </a:xfrm>
          <a:prstGeom prst="rect">
            <a:avLst/>
          </a:prstGeom>
          <a:noFill/>
          <a:ln/>
        </p:spPr>
        <p:txBody>
          <a:bodyPr wrap="square" lIns="0" tIns="0" rIns="0" bIns="0" rtlCol="0" anchor="ctr"/>
          <a:lstStyle/>
          <a:p>
            <a:pPr indent="0" marL="0">
              <a:buNone/>
            </a:pPr>
            <a:r>
              <a:rPr lang="en-US" sz="1400" b="1" dirty="0">
                <a:solidFill>
                  <a:schemeClr val="tx1"/>
                </a:solidFill>
              </a:rPr>
              <a:t>API</a:t>
            </a:r>
            <a:endParaRPr lang="en-US" sz="1400" dirty="0"/>
          </a:p>
          <a:p>
            <a:pPr indent="0" marL="0">
              <a:spcBef>
                <a:spcPts val="300"/>
              </a:spcBef>
              <a:buNone/>
            </a:pPr>
            <a:r>
              <a:rPr lang="en-US" sz="1100" dirty="0">
                <a:solidFill>
                  <a:schemeClr val="tx2"/>
                </a:solidFill>
              </a:rPr>
              <a:t>Routers, policies, wiring</a:t>
            </a:r>
            <a:endParaRPr lang="en-US" sz="1400" dirty="0"/>
          </a:p>
        </p:txBody>
      </p:sp>
      <p:sp>
        <p:nvSpPr>
          <p:cNvPr id="44" name="Layer Infrastructure"/>
          <p:cNvSpPr/>
          <p:nvPr/>
        </p:nvSpPr>
        <p:spPr>
          <a:xfrm>
            <a:off x="1645920" y="4325112"/>
            <a:ext cx="5093208" cy="1408176"/>
          </a:xfrm>
          <a:prstGeom prst="roundRect">
            <a:avLst>
              <a:gd name="adj" fmla="val 6494"/>
            </a:avLst>
          </a:prstGeom>
          <a:solidFill>
            <a:srgbClr val="E2E5E9"/>
          </a:solidFill>
          <a:ln/>
        </p:spPr>
      </p:sp>
      <p:sp>
        <p:nvSpPr>
          <p:cNvPr id="45" name="Text 224"/>
          <p:cNvSpPr txBox="1"/>
          <p:nvPr/>
        </p:nvSpPr>
        <p:spPr>
          <a:xfrm>
            <a:off x="1801368" y="4398264"/>
            <a:ext cx="1325880" cy="1261872"/>
          </a:xfrm>
          <a:prstGeom prst="rect">
            <a:avLst/>
          </a:prstGeom>
          <a:noFill/>
          <a:ln/>
        </p:spPr>
        <p:txBody>
          <a:bodyPr wrap="square" lIns="0" tIns="0" rIns="0" bIns="0" rtlCol="0" anchor="ctr"/>
          <a:lstStyle/>
          <a:p>
            <a:pPr indent="0" marL="0">
              <a:buNone/>
            </a:pPr>
            <a:r>
              <a:rPr lang="en-US" sz="1400" b="1" dirty="0">
                <a:solidFill>
                  <a:schemeClr val="tx1"/>
                </a:solidFill>
              </a:rPr>
              <a:t>Infrastructure</a:t>
            </a:r>
            <a:endParaRPr lang="en-US" sz="1400" dirty="0"/>
          </a:p>
          <a:p>
            <a:pPr indent="0" marL="0">
              <a:spcBef>
                <a:spcPts val="300"/>
              </a:spcBef>
              <a:buNone/>
            </a:pPr>
            <a:r>
              <a:rPr lang="en-US" sz="1100" dirty="0">
                <a:solidFill>
                  <a:schemeClr val="tx2"/>
                </a:solidFill>
              </a:rPr>
              <a:t>SQL, the unit of work, email</a:t>
            </a:r>
            <a:endParaRPr lang="en-US" sz="1400" dirty="0"/>
          </a:p>
        </p:txBody>
      </p:sp>
      <p:sp>
        <p:nvSpPr>
          <p:cNvPr id="46" name="Layer Application"/>
          <p:cNvSpPr/>
          <p:nvPr/>
        </p:nvSpPr>
        <p:spPr>
          <a:xfrm>
            <a:off x="3154680" y="4443984"/>
            <a:ext cx="3465576" cy="1170432"/>
          </a:xfrm>
          <a:prstGeom prst="roundRect">
            <a:avLst>
              <a:gd name="adj" fmla="val 7813"/>
            </a:avLst>
          </a:prstGeom>
          <a:solidFill>
            <a:schemeClr val="accent2"/>
          </a:solidFill>
          <a:ln/>
        </p:spPr>
      </p:sp>
      <p:sp>
        <p:nvSpPr>
          <p:cNvPr id="47" name="Text 225"/>
          <p:cNvSpPr txBox="1"/>
          <p:nvPr/>
        </p:nvSpPr>
        <p:spPr>
          <a:xfrm>
            <a:off x="3310128" y="4517136"/>
            <a:ext cx="1234440" cy="1024128"/>
          </a:xfrm>
          <a:prstGeom prst="rect">
            <a:avLst/>
          </a:prstGeom>
          <a:noFill/>
          <a:ln/>
        </p:spPr>
        <p:txBody>
          <a:bodyPr wrap="square" lIns="0" tIns="0" rIns="0" bIns="0" rtlCol="0" anchor="ctr"/>
          <a:lstStyle/>
          <a:p>
            <a:pPr indent="0" marL="0">
              <a:buNone/>
            </a:pPr>
            <a:r>
              <a:rPr lang="en-US" sz="1400" b="1" dirty="0">
                <a:solidFill>
                  <a:schemeClr val="bg1"/>
                </a:solidFill>
              </a:rPr>
              <a:t>Application</a:t>
            </a:r>
            <a:endParaRPr lang="en-US" sz="1400" dirty="0"/>
          </a:p>
          <a:p>
            <a:pPr indent="0" marL="0">
              <a:spcBef>
                <a:spcPts val="300"/>
              </a:spcBef>
              <a:buNone/>
            </a:pPr>
            <a:r>
              <a:rPr lang="en-US" sz="1100" dirty="0">
                <a:solidFill>
                  <a:srgbClr val="CBD5E1"/>
                </a:solidFill>
              </a:rPr>
              <a:t>Use cases and their ports</a:t>
            </a:r>
            <a:endParaRPr lang="en-US" sz="1400" dirty="0"/>
          </a:p>
        </p:txBody>
      </p:sp>
      <p:sp>
        <p:nvSpPr>
          <p:cNvPr id="48" name="Layer Domain"/>
          <p:cNvSpPr/>
          <p:nvPr/>
        </p:nvSpPr>
        <p:spPr>
          <a:xfrm>
            <a:off x="4572000" y="4562856"/>
            <a:ext cx="1929384" cy="932688"/>
          </a:xfrm>
          <a:prstGeom prst="roundRect">
            <a:avLst>
              <a:gd name="adj" fmla="val 9804"/>
            </a:avLst>
          </a:prstGeom>
          <a:solidFill>
            <a:schemeClr val="tx1"/>
          </a:solidFill>
          <a:ln/>
        </p:spPr>
      </p:sp>
      <p:sp>
        <p:nvSpPr>
          <p:cNvPr id="49" name="Text 226"/>
          <p:cNvSpPr txBox="1"/>
          <p:nvPr/>
        </p:nvSpPr>
        <p:spPr>
          <a:xfrm>
            <a:off x="4727448" y="4636008"/>
            <a:ext cx="1563624" cy="786384"/>
          </a:xfrm>
          <a:prstGeom prst="rect">
            <a:avLst/>
          </a:prstGeom>
          <a:noFill/>
          <a:ln/>
        </p:spPr>
        <p:txBody>
          <a:bodyPr wrap="square" lIns="0" tIns="0" rIns="0" bIns="0" rtlCol="0" anchor="ctr"/>
          <a:lstStyle/>
          <a:p>
            <a:pPr indent="0" marL="0">
              <a:buNone/>
            </a:pPr>
            <a:r>
              <a:rPr lang="en-US" sz="1400" b="1" dirty="0">
                <a:solidFill>
                  <a:schemeClr val="bg1"/>
                </a:solidFill>
              </a:rPr>
              <a:t>Domain</a:t>
            </a:r>
            <a:endParaRPr lang="en-US" sz="1400" dirty="0"/>
          </a:p>
          <a:p>
            <a:pPr indent="0" marL="0">
              <a:spcBef>
                <a:spcPts val="300"/>
              </a:spcBef>
              <a:buNone/>
            </a:pPr>
            <a:r>
              <a:rPr lang="en-US" sz="1100" dirty="0">
                <a:solidFill>
                  <a:srgbClr val="CBD5E1"/>
                </a:solidFill>
              </a:rPr>
              <a:t>The rules, no framework, no SQL</a:t>
            </a:r>
            <a:endParaRPr lang="en-US" sz="1400" dirty="0"/>
          </a:p>
        </p:txBody>
      </p:sp>
      <p:sp>
        <p:nvSpPr>
          <p:cNvPr id="50" name="Card 227"/>
          <p:cNvSpPr/>
          <p:nvPr/>
        </p:nvSpPr>
        <p:spPr>
          <a:xfrm>
            <a:off x="7223760" y="4206240"/>
            <a:ext cx="2118208" cy="1645920"/>
          </a:xfrm>
          <a:prstGeom prst="roundRect">
            <a:avLst>
              <a:gd name="adj" fmla="val 5556"/>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1" name="Text 228"/>
          <p:cNvSpPr txBox="1"/>
          <p:nvPr/>
        </p:nvSpPr>
        <p:spPr>
          <a:xfrm>
            <a:off x="7452360" y="4279392"/>
            <a:ext cx="1661008" cy="640080"/>
          </a:xfrm>
          <a:prstGeom prst="rect">
            <a:avLst/>
          </a:prstGeom>
          <a:noFill/>
          <a:ln/>
        </p:spPr>
        <p:txBody>
          <a:bodyPr wrap="square" lIns="0" tIns="0" rIns="0" bIns="0" rtlCol="0" anchor="b"/>
          <a:lstStyle/>
          <a:p>
            <a:pPr indent="0" marL="0">
              <a:buNone/>
            </a:pPr>
            <a:r>
              <a:rPr lang="en-US" sz="4000" b="1" dirty="0">
                <a:solidFill>
                  <a:schemeClr val="tx1"/>
                </a:solidFill>
              </a:rPr>
              <a:t>8</a:t>
            </a:r>
            <a:endParaRPr lang="en-US" sz="4000" dirty="0"/>
          </a:p>
        </p:txBody>
      </p:sp>
      <p:sp>
        <p:nvSpPr>
          <p:cNvPr id="52" name="Text 229"/>
          <p:cNvSpPr txBox="1"/>
          <p:nvPr/>
        </p:nvSpPr>
        <p:spPr>
          <a:xfrm>
            <a:off x="7452360" y="4974336"/>
            <a:ext cx="1661008" cy="731520"/>
          </a:xfrm>
          <a:prstGeom prst="rect">
            <a:avLst/>
          </a:prstGeom>
          <a:noFill/>
          <a:ln/>
        </p:spPr>
        <p:txBody>
          <a:bodyPr wrap="square" lIns="0" tIns="0" rIns="0" bIns="0" rtlCol="0" anchor="t"/>
          <a:lstStyle/>
          <a:p>
            <a:pPr indent="0" marL="0">
              <a:buNone/>
            </a:pPr>
            <a:r>
              <a:rPr lang="en-US" sz="1400" dirty="0">
                <a:solidFill>
                  <a:schemeClr val="tx2"/>
                </a:solidFill>
              </a:rPr>
              <a:t>modules, all built, with the same name in every layer</a:t>
            </a:r>
            <a:endParaRPr lang="en-US" sz="1400" dirty="0"/>
          </a:p>
        </p:txBody>
      </p:sp>
      <p:sp>
        <p:nvSpPr>
          <p:cNvPr id="53" name="Card 230"/>
          <p:cNvSpPr/>
          <p:nvPr/>
        </p:nvSpPr>
        <p:spPr>
          <a:xfrm>
            <a:off x="9616288" y="4206240"/>
            <a:ext cx="2118208" cy="1645920"/>
          </a:xfrm>
          <a:prstGeom prst="roundRect">
            <a:avLst>
              <a:gd name="adj" fmla="val 5556"/>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4" name="Text 231"/>
          <p:cNvSpPr txBox="1"/>
          <p:nvPr/>
        </p:nvSpPr>
        <p:spPr>
          <a:xfrm>
            <a:off x="9844888" y="4279392"/>
            <a:ext cx="1661008" cy="640080"/>
          </a:xfrm>
          <a:prstGeom prst="rect">
            <a:avLst/>
          </a:prstGeom>
          <a:noFill/>
          <a:ln/>
        </p:spPr>
        <p:txBody>
          <a:bodyPr wrap="square" lIns="0" tIns="0" rIns="0" bIns="0" rtlCol="0" anchor="b"/>
          <a:lstStyle/>
          <a:p>
            <a:pPr indent="0" marL="0">
              <a:buNone/>
            </a:pPr>
            <a:r>
              <a:rPr lang="en-US" sz="4000" b="1" dirty="0">
                <a:solidFill>
                  <a:schemeClr val="tx1"/>
                </a:solidFill>
              </a:rPr>
              <a:t>5</a:t>
            </a:r>
            <a:endParaRPr lang="en-US" sz="4000" dirty="0"/>
          </a:p>
        </p:txBody>
      </p:sp>
      <p:sp>
        <p:nvSpPr>
          <p:cNvPr id="55" name="Text 232"/>
          <p:cNvSpPr txBox="1"/>
          <p:nvPr/>
        </p:nvSpPr>
        <p:spPr>
          <a:xfrm>
            <a:off x="9844888" y="4974336"/>
            <a:ext cx="1661008" cy="731520"/>
          </a:xfrm>
          <a:prstGeom prst="rect">
            <a:avLst/>
          </a:prstGeom>
          <a:noFill/>
          <a:ln/>
        </p:spPr>
        <p:txBody>
          <a:bodyPr wrap="square" lIns="0" tIns="0" rIns="0" bIns="0" rtlCol="0" anchor="t"/>
          <a:lstStyle/>
          <a:p>
            <a:pPr indent="0" marL="0">
              <a:buNone/>
            </a:pPr>
            <a:r>
              <a:rPr lang="en-US" sz="1400" dirty="0">
                <a:solidFill>
                  <a:schemeClr val="tx2"/>
                </a:solidFill>
              </a:rPr>
              <a:t>import contracts, checked on every push</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2  |  HOW IT IS BUILT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The four design patterns</a:t>
            </a:r>
            <a:endParaRPr lang="en-US" sz="3600" dirty="0"/>
          </a:p>
        </p:txBody>
      </p:sp>
      <p:sp>
        <p:nvSpPr>
          <p:cNvPr id="5" name="Card 233"/>
          <p:cNvSpPr/>
          <p:nvPr/>
        </p:nvSpPr>
        <p:spPr>
          <a:xfrm>
            <a:off x="457200" y="1645920"/>
            <a:ext cx="2613584" cy="4206240"/>
          </a:xfrm>
          <a:prstGeom prst="roundRect">
            <a:avLst>
              <a:gd name="adj" fmla="val 3499"/>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Icon db 234"/>
          <p:cNvSpPr/>
          <p:nvPr/>
        </p:nvSpPr>
        <p:spPr>
          <a:xfrm>
            <a:off x="685800" y="1874520"/>
            <a:ext cx="594360" cy="594360"/>
          </a:xfrm>
          <a:prstGeom prst="ellipse">
            <a:avLst/>
          </a:prstGeom>
          <a:solidFill>
            <a:schemeClr val="accent1"/>
          </a:solidFill>
          <a:ln/>
        </p:spPr>
      </p:sp>
      <p:sp>
        <p:nvSpPr>
          <p:cNvPr id="7" name="Glyph part 236"/>
          <p:cNvSpPr/>
          <p:nvPr/>
        </p:nvSpPr>
        <p:spPr>
          <a:xfrm>
            <a:off x="881939" y="2023110"/>
            <a:ext cx="202082" cy="297180"/>
          </a:xfrm>
          <a:prstGeom prst="can">
            <a:avLst/>
          </a:prstGeom>
          <a:solidFill>
            <a:schemeClr val="tx1"/>
          </a:solidFill>
          <a:ln/>
        </p:spPr>
      </p:sp>
      <p:sp>
        <p:nvSpPr>
          <p:cNvPr id="8" name="Text 237"/>
          <p:cNvSpPr txBox="1"/>
          <p:nvPr/>
        </p:nvSpPr>
        <p:spPr>
          <a:xfrm>
            <a:off x="685800" y="2606040"/>
            <a:ext cx="2156384" cy="640080"/>
          </a:xfrm>
          <a:prstGeom prst="rect">
            <a:avLst/>
          </a:prstGeom>
          <a:noFill/>
          <a:ln/>
        </p:spPr>
        <p:txBody>
          <a:bodyPr wrap="square" lIns="0" tIns="0" rIns="0" bIns="0" rtlCol="0" anchor="t"/>
          <a:lstStyle/>
          <a:p>
            <a:pPr indent="0" marL="0">
              <a:buNone/>
            </a:pPr>
            <a:r>
              <a:rPr lang="en-US" sz="1800" b="1" dirty="0">
                <a:solidFill>
                  <a:schemeClr val="tx1"/>
                </a:solidFill>
              </a:rPr>
              <a:t>Repository with Unit of Work</a:t>
            </a:r>
            <a:endParaRPr lang="en-US" sz="1800" dirty="0"/>
          </a:p>
        </p:txBody>
      </p:sp>
      <p:sp>
        <p:nvSpPr>
          <p:cNvPr id="9" name="Text 238"/>
          <p:cNvSpPr txBox="1"/>
          <p:nvPr/>
        </p:nvSpPr>
        <p:spPr>
          <a:xfrm>
            <a:off x="685800" y="3273552"/>
            <a:ext cx="2156384" cy="868680"/>
          </a:xfrm>
          <a:prstGeom prst="rect">
            <a:avLst/>
          </a:prstGeom>
          <a:noFill/>
          <a:ln/>
        </p:spPr>
        <p:txBody>
          <a:bodyPr wrap="square" lIns="0" tIns="0" rIns="0" bIns="0" rtlCol="0" anchor="t"/>
          <a:lstStyle/>
          <a:p>
            <a:pPr indent="0" marL="0">
              <a:buNone/>
            </a:pPr>
            <a:r>
              <a:rPr lang="en-US" sz="1400" dirty="0">
                <a:solidFill>
                  <a:schemeClr val="tx2"/>
                </a:solidFill>
              </a:rPr>
              <a:t>One transaction for a hold, its allocations and its audit event.</a:t>
            </a:r>
            <a:endParaRPr lang="en-US" sz="1400" dirty="0"/>
          </a:p>
        </p:txBody>
      </p:sp>
      <p:sp>
        <p:nvSpPr>
          <p:cNvPr id="10" name="Text 239"/>
          <p:cNvSpPr txBox="1"/>
          <p:nvPr/>
        </p:nvSpPr>
        <p:spPr>
          <a:xfrm>
            <a:off x="685800" y="5486400"/>
            <a:ext cx="2156384" cy="228600"/>
          </a:xfrm>
          <a:prstGeom prst="rect">
            <a:avLst/>
          </a:prstGeom>
          <a:noFill/>
          <a:ln/>
        </p:spPr>
        <p:txBody>
          <a:bodyPr wrap="square" lIns="0" tIns="0" rIns="0" bIns="0" rtlCol="0" anchor="t"/>
          <a:lstStyle/>
          <a:p>
            <a:pPr indent="0" marL="0">
              <a:buNone/>
            </a:pPr>
            <a:r>
              <a:rPr lang="en-US" sz="1000" dirty="0">
                <a:solidFill>
                  <a:srgbClr val="5D6B7E"/>
                </a:solidFill>
                <a:latin typeface="Consolas" pitchFamily="34" charset="0"/>
                <a:ea typeface="Consolas" pitchFamily="34" charset="-122"/>
                <a:cs typeface="Consolas" pitchFamily="34" charset="-120"/>
              </a:rPr>
              <a:t>application/unit_of_work.py</a:t>
            </a:r>
            <a:endParaRPr lang="en-US" sz="1000" dirty="0"/>
          </a:p>
        </p:txBody>
      </p:sp>
      <p:sp>
        <p:nvSpPr>
          <p:cNvPr id="11" name="Card 240"/>
          <p:cNvSpPr/>
          <p:nvPr/>
        </p:nvSpPr>
        <p:spPr>
          <a:xfrm>
            <a:off x="3345104" y="1645920"/>
            <a:ext cx="2613584" cy="4206240"/>
          </a:xfrm>
          <a:prstGeom prst="roundRect">
            <a:avLst>
              <a:gd name="adj" fmla="val 3499"/>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2" name="Icon plug 241"/>
          <p:cNvSpPr/>
          <p:nvPr/>
        </p:nvSpPr>
        <p:spPr>
          <a:xfrm>
            <a:off x="3573704" y="1874520"/>
            <a:ext cx="594360" cy="594360"/>
          </a:xfrm>
          <a:prstGeom prst="ellipse">
            <a:avLst/>
          </a:prstGeom>
          <a:solidFill>
            <a:schemeClr val="accent1"/>
          </a:solidFill>
          <a:ln/>
        </p:spPr>
      </p:sp>
      <p:sp>
        <p:nvSpPr>
          <p:cNvPr id="13" name="Glyph part 243"/>
          <p:cNvSpPr/>
          <p:nvPr/>
        </p:nvSpPr>
        <p:spPr>
          <a:xfrm>
            <a:off x="3722294" y="2088490"/>
            <a:ext cx="118872" cy="166421"/>
          </a:xfrm>
          <a:prstGeom prst="roundRect">
            <a:avLst>
              <a:gd name="adj" fmla="val 15000"/>
            </a:avLst>
          </a:prstGeom>
          <a:solidFill>
            <a:schemeClr val="tx1"/>
          </a:solidFill>
          <a:ln/>
        </p:spPr>
      </p:sp>
      <p:sp>
        <p:nvSpPr>
          <p:cNvPr id="14" name="Glyph part 244"/>
          <p:cNvSpPr/>
          <p:nvPr/>
        </p:nvSpPr>
        <p:spPr>
          <a:xfrm>
            <a:off x="3906545" y="2088490"/>
            <a:ext cx="112928" cy="166421"/>
          </a:xfrm>
          <a:prstGeom prst="roundRect">
            <a:avLst>
              <a:gd name="adj" fmla="val 15790"/>
            </a:avLst>
          </a:prstGeom>
          <a:noFill/>
          <a:ln w="28575">
            <a:solidFill>
              <a:schemeClr val="tx1"/>
            </a:solidFill>
            <a:prstDash val="solid"/>
          </a:ln>
        </p:spPr>
      </p:sp>
      <p:sp>
        <p:nvSpPr>
          <p:cNvPr id="15" name="Glyph stroke 245"/>
          <p:cNvSpPr/>
          <p:nvPr/>
        </p:nvSpPr>
        <p:spPr>
          <a:xfrm>
            <a:off x="3841166" y="2136038"/>
            <a:ext cx="65380" cy="0"/>
          </a:xfrm>
          <a:prstGeom prst="line">
            <a:avLst/>
          </a:prstGeom>
          <a:noFill/>
          <a:ln w="28575">
            <a:solidFill>
              <a:schemeClr val="tx1"/>
            </a:solidFill>
            <a:prstDash val="solid"/>
          </a:ln>
        </p:spPr>
      </p:sp>
      <p:sp>
        <p:nvSpPr>
          <p:cNvPr id="16" name="Glyph stroke 246"/>
          <p:cNvSpPr/>
          <p:nvPr/>
        </p:nvSpPr>
        <p:spPr>
          <a:xfrm>
            <a:off x="3841166" y="2207362"/>
            <a:ext cx="65380" cy="0"/>
          </a:xfrm>
          <a:prstGeom prst="line">
            <a:avLst/>
          </a:prstGeom>
          <a:noFill/>
          <a:ln w="28575">
            <a:solidFill>
              <a:schemeClr val="tx1"/>
            </a:solidFill>
            <a:prstDash val="solid"/>
          </a:ln>
        </p:spPr>
      </p:sp>
      <p:sp>
        <p:nvSpPr>
          <p:cNvPr id="17" name="Text 247"/>
          <p:cNvSpPr txBox="1"/>
          <p:nvPr/>
        </p:nvSpPr>
        <p:spPr>
          <a:xfrm>
            <a:off x="3573704" y="2606040"/>
            <a:ext cx="2156384" cy="640080"/>
          </a:xfrm>
          <a:prstGeom prst="rect">
            <a:avLst/>
          </a:prstGeom>
          <a:noFill/>
          <a:ln/>
        </p:spPr>
        <p:txBody>
          <a:bodyPr wrap="square" lIns="0" tIns="0" rIns="0" bIns="0" rtlCol="0" anchor="t"/>
          <a:lstStyle/>
          <a:p>
            <a:pPr indent="0" marL="0">
              <a:buNone/>
            </a:pPr>
            <a:r>
              <a:rPr lang="en-US" sz="1800" b="1" dirty="0">
                <a:solidFill>
                  <a:schemeClr val="tx1"/>
                </a:solidFill>
              </a:rPr>
              <a:t>Adapter</a:t>
            </a:r>
            <a:endParaRPr lang="en-US" sz="1800" dirty="0"/>
          </a:p>
        </p:txBody>
      </p:sp>
      <p:sp>
        <p:nvSpPr>
          <p:cNvPr id="18" name="Text 248"/>
          <p:cNvSpPr txBox="1"/>
          <p:nvPr/>
        </p:nvSpPr>
        <p:spPr>
          <a:xfrm>
            <a:off x="3573704" y="3273552"/>
            <a:ext cx="2156384" cy="868680"/>
          </a:xfrm>
          <a:prstGeom prst="rect">
            <a:avLst/>
          </a:prstGeom>
          <a:noFill/>
          <a:ln/>
        </p:spPr>
        <p:txBody>
          <a:bodyPr wrap="square" lIns="0" tIns="0" rIns="0" bIns="0" rtlCol="0" anchor="t"/>
          <a:lstStyle/>
          <a:p>
            <a:pPr indent="0" marL="0">
              <a:buNone/>
            </a:pPr>
            <a:r>
              <a:rPr lang="en-US" sz="1400" dirty="0">
                <a:solidFill>
                  <a:schemeClr val="tx2"/>
                </a:solidFill>
              </a:rPr>
              <a:t>The email provider sits behind a port, with a transactional outbox.</a:t>
            </a:r>
            <a:endParaRPr lang="en-US" sz="1400" dirty="0"/>
          </a:p>
        </p:txBody>
      </p:sp>
      <p:sp>
        <p:nvSpPr>
          <p:cNvPr id="19" name="Text 249"/>
          <p:cNvSpPr txBox="1"/>
          <p:nvPr/>
        </p:nvSpPr>
        <p:spPr>
          <a:xfrm>
            <a:off x="3573704" y="5486400"/>
            <a:ext cx="2156384" cy="228600"/>
          </a:xfrm>
          <a:prstGeom prst="rect">
            <a:avLst/>
          </a:prstGeom>
          <a:noFill/>
          <a:ln/>
        </p:spPr>
        <p:txBody>
          <a:bodyPr wrap="square" lIns="0" tIns="0" rIns="0" bIns="0" rtlCol="0" anchor="t"/>
          <a:lstStyle/>
          <a:p>
            <a:pPr indent="0" marL="0">
              <a:buNone/>
            </a:pPr>
            <a:r>
              <a:rPr lang="en-US" sz="1000" dirty="0">
                <a:solidFill>
                  <a:srgbClr val="5D6B7E"/>
                </a:solidFill>
                <a:latin typeface="Consolas" pitchFamily="34" charset="0"/>
                <a:ea typeface="Consolas" pitchFamily="34" charset="-122"/>
                <a:cs typeface="Consolas" pitchFamily="34" charset="-120"/>
              </a:rPr>
              <a:t>infrastructure/notification</a:t>
            </a:r>
            <a:endParaRPr lang="en-US" sz="1000" dirty="0"/>
          </a:p>
        </p:txBody>
      </p:sp>
      <p:sp>
        <p:nvSpPr>
          <p:cNvPr id="20" name="Card 250"/>
          <p:cNvSpPr/>
          <p:nvPr/>
        </p:nvSpPr>
        <p:spPr>
          <a:xfrm>
            <a:off x="6233008" y="1645920"/>
            <a:ext cx="2613584" cy="4206240"/>
          </a:xfrm>
          <a:prstGeom prst="roundRect">
            <a:avLst>
              <a:gd name="adj" fmla="val 3499"/>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1" name="Icon diamond 251"/>
          <p:cNvSpPr/>
          <p:nvPr/>
        </p:nvSpPr>
        <p:spPr>
          <a:xfrm>
            <a:off x="6461608" y="1874520"/>
            <a:ext cx="594360" cy="594360"/>
          </a:xfrm>
          <a:prstGeom prst="ellipse">
            <a:avLst/>
          </a:prstGeom>
          <a:solidFill>
            <a:schemeClr val="accent1"/>
          </a:solidFill>
          <a:ln/>
        </p:spPr>
      </p:sp>
      <p:sp>
        <p:nvSpPr>
          <p:cNvPr id="22" name="Glyph part 253"/>
          <p:cNvSpPr/>
          <p:nvPr/>
        </p:nvSpPr>
        <p:spPr>
          <a:xfrm>
            <a:off x="6622085" y="2034997"/>
            <a:ext cx="273406" cy="273406"/>
          </a:xfrm>
          <a:prstGeom prst="diamond">
            <a:avLst/>
          </a:prstGeom>
          <a:solidFill>
            <a:schemeClr val="tx1"/>
          </a:solidFill>
          <a:ln/>
        </p:spPr>
      </p:sp>
      <p:sp>
        <p:nvSpPr>
          <p:cNvPr id="23" name="Text 254"/>
          <p:cNvSpPr txBox="1"/>
          <p:nvPr/>
        </p:nvSpPr>
        <p:spPr>
          <a:xfrm>
            <a:off x="6461608" y="2606040"/>
            <a:ext cx="2156384" cy="640080"/>
          </a:xfrm>
          <a:prstGeom prst="rect">
            <a:avLst/>
          </a:prstGeom>
          <a:noFill/>
          <a:ln/>
        </p:spPr>
        <p:txBody>
          <a:bodyPr wrap="square" lIns="0" tIns="0" rIns="0" bIns="0" rtlCol="0" anchor="t"/>
          <a:lstStyle/>
          <a:p>
            <a:pPr indent="0" marL="0">
              <a:buNone/>
            </a:pPr>
            <a:r>
              <a:rPr lang="en-US" sz="1800" b="1" dirty="0">
                <a:solidFill>
                  <a:schemeClr val="tx1"/>
                </a:solidFill>
              </a:rPr>
              <a:t>Strategy</a:t>
            </a:r>
            <a:endParaRPr lang="en-US" sz="1800" dirty="0"/>
          </a:p>
        </p:txBody>
      </p:sp>
      <p:sp>
        <p:nvSpPr>
          <p:cNvPr id="24" name="Text 255"/>
          <p:cNvSpPr txBox="1"/>
          <p:nvPr/>
        </p:nvSpPr>
        <p:spPr>
          <a:xfrm>
            <a:off x="6461608" y="3273552"/>
            <a:ext cx="2156384" cy="868680"/>
          </a:xfrm>
          <a:prstGeom prst="rect">
            <a:avLst/>
          </a:prstGeom>
          <a:noFill/>
          <a:ln/>
        </p:spPr>
        <p:txBody>
          <a:bodyPr wrap="square" lIns="0" tIns="0" rIns="0" bIns="0" rtlCol="0" anchor="t"/>
          <a:lstStyle/>
          <a:p>
            <a:pPr indent="0" marL="0">
              <a:buNone/>
            </a:pPr>
            <a:r>
              <a:rPr lang="en-US" sz="1400" dirty="0">
                <a:solidFill>
                  <a:schemeClr val="tx2"/>
                </a:solidFill>
              </a:rPr>
              <a:t>The pricing and late fee policies, and the report's share of a hire charge.</a:t>
            </a:r>
            <a:endParaRPr lang="en-US" sz="1400" dirty="0"/>
          </a:p>
        </p:txBody>
      </p:sp>
      <p:sp>
        <p:nvSpPr>
          <p:cNvPr id="25" name="Text 256"/>
          <p:cNvSpPr txBox="1"/>
          <p:nvPr/>
        </p:nvSpPr>
        <p:spPr>
          <a:xfrm>
            <a:off x="6461608" y="5486400"/>
            <a:ext cx="2156384" cy="228600"/>
          </a:xfrm>
          <a:prstGeom prst="rect">
            <a:avLst/>
          </a:prstGeom>
          <a:noFill/>
          <a:ln/>
        </p:spPr>
        <p:txBody>
          <a:bodyPr wrap="square" lIns="0" tIns="0" rIns="0" bIns="0" rtlCol="0" anchor="t"/>
          <a:lstStyle/>
          <a:p>
            <a:pPr indent="0" marL="0">
              <a:buNone/>
            </a:pPr>
            <a:r>
              <a:rPr lang="en-US" sz="1000" dirty="0">
                <a:solidFill>
                  <a:srgbClr val="5D6B7E"/>
                </a:solidFill>
                <a:latin typeface="Consolas" pitchFamily="34" charset="0"/>
                <a:ea typeface="Consolas" pitchFamily="34" charset="-122"/>
                <a:cs typeface="Consolas" pitchFamily="34" charset="-120"/>
              </a:rPr>
              <a:t>domain/policies</a:t>
            </a:r>
            <a:endParaRPr lang="en-US" sz="1000" dirty="0"/>
          </a:p>
        </p:txBody>
      </p:sp>
      <p:sp>
        <p:nvSpPr>
          <p:cNvPr id="26" name="Card 257"/>
          <p:cNvSpPr/>
          <p:nvPr/>
        </p:nvSpPr>
        <p:spPr>
          <a:xfrm>
            <a:off x="9120911" y="1645920"/>
            <a:ext cx="2613584" cy="4206240"/>
          </a:xfrm>
          <a:prstGeom prst="roundRect">
            <a:avLst>
              <a:gd name="adj" fmla="val 3499"/>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7" name="Icon states 258"/>
          <p:cNvSpPr/>
          <p:nvPr/>
        </p:nvSpPr>
        <p:spPr>
          <a:xfrm>
            <a:off x="9349511" y="1874520"/>
            <a:ext cx="594360" cy="594360"/>
          </a:xfrm>
          <a:prstGeom prst="ellipse">
            <a:avLst/>
          </a:prstGeom>
          <a:solidFill>
            <a:schemeClr val="accent1"/>
          </a:solidFill>
          <a:ln/>
        </p:spPr>
      </p:sp>
      <p:sp>
        <p:nvSpPr>
          <p:cNvPr id="28" name="Glyph stroke 260"/>
          <p:cNvSpPr/>
          <p:nvPr/>
        </p:nvSpPr>
        <p:spPr>
          <a:xfrm flipH="1">
            <a:off x="9542678" y="2067687"/>
            <a:ext cx="104013" cy="208026"/>
          </a:xfrm>
          <a:prstGeom prst="line">
            <a:avLst/>
          </a:prstGeom>
          <a:noFill/>
          <a:ln w="25400">
            <a:solidFill>
              <a:schemeClr val="tx1"/>
            </a:solidFill>
            <a:prstDash val="solid"/>
          </a:ln>
        </p:spPr>
      </p:sp>
      <p:sp>
        <p:nvSpPr>
          <p:cNvPr id="29" name="Glyph stroke 261"/>
          <p:cNvSpPr/>
          <p:nvPr/>
        </p:nvSpPr>
        <p:spPr>
          <a:xfrm>
            <a:off x="9542678" y="2275713"/>
            <a:ext cx="208026" cy="0"/>
          </a:xfrm>
          <a:prstGeom prst="line">
            <a:avLst/>
          </a:prstGeom>
          <a:noFill/>
          <a:ln w="25400">
            <a:solidFill>
              <a:schemeClr val="tx1"/>
            </a:solidFill>
            <a:prstDash val="solid"/>
          </a:ln>
        </p:spPr>
      </p:sp>
      <p:sp>
        <p:nvSpPr>
          <p:cNvPr id="30" name="Glyph stroke 262"/>
          <p:cNvSpPr/>
          <p:nvPr/>
        </p:nvSpPr>
        <p:spPr>
          <a:xfrm flipH="1" flipV="1">
            <a:off x="9646691" y="2067687"/>
            <a:ext cx="104013" cy="208026"/>
          </a:xfrm>
          <a:prstGeom prst="line">
            <a:avLst/>
          </a:prstGeom>
          <a:noFill/>
          <a:ln w="25400">
            <a:solidFill>
              <a:schemeClr val="tx1"/>
            </a:solidFill>
            <a:prstDash val="solid"/>
          </a:ln>
        </p:spPr>
      </p:sp>
      <p:sp>
        <p:nvSpPr>
          <p:cNvPr id="31" name="Glyph part 263"/>
          <p:cNvSpPr/>
          <p:nvPr/>
        </p:nvSpPr>
        <p:spPr>
          <a:xfrm>
            <a:off x="9602114" y="2023110"/>
            <a:ext cx="89154" cy="89154"/>
          </a:xfrm>
          <a:prstGeom prst="ellipse">
            <a:avLst/>
          </a:prstGeom>
          <a:solidFill>
            <a:schemeClr val="tx1"/>
          </a:solidFill>
          <a:ln/>
        </p:spPr>
      </p:sp>
      <p:sp>
        <p:nvSpPr>
          <p:cNvPr id="32" name="Glyph part 264"/>
          <p:cNvSpPr/>
          <p:nvPr/>
        </p:nvSpPr>
        <p:spPr>
          <a:xfrm>
            <a:off x="9498101" y="2231136"/>
            <a:ext cx="89154" cy="89154"/>
          </a:xfrm>
          <a:prstGeom prst="ellipse">
            <a:avLst/>
          </a:prstGeom>
          <a:solidFill>
            <a:schemeClr val="tx1"/>
          </a:solidFill>
          <a:ln/>
        </p:spPr>
      </p:sp>
      <p:sp>
        <p:nvSpPr>
          <p:cNvPr id="33" name="Glyph part 265"/>
          <p:cNvSpPr/>
          <p:nvPr/>
        </p:nvSpPr>
        <p:spPr>
          <a:xfrm>
            <a:off x="9706127" y="2231136"/>
            <a:ext cx="89154" cy="89154"/>
          </a:xfrm>
          <a:prstGeom prst="ellipse">
            <a:avLst/>
          </a:prstGeom>
          <a:solidFill>
            <a:schemeClr val="tx1"/>
          </a:solidFill>
          <a:ln/>
        </p:spPr>
      </p:sp>
      <p:sp>
        <p:nvSpPr>
          <p:cNvPr id="34" name="Text 266"/>
          <p:cNvSpPr txBox="1"/>
          <p:nvPr/>
        </p:nvSpPr>
        <p:spPr>
          <a:xfrm>
            <a:off x="9349511" y="2606040"/>
            <a:ext cx="2156384" cy="640080"/>
          </a:xfrm>
          <a:prstGeom prst="rect">
            <a:avLst/>
          </a:prstGeom>
          <a:noFill/>
          <a:ln/>
        </p:spPr>
        <p:txBody>
          <a:bodyPr wrap="square" lIns="0" tIns="0" rIns="0" bIns="0" rtlCol="0" anchor="t"/>
          <a:lstStyle/>
          <a:p>
            <a:pPr indent="0" marL="0">
              <a:buNone/>
            </a:pPr>
            <a:r>
              <a:rPr lang="en-US" sz="1800" b="1" dirty="0">
                <a:solidFill>
                  <a:schemeClr val="tx1"/>
                </a:solidFill>
              </a:rPr>
              <a:t>State</a:t>
            </a:r>
            <a:endParaRPr lang="en-US" sz="1800" dirty="0"/>
          </a:p>
        </p:txBody>
      </p:sp>
      <p:sp>
        <p:nvSpPr>
          <p:cNvPr id="35" name="Text 267"/>
          <p:cNvSpPr txBox="1"/>
          <p:nvPr/>
        </p:nvSpPr>
        <p:spPr>
          <a:xfrm>
            <a:off x="9349511" y="3273552"/>
            <a:ext cx="2156384" cy="868680"/>
          </a:xfrm>
          <a:prstGeom prst="rect">
            <a:avLst/>
          </a:prstGeom>
          <a:noFill/>
          <a:ln/>
        </p:spPr>
        <p:txBody>
          <a:bodyPr wrap="square" lIns="0" tIns="0" rIns="0" bIns="0" rtlCol="0" anchor="t"/>
          <a:lstStyle/>
          <a:p>
            <a:pPr indent="0" marL="0">
              <a:buNone/>
            </a:pPr>
            <a:r>
              <a:rPr lang="en-US" sz="1400" dirty="0">
                <a:solidFill>
                  <a:schemeClr val="tx2"/>
                </a:solidFill>
              </a:rPr>
              <a:t>Eight reservation states. A move is refused unless the state allows it.</a:t>
            </a:r>
            <a:endParaRPr lang="en-US" sz="1400" dirty="0"/>
          </a:p>
        </p:txBody>
      </p:sp>
      <p:sp>
        <p:nvSpPr>
          <p:cNvPr id="36" name="Text 268"/>
          <p:cNvSpPr txBox="1"/>
          <p:nvPr/>
        </p:nvSpPr>
        <p:spPr>
          <a:xfrm>
            <a:off x="9349511" y="5486400"/>
            <a:ext cx="2156384" cy="228600"/>
          </a:xfrm>
          <a:prstGeom prst="rect">
            <a:avLst/>
          </a:prstGeom>
          <a:noFill/>
          <a:ln/>
        </p:spPr>
        <p:txBody>
          <a:bodyPr wrap="square" lIns="0" tIns="0" rIns="0" bIns="0" rtlCol="0" anchor="t"/>
          <a:lstStyle/>
          <a:p>
            <a:pPr indent="0" marL="0">
              <a:buNone/>
            </a:pPr>
            <a:r>
              <a:rPr lang="en-US" sz="1000" dirty="0">
                <a:solidFill>
                  <a:srgbClr val="5D6B7E"/>
                </a:solidFill>
                <a:latin typeface="Consolas" pitchFamily="34" charset="0"/>
                <a:ea typeface="Consolas" pitchFamily="34" charset="-122"/>
                <a:cs typeface="Consolas" pitchFamily="34" charset="-120"/>
              </a:rPr>
              <a:t>domain/states</a:t>
            </a:r>
            <a:endParaRPr lang="en-US" sz="1000" dirty="0"/>
          </a:p>
        </p:txBody>
      </p:sp>
      <p:sp>
        <p:nvSpPr>
          <p:cNvPr id="37" name="Card 269"/>
          <p:cNvSpPr/>
          <p:nvPr/>
        </p:nvSpPr>
        <p:spPr>
          <a:xfrm>
            <a:off x="685800" y="4187952"/>
            <a:ext cx="2156384" cy="1097280"/>
          </a:xfrm>
          <a:prstGeom prst="roundRect">
            <a:avLst>
              <a:gd name="adj" fmla="val 6667"/>
            </a:avLst>
          </a:prstGeom>
          <a:noFill/>
          <a:ln w="9525">
            <a:solidFill>
              <a:schemeClr val="accent2"/>
            </a:solidFill>
            <a:prstDash val="dash"/>
          </a:ln>
        </p:spPr>
      </p:sp>
      <p:sp>
        <p:nvSpPr>
          <p:cNvPr id="38" name="Chip 270"/>
          <p:cNvSpPr/>
          <p:nvPr/>
        </p:nvSpPr>
        <p:spPr>
          <a:xfrm>
            <a:off x="795528" y="4297680"/>
            <a:ext cx="1936928" cy="246888"/>
          </a:xfrm>
          <a:prstGeom prst="roundRect">
            <a:avLst>
              <a:gd name="adj" fmla="val 29630"/>
            </a:avLst>
          </a:prstGeom>
          <a:solidFill>
            <a:srgbClr val="F1F2F4"/>
          </a:solidFill>
          <a:ln/>
        </p:spPr>
        <p:txBody>
          <a:bodyPr wrap="square" lIns="25400" tIns="25400" rIns="25400" bIns="25400" rtlCol="0" anchor="ctr"/>
          <a:lstStyle/>
          <a:p>
            <a:pPr algn="ctr" indent="0" marL="0">
              <a:buNone/>
            </a:pPr>
            <a:r>
              <a:rPr lang="en-US" sz="1100" dirty="0">
                <a:solidFill>
                  <a:schemeClr val="tx1"/>
                </a:solidFill>
              </a:rPr>
              <a:t>Reservation held</a:t>
            </a:r>
            <a:endParaRPr lang="en-US" sz="1100" dirty="0"/>
          </a:p>
        </p:txBody>
      </p:sp>
      <p:sp>
        <p:nvSpPr>
          <p:cNvPr id="39" name="Chip 271"/>
          <p:cNvSpPr/>
          <p:nvPr/>
        </p:nvSpPr>
        <p:spPr>
          <a:xfrm>
            <a:off x="795528" y="4599432"/>
            <a:ext cx="1936928" cy="246888"/>
          </a:xfrm>
          <a:prstGeom prst="roundRect">
            <a:avLst>
              <a:gd name="adj" fmla="val 29630"/>
            </a:avLst>
          </a:prstGeom>
          <a:solidFill>
            <a:srgbClr val="F1F2F4"/>
          </a:solidFill>
          <a:ln/>
        </p:spPr>
        <p:txBody>
          <a:bodyPr wrap="square" lIns="25400" tIns="25400" rIns="25400" bIns="25400" rtlCol="0" anchor="ctr"/>
          <a:lstStyle/>
          <a:p>
            <a:pPr algn="ctr" indent="0" marL="0">
              <a:buNone/>
            </a:pPr>
            <a:r>
              <a:rPr lang="en-US" sz="1100" dirty="0">
                <a:solidFill>
                  <a:schemeClr val="tx1"/>
                </a:solidFill>
              </a:rPr>
              <a:t>Units allocated</a:t>
            </a:r>
            <a:endParaRPr lang="en-US" sz="1100" dirty="0"/>
          </a:p>
        </p:txBody>
      </p:sp>
      <p:sp>
        <p:nvSpPr>
          <p:cNvPr id="40" name="Chip 272"/>
          <p:cNvSpPr/>
          <p:nvPr/>
        </p:nvSpPr>
        <p:spPr>
          <a:xfrm>
            <a:off x="795528" y="4901184"/>
            <a:ext cx="1936928" cy="246888"/>
          </a:xfrm>
          <a:prstGeom prst="roundRect">
            <a:avLst>
              <a:gd name="adj" fmla="val 29630"/>
            </a:avLst>
          </a:prstGeom>
          <a:solidFill>
            <a:srgbClr val="F1F2F4"/>
          </a:solidFill>
          <a:ln/>
        </p:spPr>
        <p:txBody>
          <a:bodyPr wrap="square" lIns="25400" tIns="25400" rIns="25400" bIns="25400" rtlCol="0" anchor="ctr"/>
          <a:lstStyle/>
          <a:p>
            <a:pPr algn="ctr" indent="0" marL="0">
              <a:buNone/>
            </a:pPr>
            <a:r>
              <a:rPr lang="en-US" sz="1100" dirty="0">
                <a:solidFill>
                  <a:schemeClr val="tx1"/>
                </a:solidFill>
              </a:rPr>
              <a:t>Audit event written</a:t>
            </a:r>
            <a:endParaRPr lang="en-US" sz="1100" dirty="0"/>
          </a:p>
        </p:txBody>
      </p:sp>
      <p:sp>
        <p:nvSpPr>
          <p:cNvPr id="41" name="Chip 273"/>
          <p:cNvSpPr/>
          <p:nvPr/>
        </p:nvSpPr>
        <p:spPr>
          <a:xfrm>
            <a:off x="3573704" y="4233672"/>
            <a:ext cx="2156384" cy="310896"/>
          </a:xfrm>
          <a:prstGeom prst="roundRect">
            <a:avLst>
              <a:gd name="adj" fmla="val 23529"/>
            </a:avLst>
          </a:prstGeom>
          <a:solidFill>
            <a:schemeClr val="bg1"/>
          </a:solidFill>
          <a:ln w="12700">
            <a:solidFill>
              <a:schemeClr val="tx1"/>
            </a:solidFill>
            <a:prstDash val="dash"/>
          </a:ln>
        </p:spPr>
        <p:txBody>
          <a:bodyPr wrap="square" lIns="25400" tIns="25400" rIns="25400" bIns="2540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NotificationGateway</a:t>
            </a:r>
            <a:endParaRPr lang="en-US" sz="1100" dirty="0"/>
          </a:p>
        </p:txBody>
      </p:sp>
      <p:sp>
        <p:nvSpPr>
          <p:cNvPr id="42" name="Connector 274"/>
          <p:cNvSpPr/>
          <p:nvPr/>
        </p:nvSpPr>
        <p:spPr>
          <a:xfrm>
            <a:off x="4651896" y="4581144"/>
            <a:ext cx="0" cy="310896"/>
          </a:xfrm>
          <a:prstGeom prst="line">
            <a:avLst/>
          </a:prstGeom>
          <a:noFill/>
          <a:ln w="22225">
            <a:solidFill>
              <a:schemeClr val="tx2"/>
            </a:solidFill>
            <a:prstDash val="solid"/>
            <a:tailEnd type="triangle"/>
          </a:ln>
        </p:spPr>
      </p:sp>
      <p:sp>
        <p:nvSpPr>
          <p:cNvPr id="43" name="Chip 275"/>
          <p:cNvSpPr/>
          <p:nvPr/>
        </p:nvSpPr>
        <p:spPr>
          <a:xfrm>
            <a:off x="3573704" y="4928616"/>
            <a:ext cx="2156384" cy="310896"/>
          </a:xfrm>
          <a:prstGeom prst="roundRect">
            <a:avLst>
              <a:gd name="adj" fmla="val 23529"/>
            </a:avLst>
          </a:prstGeom>
          <a:solidFill>
            <a:schemeClr val="tx1"/>
          </a:solidFill>
          <a:ln/>
        </p:spPr>
        <p:txBody>
          <a:bodyPr wrap="square" lIns="25400" tIns="25400" rIns="25400" bIns="2540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ResendEmailAdapter</a:t>
            </a:r>
            <a:endParaRPr lang="en-US" sz="1100" dirty="0"/>
          </a:p>
        </p:txBody>
      </p:sp>
      <p:sp>
        <p:nvSpPr>
          <p:cNvPr id="44" name="Chip 276"/>
          <p:cNvSpPr/>
          <p:nvPr/>
        </p:nvSpPr>
        <p:spPr>
          <a:xfrm>
            <a:off x="6461608" y="4233672"/>
            <a:ext cx="2156384" cy="310896"/>
          </a:xfrm>
          <a:prstGeom prst="roundRect">
            <a:avLst>
              <a:gd name="adj" fmla="val 23529"/>
            </a:avLst>
          </a:prstGeom>
          <a:solidFill>
            <a:schemeClr val="accent1"/>
          </a:solidFill>
          <a:ln/>
        </p:spPr>
        <p:txBody>
          <a:bodyPr wrap="square" lIns="25400" tIns="25400" rIns="25400" bIns="2540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PricingPolicy</a:t>
            </a:r>
            <a:endParaRPr lang="en-US" sz="1100" dirty="0"/>
          </a:p>
        </p:txBody>
      </p:sp>
      <p:sp>
        <p:nvSpPr>
          <p:cNvPr id="45" name="Chip 277"/>
          <p:cNvSpPr/>
          <p:nvPr/>
        </p:nvSpPr>
        <p:spPr>
          <a:xfrm>
            <a:off x="6461608" y="4617720"/>
            <a:ext cx="2156384" cy="310896"/>
          </a:xfrm>
          <a:prstGeom prst="roundRect">
            <a:avLst>
              <a:gd name="adj" fmla="val 23529"/>
            </a:avLst>
          </a:prstGeom>
          <a:solidFill>
            <a:schemeClr val="accent1"/>
          </a:solidFill>
          <a:ln/>
        </p:spPr>
        <p:txBody>
          <a:bodyPr wrap="square" lIns="25400" tIns="25400" rIns="25400" bIns="2540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LateFeePolicy</a:t>
            </a:r>
            <a:endParaRPr lang="en-US" sz="1100" dirty="0"/>
          </a:p>
        </p:txBody>
      </p:sp>
      <p:sp>
        <p:nvSpPr>
          <p:cNvPr id="46" name="Chip 278"/>
          <p:cNvSpPr/>
          <p:nvPr/>
        </p:nvSpPr>
        <p:spPr>
          <a:xfrm>
            <a:off x="6461608" y="5001768"/>
            <a:ext cx="2156384" cy="310896"/>
          </a:xfrm>
          <a:prstGeom prst="roundRect">
            <a:avLst>
              <a:gd name="adj" fmla="val 23529"/>
            </a:avLst>
          </a:prstGeom>
          <a:solidFill>
            <a:schemeClr val="accent1"/>
          </a:solidFill>
          <a:ln/>
        </p:spPr>
        <p:txBody>
          <a:bodyPr wrap="square" lIns="25400" tIns="25400" rIns="25400" bIns="2540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shares_of_hire_charge</a:t>
            </a:r>
            <a:endParaRPr lang="en-US" sz="1100" dirty="0"/>
          </a:p>
        </p:txBody>
      </p:sp>
      <p:sp>
        <p:nvSpPr>
          <p:cNvPr id="47" name="Chip 279"/>
          <p:cNvSpPr/>
          <p:nvPr/>
        </p:nvSpPr>
        <p:spPr>
          <a:xfrm>
            <a:off x="9349511" y="4233672"/>
            <a:ext cx="513893" cy="265176"/>
          </a:xfrm>
          <a:prstGeom prst="roundRect">
            <a:avLst>
              <a:gd name="adj" fmla="val 27586"/>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DRAFT</a:t>
            </a:r>
            <a:endParaRPr lang="en-US" sz="1000" dirty="0"/>
          </a:p>
        </p:txBody>
      </p:sp>
      <p:sp>
        <p:nvSpPr>
          <p:cNvPr id="48" name="Chip 280"/>
          <p:cNvSpPr/>
          <p:nvPr/>
        </p:nvSpPr>
        <p:spPr>
          <a:xfrm>
            <a:off x="9927412" y="4233672"/>
            <a:ext cx="444033" cy="265176"/>
          </a:xfrm>
          <a:prstGeom prst="roundRect">
            <a:avLst>
              <a:gd name="adj" fmla="val 27586"/>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HELD</a:t>
            </a:r>
            <a:endParaRPr lang="en-US" sz="1000" dirty="0"/>
          </a:p>
        </p:txBody>
      </p:sp>
      <p:sp>
        <p:nvSpPr>
          <p:cNvPr id="49" name="Chip 281"/>
          <p:cNvSpPr/>
          <p:nvPr/>
        </p:nvSpPr>
        <p:spPr>
          <a:xfrm>
            <a:off x="10435453" y="4233672"/>
            <a:ext cx="793333" cy="265176"/>
          </a:xfrm>
          <a:prstGeom prst="roundRect">
            <a:avLst>
              <a:gd name="adj" fmla="val 27586"/>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CONFIRMED</a:t>
            </a:r>
            <a:endParaRPr lang="en-US" sz="1000" dirty="0"/>
          </a:p>
        </p:txBody>
      </p:sp>
      <p:sp>
        <p:nvSpPr>
          <p:cNvPr id="50" name="Chip 282"/>
          <p:cNvSpPr/>
          <p:nvPr/>
        </p:nvSpPr>
        <p:spPr>
          <a:xfrm>
            <a:off x="9349511" y="4581144"/>
            <a:ext cx="793333" cy="265176"/>
          </a:xfrm>
          <a:prstGeom prst="roundRect">
            <a:avLst>
              <a:gd name="adj" fmla="val 27586"/>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COLLECTED</a:t>
            </a:r>
            <a:endParaRPr lang="en-US" sz="1000" dirty="0"/>
          </a:p>
        </p:txBody>
      </p:sp>
      <p:sp>
        <p:nvSpPr>
          <p:cNvPr id="51" name="Chip 283"/>
          <p:cNvSpPr/>
          <p:nvPr/>
        </p:nvSpPr>
        <p:spPr>
          <a:xfrm>
            <a:off x="10206853" y="4581144"/>
            <a:ext cx="723473" cy="265176"/>
          </a:xfrm>
          <a:prstGeom prst="roundRect">
            <a:avLst>
              <a:gd name="adj" fmla="val 27586"/>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RETURNED</a:t>
            </a:r>
            <a:endParaRPr lang="en-US" sz="1000" dirty="0"/>
          </a:p>
        </p:txBody>
      </p:sp>
      <p:sp>
        <p:nvSpPr>
          <p:cNvPr id="52" name="Chip 284"/>
          <p:cNvSpPr/>
          <p:nvPr/>
        </p:nvSpPr>
        <p:spPr>
          <a:xfrm>
            <a:off x="9349511" y="4928616"/>
            <a:ext cx="793333" cy="265176"/>
          </a:xfrm>
          <a:prstGeom prst="roundRect">
            <a:avLst>
              <a:gd name="adj" fmla="val 27586"/>
            </a:avLst>
          </a:prstGeom>
          <a:solidFill>
            <a:schemeClr val="bg1"/>
          </a:solidFill>
          <a:ln w="12700">
            <a:solidFill>
              <a:schemeClr val="accent2"/>
            </a:solidFill>
            <a:prstDash val="solid"/>
          </a:ln>
        </p:spPr>
        <p:txBody>
          <a:bodyPr wrap="square" lIns="0" tIns="0" rIns="0" bIns="0" rtlCol="0" anchor="ctr"/>
          <a:lstStyle/>
          <a:p>
            <a:pPr algn="ctr" indent="0" marL="0">
              <a:buNone/>
            </a:pPr>
            <a:r>
              <a:rPr lang="en-US" sz="1000" dirty="0">
                <a:solidFill>
                  <a:schemeClr val="tx2"/>
                </a:solidFill>
                <a:latin typeface="Consolas" pitchFamily="34" charset="0"/>
                <a:ea typeface="Consolas" pitchFamily="34" charset="-122"/>
                <a:cs typeface="Consolas" pitchFamily="34" charset="-120"/>
              </a:rPr>
              <a:t>CANCELLED</a:t>
            </a:r>
            <a:endParaRPr lang="en-US" sz="1000" dirty="0"/>
          </a:p>
        </p:txBody>
      </p:sp>
      <p:sp>
        <p:nvSpPr>
          <p:cNvPr id="53" name="Chip 285"/>
          <p:cNvSpPr/>
          <p:nvPr/>
        </p:nvSpPr>
        <p:spPr>
          <a:xfrm>
            <a:off x="10206853" y="4928616"/>
            <a:ext cx="653613" cy="265176"/>
          </a:xfrm>
          <a:prstGeom prst="roundRect">
            <a:avLst>
              <a:gd name="adj" fmla="val 27586"/>
            </a:avLst>
          </a:prstGeom>
          <a:solidFill>
            <a:schemeClr val="bg1"/>
          </a:solidFill>
          <a:ln w="12700">
            <a:solidFill>
              <a:schemeClr val="accent2"/>
            </a:solidFill>
            <a:prstDash val="solid"/>
          </a:ln>
        </p:spPr>
        <p:txBody>
          <a:bodyPr wrap="square" lIns="0" tIns="0" rIns="0" bIns="0" rtlCol="0" anchor="ctr"/>
          <a:lstStyle/>
          <a:p>
            <a:pPr algn="ctr" indent="0" marL="0">
              <a:buNone/>
            </a:pPr>
            <a:r>
              <a:rPr lang="en-US" sz="1000" dirty="0">
                <a:solidFill>
                  <a:schemeClr val="tx2"/>
                </a:solidFill>
                <a:latin typeface="Consolas" pitchFamily="34" charset="0"/>
                <a:ea typeface="Consolas" pitchFamily="34" charset="-122"/>
                <a:cs typeface="Consolas" pitchFamily="34" charset="-120"/>
              </a:rPr>
              <a:t>EXPIRED</a:t>
            </a:r>
            <a:endParaRPr lang="en-US" sz="1000" dirty="0"/>
          </a:p>
        </p:txBody>
      </p:sp>
      <p:sp>
        <p:nvSpPr>
          <p:cNvPr id="54" name="Chip 286"/>
          <p:cNvSpPr/>
          <p:nvPr/>
        </p:nvSpPr>
        <p:spPr>
          <a:xfrm>
            <a:off x="10924474" y="4928616"/>
            <a:ext cx="653613" cy="265176"/>
          </a:xfrm>
          <a:prstGeom prst="roundRect">
            <a:avLst>
              <a:gd name="adj" fmla="val 27586"/>
            </a:avLst>
          </a:prstGeom>
          <a:solidFill>
            <a:schemeClr val="bg1"/>
          </a:solidFill>
          <a:ln w="12700">
            <a:solidFill>
              <a:schemeClr val="accent2"/>
            </a:solidFill>
            <a:prstDash val="solid"/>
          </a:ln>
        </p:spPr>
        <p:txBody>
          <a:bodyPr wrap="square" lIns="0" tIns="0" rIns="0" bIns="0" rtlCol="0" anchor="ctr"/>
          <a:lstStyle/>
          <a:p>
            <a:pPr algn="ctr" indent="0" marL="0">
              <a:buNone/>
            </a:pPr>
            <a:r>
              <a:rPr lang="en-US" sz="1000" dirty="0">
                <a:solidFill>
                  <a:schemeClr val="tx2"/>
                </a:solidFill>
                <a:latin typeface="Consolas" pitchFamily="34" charset="0"/>
                <a:ea typeface="Consolas" pitchFamily="34" charset="-122"/>
                <a:cs typeface="Consolas" pitchFamily="34" charset="-120"/>
              </a:rPr>
              <a:t>NO_SHOW</a:t>
            </a:r>
            <a:endParaRPr lang="en-US" sz="10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2  |  HOW IT IS BUILT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The database</a:t>
            </a:r>
            <a:endParaRPr lang="en-US" sz="3600" dirty="0"/>
          </a:p>
        </p:txBody>
      </p:sp>
      <p:sp>
        <p:nvSpPr>
          <p:cNvPr id="5" name="Card 287"/>
          <p:cNvSpPr/>
          <p:nvPr/>
        </p:nvSpPr>
        <p:spPr>
          <a:xfrm>
            <a:off x="457200" y="1645920"/>
            <a:ext cx="2560320" cy="1417320"/>
          </a:xfrm>
          <a:prstGeom prst="roundRect">
            <a:avLst>
              <a:gd name="adj" fmla="val 64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Text 288"/>
          <p:cNvSpPr txBox="1"/>
          <p:nvPr/>
        </p:nvSpPr>
        <p:spPr>
          <a:xfrm>
            <a:off x="685800" y="1737360"/>
            <a:ext cx="2103120" cy="713232"/>
          </a:xfrm>
          <a:prstGeom prst="rect">
            <a:avLst/>
          </a:prstGeom>
          <a:noFill/>
          <a:ln/>
        </p:spPr>
        <p:txBody>
          <a:bodyPr wrap="square" lIns="0" tIns="0" rIns="0" bIns="0" rtlCol="0" anchor="b"/>
          <a:lstStyle/>
          <a:p>
            <a:pPr indent="0" marL="0">
              <a:buNone/>
            </a:pPr>
            <a:r>
              <a:rPr lang="en-US" sz="4400" b="1" dirty="0">
                <a:solidFill>
                  <a:schemeClr val="tx1"/>
                </a:solidFill>
              </a:rPr>
              <a:t>17</a:t>
            </a:r>
            <a:endParaRPr lang="en-US" sz="4400" dirty="0"/>
          </a:p>
        </p:txBody>
      </p:sp>
      <p:sp>
        <p:nvSpPr>
          <p:cNvPr id="7" name="Text 289"/>
          <p:cNvSpPr txBox="1"/>
          <p:nvPr/>
        </p:nvSpPr>
        <p:spPr>
          <a:xfrm>
            <a:off x="685800" y="2505456"/>
            <a:ext cx="2103120" cy="365760"/>
          </a:xfrm>
          <a:prstGeom prst="rect">
            <a:avLst/>
          </a:prstGeom>
          <a:noFill/>
          <a:ln/>
        </p:spPr>
        <p:txBody>
          <a:bodyPr wrap="square" lIns="0" tIns="0" rIns="0" bIns="0" rtlCol="0" anchor="t"/>
          <a:lstStyle/>
          <a:p>
            <a:pPr indent="0" marL="0">
              <a:buNone/>
            </a:pPr>
            <a:r>
              <a:rPr lang="en-US" sz="1400" dirty="0">
                <a:solidFill>
                  <a:schemeClr val="tx2"/>
                </a:solidFill>
              </a:rPr>
              <a:t>tables with singular names</a:t>
            </a:r>
            <a:endParaRPr lang="en-US" sz="1400" dirty="0"/>
          </a:p>
        </p:txBody>
      </p:sp>
      <p:sp>
        <p:nvSpPr>
          <p:cNvPr id="8" name="Card 290"/>
          <p:cNvSpPr/>
          <p:nvPr/>
        </p:nvSpPr>
        <p:spPr>
          <a:xfrm>
            <a:off x="3291840" y="1645920"/>
            <a:ext cx="2560320" cy="1417320"/>
          </a:xfrm>
          <a:prstGeom prst="roundRect">
            <a:avLst>
              <a:gd name="adj" fmla="val 64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9" name="Text 291"/>
          <p:cNvSpPr txBox="1"/>
          <p:nvPr/>
        </p:nvSpPr>
        <p:spPr>
          <a:xfrm>
            <a:off x="3520440" y="1737360"/>
            <a:ext cx="2103120" cy="713232"/>
          </a:xfrm>
          <a:prstGeom prst="rect">
            <a:avLst/>
          </a:prstGeom>
          <a:noFill/>
          <a:ln/>
        </p:spPr>
        <p:txBody>
          <a:bodyPr wrap="square" lIns="0" tIns="0" rIns="0" bIns="0" rtlCol="0" anchor="b"/>
          <a:lstStyle/>
          <a:p>
            <a:pPr indent="0" marL="0">
              <a:buNone/>
            </a:pPr>
            <a:r>
              <a:rPr lang="en-US" sz="4400" b="1" dirty="0">
                <a:solidFill>
                  <a:schemeClr val="tx1"/>
                </a:solidFill>
              </a:rPr>
              <a:t>12</a:t>
            </a:r>
            <a:endParaRPr lang="en-US" sz="4400" dirty="0"/>
          </a:p>
        </p:txBody>
      </p:sp>
      <p:sp>
        <p:nvSpPr>
          <p:cNvPr id="10" name="Text 292"/>
          <p:cNvSpPr txBox="1"/>
          <p:nvPr/>
        </p:nvSpPr>
        <p:spPr>
          <a:xfrm>
            <a:off x="3520440" y="2505456"/>
            <a:ext cx="2103120" cy="365760"/>
          </a:xfrm>
          <a:prstGeom prst="rect">
            <a:avLst/>
          </a:prstGeom>
          <a:noFill/>
          <a:ln/>
        </p:spPr>
        <p:txBody>
          <a:bodyPr wrap="square" lIns="0" tIns="0" rIns="0" bIns="0" rtlCol="0" anchor="t"/>
          <a:lstStyle/>
          <a:p>
            <a:pPr indent="0" marL="0">
              <a:buNone/>
            </a:pPr>
            <a:r>
              <a:rPr lang="en-US" sz="1400" dirty="0">
                <a:solidFill>
                  <a:schemeClr val="tx2"/>
                </a:solidFill>
              </a:rPr>
              <a:t>hand written migrations</a:t>
            </a:r>
            <a:endParaRPr lang="en-US" sz="1400" dirty="0"/>
          </a:p>
        </p:txBody>
      </p:sp>
      <p:sp>
        <p:nvSpPr>
          <p:cNvPr id="11" name="Card 293"/>
          <p:cNvSpPr/>
          <p:nvPr/>
        </p:nvSpPr>
        <p:spPr>
          <a:xfrm>
            <a:off x="457200" y="3337560"/>
            <a:ext cx="5394960" cy="1120140"/>
          </a:xfrm>
          <a:prstGeom prst="roundRect">
            <a:avLst>
              <a:gd name="adj" fmla="val 8163"/>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2" name="Icon check 294"/>
          <p:cNvSpPr/>
          <p:nvPr/>
        </p:nvSpPr>
        <p:spPr>
          <a:xfrm>
            <a:off x="731520" y="3614166"/>
            <a:ext cx="566928" cy="566928"/>
          </a:xfrm>
          <a:prstGeom prst="ellipse">
            <a:avLst/>
          </a:prstGeom>
          <a:solidFill>
            <a:schemeClr val="accent1"/>
          </a:solidFill>
          <a:ln/>
        </p:spPr>
      </p:sp>
      <p:sp>
        <p:nvSpPr>
          <p:cNvPr id="13" name="Glyph stroke 296"/>
          <p:cNvSpPr/>
          <p:nvPr/>
        </p:nvSpPr>
        <p:spPr>
          <a:xfrm>
            <a:off x="890260" y="3903299"/>
            <a:ext cx="90708" cy="90708"/>
          </a:xfrm>
          <a:prstGeom prst="line">
            <a:avLst/>
          </a:prstGeom>
          <a:noFill/>
          <a:ln w="44450">
            <a:solidFill>
              <a:schemeClr val="tx1"/>
            </a:solidFill>
            <a:prstDash val="solid"/>
          </a:ln>
        </p:spPr>
      </p:sp>
      <p:sp>
        <p:nvSpPr>
          <p:cNvPr id="14" name="Glyph stroke 297"/>
          <p:cNvSpPr/>
          <p:nvPr/>
        </p:nvSpPr>
        <p:spPr>
          <a:xfrm flipV="1">
            <a:off x="980968" y="3806922"/>
            <a:ext cx="164409" cy="187086"/>
          </a:xfrm>
          <a:prstGeom prst="line">
            <a:avLst/>
          </a:prstGeom>
          <a:noFill/>
          <a:ln w="44450">
            <a:solidFill>
              <a:schemeClr val="tx1"/>
            </a:solidFill>
            <a:prstDash val="solid"/>
          </a:ln>
        </p:spPr>
      </p:sp>
      <p:sp>
        <p:nvSpPr>
          <p:cNvPr id="15" name="Text 298"/>
          <p:cNvSpPr txBox="1"/>
          <p:nvPr/>
        </p:nvSpPr>
        <p:spPr>
          <a:xfrm>
            <a:off x="1527048" y="3429000"/>
            <a:ext cx="4050792" cy="937260"/>
          </a:xfrm>
          <a:prstGeom prst="rect">
            <a:avLst/>
          </a:prstGeom>
          <a:noFill/>
          <a:ln/>
        </p:spPr>
        <p:txBody>
          <a:bodyPr wrap="square" lIns="0" tIns="0" rIns="0" bIns="0" rtlCol="0" anchor="ctr"/>
          <a:lstStyle/>
          <a:p>
            <a:pPr indent="0" marL="0">
              <a:buNone/>
            </a:pPr>
            <a:r>
              <a:rPr lang="en-US" sz="1800" b="1" dirty="0">
                <a:solidFill>
                  <a:schemeClr val="tx1"/>
                </a:solidFill>
              </a:rPr>
              <a:t>Indexes proved in use</a:t>
            </a:r>
            <a:endParaRPr lang="en-US" sz="1400" dirty="0"/>
          </a:p>
          <a:p>
            <a:pPr indent="0" marL="0">
              <a:spcBef>
                <a:spcPts val="300"/>
              </a:spcBef>
              <a:buNone/>
            </a:pPr>
            <a:r>
              <a:rPr lang="en-US" sz="1400" dirty="0">
                <a:solidFill>
                  <a:schemeClr val="tx2"/>
                </a:solidFill>
              </a:rPr>
              <a:t>Each later migration adds indexes or one column, and tests prove each index is used</a:t>
            </a:r>
            <a:endParaRPr lang="en-US" sz="1400" dirty="0"/>
          </a:p>
        </p:txBody>
      </p:sp>
      <p:sp>
        <p:nvSpPr>
          <p:cNvPr id="16" name="Card 299"/>
          <p:cNvSpPr/>
          <p:nvPr/>
        </p:nvSpPr>
        <p:spPr>
          <a:xfrm>
            <a:off x="457200" y="4732020"/>
            <a:ext cx="5394960" cy="1120140"/>
          </a:xfrm>
          <a:prstGeom prst="roundRect">
            <a:avLst>
              <a:gd name="adj" fmla="val 8163"/>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7" name="Icon lock 300"/>
          <p:cNvSpPr/>
          <p:nvPr/>
        </p:nvSpPr>
        <p:spPr>
          <a:xfrm>
            <a:off x="731520" y="5008626"/>
            <a:ext cx="566928" cy="566928"/>
          </a:xfrm>
          <a:prstGeom prst="ellipse">
            <a:avLst/>
          </a:prstGeom>
          <a:solidFill>
            <a:schemeClr val="accent1"/>
          </a:solidFill>
          <a:ln/>
        </p:spPr>
      </p:sp>
      <p:sp>
        <p:nvSpPr>
          <p:cNvPr id="18" name="Glyph part 302"/>
          <p:cNvSpPr/>
          <p:nvPr/>
        </p:nvSpPr>
        <p:spPr>
          <a:xfrm>
            <a:off x="941283" y="5150358"/>
            <a:ext cx="147401" cy="204094"/>
          </a:xfrm>
          <a:prstGeom prst="ellipse">
            <a:avLst/>
          </a:prstGeom>
          <a:noFill/>
          <a:ln w="31750">
            <a:solidFill>
              <a:schemeClr val="tx1"/>
            </a:solidFill>
            <a:prstDash val="solid"/>
          </a:ln>
        </p:spPr>
      </p:sp>
      <p:sp>
        <p:nvSpPr>
          <p:cNvPr id="19" name="Glyph part 303"/>
          <p:cNvSpPr/>
          <p:nvPr/>
        </p:nvSpPr>
        <p:spPr>
          <a:xfrm>
            <a:off x="895929" y="5269413"/>
            <a:ext cx="238110" cy="164409"/>
          </a:xfrm>
          <a:prstGeom prst="roundRect">
            <a:avLst>
              <a:gd name="adj" fmla="val 13793"/>
            </a:avLst>
          </a:prstGeom>
          <a:solidFill>
            <a:schemeClr val="tx1"/>
          </a:solidFill>
          <a:ln/>
        </p:spPr>
      </p:sp>
      <p:sp>
        <p:nvSpPr>
          <p:cNvPr id="20" name="Glyph part 304"/>
          <p:cNvSpPr/>
          <p:nvPr/>
        </p:nvSpPr>
        <p:spPr>
          <a:xfrm>
            <a:off x="992307" y="5320436"/>
            <a:ext cx="45354" cy="45354"/>
          </a:xfrm>
          <a:prstGeom prst="ellipse">
            <a:avLst/>
          </a:prstGeom>
          <a:solidFill>
            <a:schemeClr val="accent1"/>
          </a:solidFill>
          <a:ln/>
        </p:spPr>
      </p:sp>
      <p:sp>
        <p:nvSpPr>
          <p:cNvPr id="21" name="Text 305"/>
          <p:cNvSpPr txBox="1"/>
          <p:nvPr/>
        </p:nvSpPr>
        <p:spPr>
          <a:xfrm>
            <a:off x="1527048" y="4823460"/>
            <a:ext cx="4050792" cy="937260"/>
          </a:xfrm>
          <a:prstGeom prst="rect">
            <a:avLst/>
          </a:prstGeom>
          <a:noFill/>
          <a:ln/>
        </p:spPr>
        <p:txBody>
          <a:bodyPr wrap="square" lIns="0" tIns="0" rIns="0" bIns="0" rtlCol="0" anchor="ctr"/>
          <a:lstStyle/>
          <a:p>
            <a:pPr indent="0" marL="0">
              <a:buNone/>
            </a:pPr>
            <a:r>
              <a:rPr lang="en-US" sz="1800" b="1" dirty="0">
                <a:solidFill>
                  <a:schemeClr val="tx1"/>
                </a:solidFill>
              </a:rPr>
              <a:t>Two database roles</a:t>
            </a:r>
            <a:endParaRPr lang="en-US" sz="1400" dirty="0"/>
          </a:p>
          <a:p>
            <a:pPr indent="0" marL="0">
              <a:spcBef>
                <a:spcPts val="300"/>
              </a:spcBef>
              <a:buNone/>
            </a:pPr>
            <a:r>
              <a:rPr lang="en-US" sz="1400" dirty="0">
                <a:solidFill>
                  <a:schemeClr val="tx2"/>
                </a:solidFill>
              </a:rPr>
              <a:t>The running application cannot change the schema or rewrite the audit trail</a:t>
            </a:r>
            <a:endParaRPr lang="en-US" sz="1400" dirty="0"/>
          </a:p>
        </p:txBody>
      </p:sp>
      <p:sp>
        <p:nvSpPr>
          <p:cNvPr id="22" name="Card 306"/>
          <p:cNvSpPr/>
          <p:nvPr/>
        </p:nvSpPr>
        <p:spPr>
          <a:xfrm>
            <a:off x="6217920" y="1645920"/>
            <a:ext cx="5516575" cy="1783080"/>
          </a:xfrm>
          <a:prstGeom prst="roundRect">
            <a:avLst>
              <a:gd name="adj" fmla="val 5128"/>
            </a:avLst>
          </a:prstGeom>
          <a:solidFill>
            <a:schemeClr val="tx1"/>
          </a:solidFill>
          <a:ln/>
          <a:effectLst>
            <a:outerShdw sx="100000" sy="100000" kx="0" ky="0" algn="bl" rotWithShape="0" blurRad="101600" dist="25400" dir="5400000">
              <a:srgbClr val="141613">
                <a:alpha val="10000"/>
              </a:srgbClr>
            </a:outerShdw>
          </a:effectLst>
        </p:spPr>
      </p:sp>
      <p:sp>
        <p:nvSpPr>
          <p:cNvPr id="23" name="Text 307"/>
          <p:cNvSpPr txBox="1"/>
          <p:nvPr/>
        </p:nvSpPr>
        <p:spPr>
          <a:xfrm>
            <a:off x="6492240" y="1783080"/>
            <a:ext cx="27432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THE CONSTRAINT</a:t>
            </a:r>
            <a:endParaRPr lang="en-US" sz="1100" dirty="0"/>
          </a:p>
        </p:txBody>
      </p:sp>
      <p:sp>
        <p:nvSpPr>
          <p:cNvPr id="24" name="Text 308"/>
          <p:cNvSpPr txBox="1"/>
          <p:nvPr/>
        </p:nvSpPr>
        <p:spPr>
          <a:xfrm>
            <a:off x="6492240" y="2084832"/>
            <a:ext cx="5059375" cy="12344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ALTER TABLE </a:t>
            </a:r>
            <a:pPr indent="0" marL="0">
              <a:buNone/>
            </a:pPr>
            <a:r>
              <a:rPr lang="en-US" sz="1300" dirty="0">
                <a:solidFill>
                  <a:schemeClr val="bg1"/>
                </a:solidFill>
                <a:latin typeface="Consolas" pitchFamily="34" charset="0"/>
                <a:ea typeface="Consolas" pitchFamily="34" charset="-122"/>
                <a:cs typeface="Consolas" pitchFamily="34" charset="-120"/>
              </a:rPr>
              <a:t>asset_allocation</a:t>
            </a:r>
            <a:endParaRPr lang="en-US" sz="1300" dirty="0"/>
          </a:p>
          <a:p>
            <a:pPr indent="0" marL="0">
              <a:buNone/>
            </a:pPr>
            <a:r>
              <a:rPr lang="en-US" sz="1300" b="1" dirty="0">
                <a:solidFill>
                  <a:schemeClr val="accent1"/>
                </a:solidFill>
                <a:latin typeface="Consolas" pitchFamily="34" charset="0"/>
                <a:ea typeface="Consolas" pitchFamily="34" charset="-122"/>
                <a:cs typeface="Consolas" pitchFamily="34" charset="-120"/>
              </a:rPr>
              <a:t>ADD CONSTRAINT </a:t>
            </a:r>
            <a:pPr indent="0" marL="0">
              <a:buNone/>
            </a:pPr>
            <a:r>
              <a:rPr lang="en-US" sz="1300" dirty="0">
                <a:solidFill>
                  <a:schemeClr val="bg1"/>
                </a:solidFill>
                <a:latin typeface="Consolas" pitchFamily="34" charset="0"/>
                <a:ea typeface="Consolas" pitchFamily="34" charset="-122"/>
                <a:cs typeface="Consolas" pitchFamily="34" charset="-120"/>
              </a:rPr>
              <a:t>asset_allocation_no_overlap</a:t>
            </a:r>
            <a:endParaRPr lang="en-US" sz="1300" dirty="0"/>
          </a:p>
          <a:p>
            <a:pPr indent="0" marL="0">
              <a:buNone/>
            </a:pPr>
            <a:r>
              <a:rPr lang="en-US" sz="1300" b="1" dirty="0">
                <a:solidFill>
                  <a:schemeClr val="accent1"/>
                </a:solidFill>
                <a:latin typeface="Consolas" pitchFamily="34" charset="0"/>
                <a:ea typeface="Consolas" pitchFamily="34" charset="-122"/>
                <a:cs typeface="Consolas" pitchFamily="34" charset="-120"/>
              </a:rPr>
              <a:t>EXCLUDE USING gist </a:t>
            </a:r>
            <a:pPr indent="0" marL="0">
              <a:buNone/>
            </a:pPr>
            <a:r>
              <a:rPr lang="en-US" sz="1300" dirty="0">
                <a:solidFill>
                  <a:schemeClr val="bg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asset_id </a:t>
            </a:r>
            <a:pPr indent="0" marL="0">
              <a:buNone/>
            </a:pPr>
            <a:r>
              <a:rPr lang="en-US" sz="1300" b="1" dirty="0">
                <a:solidFill>
                  <a:schemeClr val="accent1"/>
                </a:solidFill>
                <a:latin typeface="Consolas" pitchFamily="34" charset="0"/>
                <a:ea typeface="Consolas" pitchFamily="34" charset="-122"/>
                <a:cs typeface="Consolas" pitchFamily="34" charset="-120"/>
              </a:rPr>
              <a:t>WITH =</a:t>
            </a:r>
            <a:pPr indent="0" marL="0">
              <a:buNone/>
            </a:pPr>
            <a:r>
              <a:rPr lang="en-US" sz="1300" dirty="0">
                <a:solidFill>
                  <a:schemeClr val="bg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daterange(start_date, end_date, '[)') </a:t>
            </a:r>
            <a:pPr indent="0" marL="0">
              <a:buNone/>
            </a:pPr>
            <a:r>
              <a:rPr lang="en-US" sz="1300" b="1" dirty="0">
                <a:solidFill>
                  <a:schemeClr val="accent1"/>
                </a:solidFill>
                <a:latin typeface="Consolas" pitchFamily="34" charset="0"/>
                <a:ea typeface="Consolas" pitchFamily="34" charset="-122"/>
                <a:cs typeface="Consolas" pitchFamily="34" charset="-120"/>
              </a:rPr>
              <a:t>WITH &amp;&amp;</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 </a:t>
            </a:r>
            <a:pPr indent="0" marL="0">
              <a:buNone/>
            </a:pPr>
            <a:r>
              <a:rPr lang="en-US" sz="1300" b="1" dirty="0">
                <a:solidFill>
                  <a:schemeClr val="accent1"/>
                </a:solidFill>
                <a:latin typeface="Consolas" pitchFamily="34" charset="0"/>
                <a:ea typeface="Consolas" pitchFamily="34" charset="-122"/>
                <a:cs typeface="Consolas" pitchFamily="34" charset="-120"/>
              </a:rPr>
              <a:t>WHERE </a:t>
            </a:r>
            <a:pPr indent="0" marL="0">
              <a:buNone/>
            </a:pPr>
            <a:r>
              <a:rPr lang="en-US" sz="1300" dirty="0">
                <a:solidFill>
                  <a:schemeClr val="bg1"/>
                </a:solidFill>
                <a:latin typeface="Consolas" pitchFamily="34" charset="0"/>
                <a:ea typeface="Consolas" pitchFamily="34" charset="-122"/>
                <a:cs typeface="Consolas" pitchFamily="34" charset="-120"/>
              </a:rPr>
              <a:t>(released_at IS NULL);</a:t>
            </a:r>
            <a:endParaRPr lang="en-US" sz="1300" dirty="0"/>
          </a:p>
        </p:txBody>
      </p:sp>
      <p:sp>
        <p:nvSpPr>
          <p:cNvPr id="25" name="Card 309"/>
          <p:cNvSpPr/>
          <p:nvPr/>
        </p:nvSpPr>
        <p:spPr>
          <a:xfrm>
            <a:off x="6217920" y="3703320"/>
            <a:ext cx="5516575" cy="2148840"/>
          </a:xfrm>
          <a:prstGeom prst="roundRect">
            <a:avLst>
              <a:gd name="adj" fmla="val 4255"/>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6" name="Text 310"/>
          <p:cNvSpPr txBox="1"/>
          <p:nvPr/>
        </p:nvSpPr>
        <p:spPr>
          <a:xfrm>
            <a:off x="6492240" y="3840480"/>
            <a:ext cx="4967935" cy="292608"/>
          </a:xfrm>
          <a:prstGeom prst="rect">
            <a:avLst/>
          </a:prstGeom>
          <a:noFill/>
          <a:ln/>
        </p:spPr>
        <p:txBody>
          <a:bodyPr wrap="square" lIns="0" tIns="0" rIns="0" bIns="0" rtlCol="0" anchor="t"/>
          <a:lstStyle/>
          <a:p>
            <a:pPr indent="0" marL="0">
              <a:buNone/>
            </a:pPr>
            <a:r>
              <a:rPr lang="en-US" sz="1600" b="1" dirty="0">
                <a:solidFill>
                  <a:schemeClr val="tx1"/>
                </a:solidFill>
              </a:rPr>
              <a:t>One unit, half open periods</a:t>
            </a:r>
            <a:endParaRPr lang="en-US" sz="1600" dirty="0"/>
          </a:p>
        </p:txBody>
      </p:sp>
      <p:sp>
        <p:nvSpPr>
          <p:cNvPr id="27" name="Connector 311"/>
          <p:cNvSpPr/>
          <p:nvPr/>
        </p:nvSpPr>
        <p:spPr>
          <a:xfrm>
            <a:off x="8220456" y="4215384"/>
            <a:ext cx="0" cy="731520"/>
          </a:xfrm>
          <a:prstGeom prst="line">
            <a:avLst/>
          </a:prstGeom>
          <a:noFill/>
          <a:ln w="12700">
            <a:solidFill>
              <a:srgbClr val="5D6B7E"/>
            </a:solidFill>
            <a:prstDash val="dash"/>
          </a:ln>
        </p:spPr>
      </p:sp>
      <p:sp>
        <p:nvSpPr>
          <p:cNvPr id="28" name="Chip 312"/>
          <p:cNvSpPr/>
          <p:nvPr/>
        </p:nvSpPr>
        <p:spPr>
          <a:xfrm>
            <a:off x="6537960" y="4270248"/>
            <a:ext cx="1682496" cy="274320"/>
          </a:xfrm>
          <a:prstGeom prst="roundRect">
            <a:avLst>
              <a:gd name="adj" fmla="val 16667"/>
            </a:avLst>
          </a:prstGeom>
          <a:solidFill>
            <a:schemeClr val="tx1"/>
          </a:solidFill>
          <a:ln/>
        </p:spPr>
        <p:txBody>
          <a:bodyPr wrap="square" lIns="25400" tIns="25400" rIns="25400" bIns="25400" rtlCol="0" anchor="ctr"/>
          <a:lstStyle/>
          <a:p>
            <a:pPr algn="ctr" indent="0" marL="0">
              <a:buNone/>
            </a:pPr>
            <a:r>
              <a:rPr lang="en-US" sz="1200" b="1" dirty="0">
                <a:solidFill>
                  <a:schemeClr val="bg1"/>
                </a:solidFill>
              </a:rPr>
              <a:t>Hire A</a:t>
            </a:r>
            <a:endParaRPr lang="en-US" sz="1200" dirty="0"/>
          </a:p>
        </p:txBody>
      </p:sp>
      <p:sp>
        <p:nvSpPr>
          <p:cNvPr id="29" name="Text 313"/>
          <p:cNvSpPr txBox="1"/>
          <p:nvPr/>
        </p:nvSpPr>
        <p:spPr>
          <a:xfrm>
            <a:off x="8311896" y="4270248"/>
            <a:ext cx="3239719" cy="274320"/>
          </a:xfrm>
          <a:prstGeom prst="rect">
            <a:avLst/>
          </a:prstGeom>
          <a:noFill/>
          <a:ln/>
        </p:spPr>
        <p:txBody>
          <a:bodyPr wrap="square" lIns="0" tIns="0" rIns="0" bIns="0" rtlCol="0" anchor="ctr"/>
          <a:lstStyle/>
          <a:p>
            <a:pPr indent="0" marL="0">
              <a:buNone/>
            </a:pPr>
            <a:r>
              <a:rPr lang="en-US" sz="1200" dirty="0">
                <a:solidFill>
                  <a:schemeClr val="tx2"/>
                </a:solidFill>
              </a:rPr>
              <a:t>returned on the 12th</a:t>
            </a:r>
            <a:endParaRPr lang="en-US" sz="1200" dirty="0"/>
          </a:p>
        </p:txBody>
      </p:sp>
      <p:sp>
        <p:nvSpPr>
          <p:cNvPr id="30" name="Chip 314"/>
          <p:cNvSpPr/>
          <p:nvPr/>
        </p:nvSpPr>
        <p:spPr>
          <a:xfrm>
            <a:off x="8220456" y="4636008"/>
            <a:ext cx="1682496" cy="274320"/>
          </a:xfrm>
          <a:prstGeom prst="roundRect">
            <a:avLst>
              <a:gd name="adj" fmla="val 16667"/>
            </a:avLst>
          </a:prstGeom>
          <a:solidFill>
            <a:schemeClr val="accent3"/>
          </a:solidFill>
          <a:ln/>
        </p:spPr>
        <p:txBody>
          <a:bodyPr wrap="square" lIns="25400" tIns="25400" rIns="25400" bIns="25400" rtlCol="0" anchor="ctr"/>
          <a:lstStyle/>
          <a:p>
            <a:pPr algn="ctr" indent="0" marL="0">
              <a:buNone/>
            </a:pPr>
            <a:r>
              <a:rPr lang="en-US" sz="1200" b="1" dirty="0">
                <a:solidFill>
                  <a:schemeClr val="bg1"/>
                </a:solidFill>
              </a:rPr>
              <a:t>Hire B</a:t>
            </a:r>
            <a:endParaRPr lang="en-US" sz="1200" dirty="0"/>
          </a:p>
        </p:txBody>
      </p:sp>
      <p:sp>
        <p:nvSpPr>
          <p:cNvPr id="31" name="Text 315"/>
          <p:cNvSpPr txBox="1"/>
          <p:nvPr/>
        </p:nvSpPr>
        <p:spPr>
          <a:xfrm>
            <a:off x="9994392" y="4636008"/>
            <a:ext cx="1557223" cy="274320"/>
          </a:xfrm>
          <a:prstGeom prst="rect">
            <a:avLst/>
          </a:prstGeom>
          <a:noFill/>
          <a:ln/>
        </p:spPr>
        <p:txBody>
          <a:bodyPr wrap="square" lIns="0" tIns="0" rIns="0" bIns="0" rtlCol="0" anchor="ctr"/>
          <a:lstStyle/>
          <a:p>
            <a:pPr indent="0" marL="0">
              <a:buNone/>
            </a:pPr>
            <a:r>
              <a:rPr lang="en-US" sz="1200" b="1" dirty="0">
                <a:solidFill>
                  <a:schemeClr val="accent3"/>
                </a:solidFill>
              </a:rPr>
              <a:t>allowed</a:t>
            </a:r>
            <a:endParaRPr lang="en-US" sz="1200" dirty="0"/>
          </a:p>
        </p:txBody>
      </p:sp>
      <p:sp>
        <p:nvSpPr>
          <p:cNvPr id="32" name="Chip 316"/>
          <p:cNvSpPr/>
          <p:nvPr/>
        </p:nvSpPr>
        <p:spPr>
          <a:xfrm>
            <a:off x="7379208" y="5001768"/>
            <a:ext cx="1682496" cy="274320"/>
          </a:xfrm>
          <a:prstGeom prst="roundRect">
            <a:avLst>
              <a:gd name="adj" fmla="val 16667"/>
            </a:avLst>
          </a:prstGeom>
          <a:solidFill>
            <a:srgbClr val="FEF2F2"/>
          </a:solidFill>
          <a:ln w="12700">
            <a:solidFill>
              <a:schemeClr val="accent6"/>
            </a:solidFill>
            <a:prstDash val="dash"/>
          </a:ln>
        </p:spPr>
        <p:txBody>
          <a:bodyPr wrap="square" lIns="25400" tIns="25400" rIns="25400" bIns="25400" rtlCol="0" anchor="ctr"/>
          <a:lstStyle/>
          <a:p>
            <a:pPr algn="ctr" indent="0" marL="0">
              <a:buNone/>
            </a:pPr>
            <a:r>
              <a:rPr lang="en-US" sz="1200" b="1" dirty="0">
                <a:solidFill>
                  <a:schemeClr val="accent6"/>
                </a:solidFill>
              </a:rPr>
              <a:t>Hire C</a:t>
            </a:r>
            <a:endParaRPr lang="en-US" sz="1200" dirty="0"/>
          </a:p>
        </p:txBody>
      </p:sp>
      <p:sp>
        <p:nvSpPr>
          <p:cNvPr id="33" name="Text 317"/>
          <p:cNvSpPr txBox="1"/>
          <p:nvPr/>
        </p:nvSpPr>
        <p:spPr>
          <a:xfrm>
            <a:off x="9153144" y="5001768"/>
            <a:ext cx="2398471" cy="274320"/>
          </a:xfrm>
          <a:prstGeom prst="rect">
            <a:avLst/>
          </a:prstGeom>
          <a:noFill/>
          <a:ln/>
        </p:spPr>
        <p:txBody>
          <a:bodyPr wrap="square" lIns="0" tIns="0" rIns="0" bIns="0" rtlCol="0" anchor="ctr"/>
          <a:lstStyle/>
          <a:p>
            <a:pPr indent="0" marL="0">
              <a:buNone/>
            </a:pPr>
            <a:r>
              <a:rPr lang="en-US" sz="1200" b="1" dirty="0">
                <a:solidFill>
                  <a:schemeClr val="accent6"/>
                </a:solidFill>
              </a:rPr>
              <a:t>refused, it overlaps Hire A</a:t>
            </a:r>
            <a:endParaRPr lang="en-US" sz="1200" dirty="0"/>
          </a:p>
        </p:txBody>
      </p:sp>
      <p:sp>
        <p:nvSpPr>
          <p:cNvPr id="34" name="Connector 318"/>
          <p:cNvSpPr/>
          <p:nvPr/>
        </p:nvSpPr>
        <p:spPr>
          <a:xfrm>
            <a:off x="6537960" y="5477256"/>
            <a:ext cx="4206240" cy="0"/>
          </a:xfrm>
          <a:prstGeom prst="line">
            <a:avLst/>
          </a:prstGeom>
          <a:noFill/>
          <a:ln w="12700">
            <a:solidFill>
              <a:schemeClr val="tx2"/>
            </a:solidFill>
            <a:prstDash val="solid"/>
          </a:ln>
        </p:spPr>
      </p:sp>
      <p:sp>
        <p:nvSpPr>
          <p:cNvPr id="35" name="Glyph part 319"/>
          <p:cNvSpPr/>
          <p:nvPr/>
        </p:nvSpPr>
        <p:spPr>
          <a:xfrm>
            <a:off x="6533388" y="5431536"/>
            <a:ext cx="9144" cy="91440"/>
          </a:xfrm>
          <a:prstGeom prst="rect">
            <a:avLst/>
          </a:prstGeom>
          <a:solidFill>
            <a:schemeClr val="tx2"/>
          </a:solidFill>
          <a:ln/>
        </p:spPr>
      </p:sp>
      <p:sp>
        <p:nvSpPr>
          <p:cNvPr id="36" name="Text 320"/>
          <p:cNvSpPr txBox="1"/>
          <p:nvPr/>
        </p:nvSpPr>
        <p:spPr>
          <a:xfrm>
            <a:off x="6263640" y="5541264"/>
            <a:ext cx="548640" cy="228600"/>
          </a:xfrm>
          <a:prstGeom prst="rect">
            <a:avLst/>
          </a:prstGeom>
          <a:noFill/>
          <a:ln/>
        </p:spPr>
        <p:txBody>
          <a:bodyPr wrap="square" lIns="0" tIns="0" rIns="0" bIns="0" rtlCol="0" anchor="t"/>
          <a:lstStyle/>
          <a:p>
            <a:pPr algn="ctr" indent="0" marL="0">
              <a:buNone/>
            </a:pPr>
            <a:r>
              <a:rPr lang="en-US" sz="1100" dirty="0">
                <a:solidFill>
                  <a:schemeClr val="tx2"/>
                </a:solidFill>
              </a:rPr>
              <a:t>10th</a:t>
            </a:r>
            <a:endParaRPr lang="en-US" sz="1100" dirty="0"/>
          </a:p>
        </p:txBody>
      </p:sp>
      <p:sp>
        <p:nvSpPr>
          <p:cNvPr id="37" name="Glyph part 321"/>
          <p:cNvSpPr/>
          <p:nvPr/>
        </p:nvSpPr>
        <p:spPr>
          <a:xfrm>
            <a:off x="7374636" y="5431536"/>
            <a:ext cx="9144" cy="91440"/>
          </a:xfrm>
          <a:prstGeom prst="rect">
            <a:avLst/>
          </a:prstGeom>
          <a:solidFill>
            <a:schemeClr val="tx2"/>
          </a:solidFill>
          <a:ln/>
        </p:spPr>
      </p:sp>
      <p:sp>
        <p:nvSpPr>
          <p:cNvPr id="38" name="Text 322"/>
          <p:cNvSpPr txBox="1"/>
          <p:nvPr/>
        </p:nvSpPr>
        <p:spPr>
          <a:xfrm>
            <a:off x="7104888" y="5541264"/>
            <a:ext cx="548640" cy="228600"/>
          </a:xfrm>
          <a:prstGeom prst="rect">
            <a:avLst/>
          </a:prstGeom>
          <a:noFill/>
          <a:ln/>
        </p:spPr>
        <p:txBody>
          <a:bodyPr wrap="square" lIns="0" tIns="0" rIns="0" bIns="0" rtlCol="0" anchor="t"/>
          <a:lstStyle/>
          <a:p>
            <a:pPr algn="ctr" indent="0" marL="0">
              <a:buNone/>
            </a:pPr>
            <a:r>
              <a:rPr lang="en-US" sz="1100" dirty="0">
                <a:solidFill>
                  <a:schemeClr val="tx2"/>
                </a:solidFill>
              </a:rPr>
              <a:t>11th</a:t>
            </a:r>
            <a:endParaRPr lang="en-US" sz="1100" dirty="0"/>
          </a:p>
        </p:txBody>
      </p:sp>
      <p:sp>
        <p:nvSpPr>
          <p:cNvPr id="39" name="Glyph part 323"/>
          <p:cNvSpPr/>
          <p:nvPr/>
        </p:nvSpPr>
        <p:spPr>
          <a:xfrm>
            <a:off x="8215884" y="5431536"/>
            <a:ext cx="9144" cy="91440"/>
          </a:xfrm>
          <a:prstGeom prst="rect">
            <a:avLst/>
          </a:prstGeom>
          <a:solidFill>
            <a:schemeClr val="tx2"/>
          </a:solidFill>
          <a:ln/>
        </p:spPr>
      </p:sp>
      <p:sp>
        <p:nvSpPr>
          <p:cNvPr id="40" name="Text 324"/>
          <p:cNvSpPr txBox="1"/>
          <p:nvPr/>
        </p:nvSpPr>
        <p:spPr>
          <a:xfrm>
            <a:off x="7946136" y="5541264"/>
            <a:ext cx="548640" cy="228600"/>
          </a:xfrm>
          <a:prstGeom prst="rect">
            <a:avLst/>
          </a:prstGeom>
          <a:noFill/>
          <a:ln/>
        </p:spPr>
        <p:txBody>
          <a:bodyPr wrap="square" lIns="0" tIns="0" rIns="0" bIns="0" rtlCol="0" anchor="t"/>
          <a:lstStyle/>
          <a:p>
            <a:pPr algn="ctr" indent="0" marL="0">
              <a:buNone/>
            </a:pPr>
            <a:r>
              <a:rPr lang="en-US" sz="1100" dirty="0">
                <a:solidFill>
                  <a:schemeClr val="tx2"/>
                </a:solidFill>
              </a:rPr>
              <a:t>12th</a:t>
            </a:r>
            <a:endParaRPr lang="en-US" sz="1100" dirty="0"/>
          </a:p>
        </p:txBody>
      </p:sp>
      <p:sp>
        <p:nvSpPr>
          <p:cNvPr id="41" name="Glyph part 325"/>
          <p:cNvSpPr/>
          <p:nvPr/>
        </p:nvSpPr>
        <p:spPr>
          <a:xfrm>
            <a:off x="9057132" y="5431536"/>
            <a:ext cx="9144" cy="91440"/>
          </a:xfrm>
          <a:prstGeom prst="rect">
            <a:avLst/>
          </a:prstGeom>
          <a:solidFill>
            <a:schemeClr val="tx2"/>
          </a:solidFill>
          <a:ln/>
        </p:spPr>
      </p:sp>
      <p:sp>
        <p:nvSpPr>
          <p:cNvPr id="42" name="Text 326"/>
          <p:cNvSpPr txBox="1"/>
          <p:nvPr/>
        </p:nvSpPr>
        <p:spPr>
          <a:xfrm>
            <a:off x="8787384" y="5541264"/>
            <a:ext cx="548640" cy="228600"/>
          </a:xfrm>
          <a:prstGeom prst="rect">
            <a:avLst/>
          </a:prstGeom>
          <a:noFill/>
          <a:ln/>
        </p:spPr>
        <p:txBody>
          <a:bodyPr wrap="square" lIns="0" tIns="0" rIns="0" bIns="0" rtlCol="0" anchor="t"/>
          <a:lstStyle/>
          <a:p>
            <a:pPr algn="ctr" indent="0" marL="0">
              <a:buNone/>
            </a:pPr>
            <a:r>
              <a:rPr lang="en-US" sz="1100" dirty="0">
                <a:solidFill>
                  <a:schemeClr val="tx2"/>
                </a:solidFill>
              </a:rPr>
              <a:t>13th</a:t>
            </a:r>
            <a:endParaRPr lang="en-US" sz="1100" dirty="0"/>
          </a:p>
        </p:txBody>
      </p:sp>
      <p:sp>
        <p:nvSpPr>
          <p:cNvPr id="43" name="Glyph part 327"/>
          <p:cNvSpPr/>
          <p:nvPr/>
        </p:nvSpPr>
        <p:spPr>
          <a:xfrm>
            <a:off x="9898380" y="5431536"/>
            <a:ext cx="9144" cy="91440"/>
          </a:xfrm>
          <a:prstGeom prst="rect">
            <a:avLst/>
          </a:prstGeom>
          <a:solidFill>
            <a:schemeClr val="tx2"/>
          </a:solidFill>
          <a:ln/>
        </p:spPr>
      </p:sp>
      <p:sp>
        <p:nvSpPr>
          <p:cNvPr id="44" name="Text 328"/>
          <p:cNvSpPr txBox="1"/>
          <p:nvPr/>
        </p:nvSpPr>
        <p:spPr>
          <a:xfrm>
            <a:off x="9628632" y="5541264"/>
            <a:ext cx="548640" cy="228600"/>
          </a:xfrm>
          <a:prstGeom prst="rect">
            <a:avLst/>
          </a:prstGeom>
          <a:noFill/>
          <a:ln/>
        </p:spPr>
        <p:txBody>
          <a:bodyPr wrap="square" lIns="0" tIns="0" rIns="0" bIns="0" rtlCol="0" anchor="t"/>
          <a:lstStyle/>
          <a:p>
            <a:pPr algn="ctr" indent="0" marL="0">
              <a:buNone/>
            </a:pPr>
            <a:r>
              <a:rPr lang="en-US" sz="1100" dirty="0">
                <a:solidFill>
                  <a:schemeClr val="tx2"/>
                </a:solidFill>
              </a:rPr>
              <a:t>14th</a:t>
            </a:r>
            <a:endParaRPr lang="en-US" sz="1100" dirty="0"/>
          </a:p>
        </p:txBody>
      </p:sp>
      <p:sp>
        <p:nvSpPr>
          <p:cNvPr id="45" name="Glyph part 329"/>
          <p:cNvSpPr/>
          <p:nvPr/>
        </p:nvSpPr>
        <p:spPr>
          <a:xfrm>
            <a:off x="10739628" y="5431536"/>
            <a:ext cx="9144" cy="91440"/>
          </a:xfrm>
          <a:prstGeom prst="rect">
            <a:avLst/>
          </a:prstGeom>
          <a:solidFill>
            <a:schemeClr val="tx2"/>
          </a:solidFill>
          <a:ln/>
        </p:spPr>
      </p:sp>
      <p:sp>
        <p:nvSpPr>
          <p:cNvPr id="46" name="Text 330"/>
          <p:cNvSpPr txBox="1"/>
          <p:nvPr/>
        </p:nvSpPr>
        <p:spPr>
          <a:xfrm>
            <a:off x="10469880" y="5541264"/>
            <a:ext cx="548640" cy="228600"/>
          </a:xfrm>
          <a:prstGeom prst="rect">
            <a:avLst/>
          </a:prstGeom>
          <a:noFill/>
          <a:ln/>
        </p:spPr>
        <p:txBody>
          <a:bodyPr wrap="square" lIns="0" tIns="0" rIns="0" bIns="0" rtlCol="0" anchor="t"/>
          <a:lstStyle/>
          <a:p>
            <a:pPr algn="ctr" indent="0" marL="0">
              <a:buNone/>
            </a:pPr>
            <a:r>
              <a:rPr lang="en-US" sz="1100" dirty="0">
                <a:solidFill>
                  <a:schemeClr val="tx2"/>
                </a:solidFill>
              </a:rPr>
              <a:t>15th</a:t>
            </a:r>
            <a:endParaRPr lang="en-US" sz="11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2  |  HOW IT IS BUILT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Security</a:t>
            </a:r>
            <a:endParaRPr lang="en-US" sz="3600" dirty="0"/>
          </a:p>
        </p:txBody>
      </p:sp>
      <p:sp>
        <p:nvSpPr>
          <p:cNvPr id="5" name="Card 331"/>
          <p:cNvSpPr/>
          <p:nvPr/>
        </p:nvSpPr>
        <p:spPr>
          <a:xfrm>
            <a:off x="457200" y="1645920"/>
            <a:ext cx="5120640" cy="1219200"/>
          </a:xfrm>
          <a:prstGeom prst="roundRect">
            <a:avLst>
              <a:gd name="adj" fmla="val 75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Icon clock 332"/>
          <p:cNvSpPr/>
          <p:nvPr/>
        </p:nvSpPr>
        <p:spPr>
          <a:xfrm>
            <a:off x="731520" y="1953768"/>
            <a:ext cx="603504" cy="603504"/>
          </a:xfrm>
          <a:prstGeom prst="ellipse">
            <a:avLst/>
          </a:prstGeom>
          <a:solidFill>
            <a:schemeClr val="accent1"/>
          </a:solidFill>
          <a:ln/>
        </p:spPr>
      </p:sp>
      <p:sp>
        <p:nvSpPr>
          <p:cNvPr id="7" name="Glyph part 334"/>
          <p:cNvSpPr/>
          <p:nvPr/>
        </p:nvSpPr>
        <p:spPr>
          <a:xfrm>
            <a:off x="894466" y="2116714"/>
            <a:ext cx="277612" cy="277612"/>
          </a:xfrm>
          <a:prstGeom prst="ellipse">
            <a:avLst/>
          </a:prstGeom>
          <a:noFill/>
          <a:ln w="28575">
            <a:solidFill>
              <a:schemeClr val="tx1"/>
            </a:solidFill>
            <a:prstDash val="solid"/>
          </a:ln>
        </p:spPr>
      </p:sp>
      <p:sp>
        <p:nvSpPr>
          <p:cNvPr id="8" name="Glyph stroke 335"/>
          <p:cNvSpPr/>
          <p:nvPr/>
        </p:nvSpPr>
        <p:spPr>
          <a:xfrm flipV="1">
            <a:off x="1033272" y="2164994"/>
            <a:ext cx="0" cy="90526"/>
          </a:xfrm>
          <a:prstGeom prst="line">
            <a:avLst/>
          </a:prstGeom>
          <a:noFill/>
          <a:ln w="28575">
            <a:solidFill>
              <a:schemeClr val="tx1"/>
            </a:solidFill>
            <a:prstDash val="solid"/>
          </a:ln>
        </p:spPr>
      </p:sp>
      <p:sp>
        <p:nvSpPr>
          <p:cNvPr id="9" name="Glyph stroke 336"/>
          <p:cNvSpPr/>
          <p:nvPr/>
        </p:nvSpPr>
        <p:spPr>
          <a:xfrm>
            <a:off x="1033272" y="2255520"/>
            <a:ext cx="66385" cy="0"/>
          </a:xfrm>
          <a:prstGeom prst="line">
            <a:avLst/>
          </a:prstGeom>
          <a:noFill/>
          <a:ln w="28575">
            <a:solidFill>
              <a:schemeClr val="tx1"/>
            </a:solidFill>
            <a:prstDash val="solid"/>
          </a:ln>
        </p:spPr>
      </p:sp>
      <p:sp>
        <p:nvSpPr>
          <p:cNvPr id="10" name="Text 337"/>
          <p:cNvSpPr txBox="1"/>
          <p:nvPr/>
        </p:nvSpPr>
        <p:spPr>
          <a:xfrm>
            <a:off x="1563624" y="1737360"/>
            <a:ext cx="3739896" cy="1036320"/>
          </a:xfrm>
          <a:prstGeom prst="rect">
            <a:avLst/>
          </a:prstGeom>
          <a:noFill/>
          <a:ln/>
        </p:spPr>
        <p:txBody>
          <a:bodyPr wrap="square" lIns="0" tIns="0" rIns="0" bIns="0" rtlCol="0" anchor="ctr"/>
          <a:lstStyle/>
          <a:p>
            <a:pPr indent="0" marL="0">
              <a:buNone/>
            </a:pPr>
            <a:r>
              <a:rPr lang="en-US" sz="1800" b="1" dirty="0">
                <a:solidFill>
                  <a:schemeClr val="tx1"/>
                </a:solidFill>
              </a:rPr>
              <a:t>Sessions</a:t>
            </a:r>
            <a:endParaRPr lang="en-US" sz="1400" dirty="0"/>
          </a:p>
          <a:p>
            <a:pPr indent="0" marL="0">
              <a:spcBef>
                <a:spcPts val="300"/>
              </a:spcBef>
              <a:buNone/>
            </a:pPr>
            <a:r>
              <a:rPr lang="en-US" sz="1400" dirty="0">
                <a:solidFill>
                  <a:schemeClr val="tx2"/>
                </a:solidFill>
              </a:rPr>
              <a:t>A fifteen minute token in memory and a rotating refresh cookie</a:t>
            </a:r>
            <a:endParaRPr lang="en-US" sz="1400" dirty="0"/>
          </a:p>
        </p:txBody>
      </p:sp>
      <p:sp>
        <p:nvSpPr>
          <p:cNvPr id="11" name="Card 338"/>
          <p:cNvSpPr/>
          <p:nvPr/>
        </p:nvSpPr>
        <p:spPr>
          <a:xfrm>
            <a:off x="457200" y="3139440"/>
            <a:ext cx="5120640" cy="1219200"/>
          </a:xfrm>
          <a:prstGeom prst="roundRect">
            <a:avLst>
              <a:gd name="adj" fmla="val 75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2" name="Icon deny 339"/>
          <p:cNvSpPr/>
          <p:nvPr/>
        </p:nvSpPr>
        <p:spPr>
          <a:xfrm>
            <a:off x="731520" y="3447288"/>
            <a:ext cx="603504" cy="603504"/>
          </a:xfrm>
          <a:prstGeom prst="ellipse">
            <a:avLst/>
          </a:prstGeom>
          <a:solidFill>
            <a:schemeClr val="accent1"/>
          </a:solidFill>
          <a:ln/>
        </p:spPr>
      </p:sp>
      <p:sp>
        <p:nvSpPr>
          <p:cNvPr id="13" name="Glyph part 341"/>
          <p:cNvSpPr/>
          <p:nvPr/>
        </p:nvSpPr>
        <p:spPr>
          <a:xfrm>
            <a:off x="888431" y="3604199"/>
            <a:ext cx="289682" cy="289682"/>
          </a:xfrm>
          <a:prstGeom prst="noSmoking">
            <a:avLst/>
          </a:prstGeom>
          <a:solidFill>
            <a:schemeClr val="tx1"/>
          </a:solidFill>
          <a:ln/>
        </p:spPr>
      </p:sp>
      <p:sp>
        <p:nvSpPr>
          <p:cNvPr id="14" name="Text 342"/>
          <p:cNvSpPr txBox="1"/>
          <p:nvPr/>
        </p:nvSpPr>
        <p:spPr>
          <a:xfrm>
            <a:off x="1563624" y="3230880"/>
            <a:ext cx="3739896" cy="1036320"/>
          </a:xfrm>
          <a:prstGeom prst="rect">
            <a:avLst/>
          </a:prstGeom>
          <a:noFill/>
          <a:ln/>
        </p:spPr>
        <p:txBody>
          <a:bodyPr wrap="square" lIns="0" tIns="0" rIns="0" bIns="0" rtlCol="0" anchor="ctr"/>
          <a:lstStyle/>
          <a:p>
            <a:pPr indent="0" marL="0">
              <a:buNone/>
            </a:pPr>
            <a:r>
              <a:rPr lang="en-US" sz="1800" b="1" dirty="0">
                <a:solidFill>
                  <a:schemeClr val="tx1"/>
                </a:solidFill>
              </a:rPr>
              <a:t>Deny by default</a:t>
            </a:r>
            <a:endParaRPr lang="en-US" sz="1400" dirty="0"/>
          </a:p>
          <a:p>
            <a:pPr indent="0" marL="0">
              <a:spcBef>
                <a:spcPts val="300"/>
              </a:spcBef>
              <a:buNone/>
            </a:pPr>
            <a:r>
              <a:rPr lang="en-US" sz="1400" dirty="0">
                <a:solidFill>
                  <a:schemeClr val="tx2"/>
                </a:solidFill>
              </a:rPr>
              <a:t>Ownership answered as not found, branch scope for counter staff, and the owner's functions for the administrator alone</a:t>
            </a:r>
            <a:endParaRPr lang="en-US" sz="1400" dirty="0"/>
          </a:p>
        </p:txBody>
      </p:sp>
      <p:sp>
        <p:nvSpPr>
          <p:cNvPr id="15" name="Card 343"/>
          <p:cNvSpPr/>
          <p:nvPr/>
        </p:nvSpPr>
        <p:spPr>
          <a:xfrm>
            <a:off x="457200" y="4632960"/>
            <a:ext cx="5120640" cy="1219200"/>
          </a:xfrm>
          <a:prstGeom prst="roundRect">
            <a:avLst>
              <a:gd name="adj" fmla="val 750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6" name="Icon lock 344"/>
          <p:cNvSpPr/>
          <p:nvPr/>
        </p:nvSpPr>
        <p:spPr>
          <a:xfrm>
            <a:off x="731520" y="4940808"/>
            <a:ext cx="603504" cy="603504"/>
          </a:xfrm>
          <a:prstGeom prst="ellipse">
            <a:avLst/>
          </a:prstGeom>
          <a:solidFill>
            <a:schemeClr val="accent1"/>
          </a:solidFill>
          <a:ln/>
        </p:spPr>
      </p:sp>
      <p:sp>
        <p:nvSpPr>
          <p:cNvPr id="17" name="Glyph part 346"/>
          <p:cNvSpPr/>
          <p:nvPr/>
        </p:nvSpPr>
        <p:spPr>
          <a:xfrm>
            <a:off x="954816" y="5091684"/>
            <a:ext cx="156911" cy="217261"/>
          </a:xfrm>
          <a:prstGeom prst="ellipse">
            <a:avLst/>
          </a:prstGeom>
          <a:noFill/>
          <a:ln w="31750">
            <a:solidFill>
              <a:schemeClr val="tx1"/>
            </a:solidFill>
            <a:prstDash val="solid"/>
          </a:ln>
        </p:spPr>
      </p:sp>
      <p:sp>
        <p:nvSpPr>
          <p:cNvPr id="18" name="Glyph part 347"/>
          <p:cNvSpPr/>
          <p:nvPr/>
        </p:nvSpPr>
        <p:spPr>
          <a:xfrm>
            <a:off x="906536" y="5218420"/>
            <a:ext cx="253472" cy="175016"/>
          </a:xfrm>
          <a:prstGeom prst="roundRect">
            <a:avLst>
              <a:gd name="adj" fmla="val 13793"/>
            </a:avLst>
          </a:prstGeom>
          <a:solidFill>
            <a:schemeClr val="tx1"/>
          </a:solidFill>
          <a:ln/>
        </p:spPr>
      </p:sp>
      <p:sp>
        <p:nvSpPr>
          <p:cNvPr id="19" name="Glyph part 348"/>
          <p:cNvSpPr/>
          <p:nvPr/>
        </p:nvSpPr>
        <p:spPr>
          <a:xfrm>
            <a:off x="1009132" y="5272735"/>
            <a:ext cx="48280" cy="48280"/>
          </a:xfrm>
          <a:prstGeom prst="ellipse">
            <a:avLst/>
          </a:prstGeom>
          <a:solidFill>
            <a:schemeClr val="accent1"/>
          </a:solidFill>
          <a:ln/>
        </p:spPr>
      </p:sp>
      <p:sp>
        <p:nvSpPr>
          <p:cNvPr id="20" name="Text 349"/>
          <p:cNvSpPr txBox="1"/>
          <p:nvPr/>
        </p:nvSpPr>
        <p:spPr>
          <a:xfrm>
            <a:off x="1563624" y="4724400"/>
            <a:ext cx="3739896" cy="1036320"/>
          </a:xfrm>
          <a:prstGeom prst="rect">
            <a:avLst/>
          </a:prstGeom>
          <a:noFill/>
          <a:ln/>
        </p:spPr>
        <p:txBody>
          <a:bodyPr wrap="square" lIns="0" tIns="0" rIns="0" bIns="0" rtlCol="0" anchor="ctr"/>
          <a:lstStyle/>
          <a:p>
            <a:pPr indent="0" marL="0">
              <a:buNone/>
            </a:pPr>
            <a:r>
              <a:rPr lang="en-US" sz="1800" b="1" dirty="0">
                <a:solidFill>
                  <a:schemeClr val="tx1"/>
                </a:solidFill>
              </a:rPr>
              <a:t>Lockout and throttles</a:t>
            </a:r>
            <a:endParaRPr lang="en-US" sz="1400" dirty="0"/>
          </a:p>
          <a:p>
            <a:pPr indent="0" marL="0">
              <a:spcBef>
                <a:spcPts val="300"/>
              </a:spcBef>
              <a:buNone/>
            </a:pPr>
            <a:r>
              <a:rPr lang="en-US" sz="1400" dirty="0">
                <a:solidFill>
                  <a:schemeClr val="tx2"/>
                </a:solidFill>
              </a:rPr>
              <a:t>Security headers checked on the deployed site after every deployment, and no secret in the repository</a:t>
            </a:r>
            <a:endParaRPr lang="en-US" sz="1400" dirty="0"/>
          </a:p>
        </p:txBody>
      </p:sp>
      <p:sp>
        <p:nvSpPr>
          <p:cNvPr id="21" name="Card 350"/>
          <p:cNvSpPr/>
          <p:nvPr/>
        </p:nvSpPr>
        <p:spPr>
          <a:xfrm>
            <a:off x="5943600" y="1645920"/>
            <a:ext cx="5790895" cy="4206240"/>
          </a:xfrm>
          <a:prstGeom prst="roundRect">
            <a:avLst>
              <a:gd name="adj" fmla="val 2174"/>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2" name="Text 351"/>
          <p:cNvSpPr txBox="1"/>
          <p:nvPr/>
        </p:nvSpPr>
        <p:spPr>
          <a:xfrm>
            <a:off x="6263640" y="1874520"/>
            <a:ext cx="5150815" cy="384048"/>
          </a:xfrm>
          <a:prstGeom prst="rect">
            <a:avLst/>
          </a:prstGeom>
          <a:noFill/>
          <a:ln/>
        </p:spPr>
        <p:txBody>
          <a:bodyPr wrap="square" lIns="0" tIns="0" rIns="0" bIns="0" rtlCol="0" anchor="t"/>
          <a:lstStyle/>
          <a:p>
            <a:pPr indent="0" marL="0">
              <a:buNone/>
            </a:pPr>
            <a:r>
              <a:rPr lang="en-US" sz="2000" b="1" dirty="0">
                <a:solidFill>
                  <a:schemeClr val="tx1"/>
                </a:solidFill>
              </a:rPr>
              <a:t>44 controls from the design</a:t>
            </a:r>
            <a:endParaRPr lang="en-US" sz="2000" dirty="0"/>
          </a:p>
        </p:txBody>
      </p:sp>
      <p:sp>
        <p:nvSpPr>
          <p:cNvPr id="23" name="Text 352"/>
          <p:cNvSpPr txBox="1"/>
          <p:nvPr/>
        </p:nvSpPr>
        <p:spPr>
          <a:xfrm>
            <a:off x="6263640" y="2267712"/>
            <a:ext cx="5150815" cy="292608"/>
          </a:xfrm>
          <a:prstGeom prst="rect">
            <a:avLst/>
          </a:prstGeom>
          <a:noFill/>
          <a:ln/>
        </p:spPr>
        <p:txBody>
          <a:bodyPr wrap="square" lIns="0" tIns="0" rIns="0" bIns="0" rtlCol="0" anchor="t"/>
          <a:lstStyle/>
          <a:p>
            <a:pPr indent="0" marL="0">
              <a:buNone/>
            </a:pPr>
            <a:r>
              <a:rPr lang="en-US" sz="1400" dirty="0">
                <a:solidFill>
                  <a:schemeClr val="tx2"/>
                </a:solidFill>
              </a:rPr>
              <a:t>Each with its status and the file, test or step that shows it</a:t>
            </a:r>
            <a:endParaRPr lang="en-US" sz="1400" dirty="0"/>
          </a:p>
        </p:txBody>
      </p:sp>
      <p:sp>
        <p:nvSpPr>
          <p:cNvPr id="24" name="Control 353"/>
          <p:cNvSpPr/>
          <p:nvPr/>
        </p:nvSpPr>
        <p:spPr>
          <a:xfrm>
            <a:off x="6263640" y="2670048"/>
            <a:ext cx="338328" cy="338328"/>
          </a:xfrm>
          <a:prstGeom prst="roundRect">
            <a:avLst>
              <a:gd name="adj" fmla="val 13514"/>
            </a:avLst>
          </a:prstGeom>
          <a:solidFill>
            <a:schemeClr val="accent3"/>
          </a:solidFill>
          <a:ln/>
        </p:spPr>
      </p:sp>
      <p:sp>
        <p:nvSpPr>
          <p:cNvPr id="25" name="Control 354"/>
          <p:cNvSpPr/>
          <p:nvPr/>
        </p:nvSpPr>
        <p:spPr>
          <a:xfrm>
            <a:off x="6684264" y="2670048"/>
            <a:ext cx="338328" cy="338328"/>
          </a:xfrm>
          <a:prstGeom prst="roundRect">
            <a:avLst>
              <a:gd name="adj" fmla="val 13514"/>
            </a:avLst>
          </a:prstGeom>
          <a:solidFill>
            <a:schemeClr val="accent3"/>
          </a:solidFill>
          <a:ln/>
        </p:spPr>
      </p:sp>
      <p:sp>
        <p:nvSpPr>
          <p:cNvPr id="26" name="Control 355"/>
          <p:cNvSpPr/>
          <p:nvPr/>
        </p:nvSpPr>
        <p:spPr>
          <a:xfrm>
            <a:off x="7104888" y="2670048"/>
            <a:ext cx="338328" cy="338328"/>
          </a:xfrm>
          <a:prstGeom prst="roundRect">
            <a:avLst>
              <a:gd name="adj" fmla="val 13514"/>
            </a:avLst>
          </a:prstGeom>
          <a:solidFill>
            <a:schemeClr val="accent3"/>
          </a:solidFill>
          <a:ln/>
        </p:spPr>
      </p:sp>
      <p:sp>
        <p:nvSpPr>
          <p:cNvPr id="27" name="Control 356"/>
          <p:cNvSpPr/>
          <p:nvPr/>
        </p:nvSpPr>
        <p:spPr>
          <a:xfrm>
            <a:off x="7525512" y="2670048"/>
            <a:ext cx="338328" cy="338328"/>
          </a:xfrm>
          <a:prstGeom prst="roundRect">
            <a:avLst>
              <a:gd name="adj" fmla="val 13514"/>
            </a:avLst>
          </a:prstGeom>
          <a:solidFill>
            <a:schemeClr val="accent3"/>
          </a:solidFill>
          <a:ln/>
        </p:spPr>
      </p:sp>
      <p:sp>
        <p:nvSpPr>
          <p:cNvPr id="28" name="Control 357"/>
          <p:cNvSpPr/>
          <p:nvPr/>
        </p:nvSpPr>
        <p:spPr>
          <a:xfrm>
            <a:off x="7946136" y="2670048"/>
            <a:ext cx="338328" cy="338328"/>
          </a:xfrm>
          <a:prstGeom prst="roundRect">
            <a:avLst>
              <a:gd name="adj" fmla="val 13514"/>
            </a:avLst>
          </a:prstGeom>
          <a:solidFill>
            <a:schemeClr val="accent3"/>
          </a:solidFill>
          <a:ln/>
        </p:spPr>
      </p:sp>
      <p:sp>
        <p:nvSpPr>
          <p:cNvPr id="29" name="Control 358"/>
          <p:cNvSpPr/>
          <p:nvPr/>
        </p:nvSpPr>
        <p:spPr>
          <a:xfrm>
            <a:off x="8366760" y="2670048"/>
            <a:ext cx="338328" cy="338328"/>
          </a:xfrm>
          <a:prstGeom prst="roundRect">
            <a:avLst>
              <a:gd name="adj" fmla="val 13514"/>
            </a:avLst>
          </a:prstGeom>
          <a:solidFill>
            <a:schemeClr val="accent3"/>
          </a:solidFill>
          <a:ln/>
        </p:spPr>
      </p:sp>
      <p:sp>
        <p:nvSpPr>
          <p:cNvPr id="30" name="Control 359"/>
          <p:cNvSpPr/>
          <p:nvPr/>
        </p:nvSpPr>
        <p:spPr>
          <a:xfrm>
            <a:off x="8787384" y="2670048"/>
            <a:ext cx="338328" cy="338328"/>
          </a:xfrm>
          <a:prstGeom prst="roundRect">
            <a:avLst>
              <a:gd name="adj" fmla="val 13514"/>
            </a:avLst>
          </a:prstGeom>
          <a:solidFill>
            <a:schemeClr val="accent3"/>
          </a:solidFill>
          <a:ln/>
        </p:spPr>
      </p:sp>
      <p:sp>
        <p:nvSpPr>
          <p:cNvPr id="31" name="Control 360"/>
          <p:cNvSpPr/>
          <p:nvPr/>
        </p:nvSpPr>
        <p:spPr>
          <a:xfrm>
            <a:off x="9208008" y="2670048"/>
            <a:ext cx="338328" cy="338328"/>
          </a:xfrm>
          <a:prstGeom prst="roundRect">
            <a:avLst>
              <a:gd name="adj" fmla="val 13514"/>
            </a:avLst>
          </a:prstGeom>
          <a:solidFill>
            <a:schemeClr val="accent3"/>
          </a:solidFill>
          <a:ln/>
        </p:spPr>
      </p:sp>
      <p:sp>
        <p:nvSpPr>
          <p:cNvPr id="32" name="Control 361"/>
          <p:cNvSpPr/>
          <p:nvPr/>
        </p:nvSpPr>
        <p:spPr>
          <a:xfrm>
            <a:off x="9628632" y="2670048"/>
            <a:ext cx="338328" cy="338328"/>
          </a:xfrm>
          <a:prstGeom prst="roundRect">
            <a:avLst>
              <a:gd name="adj" fmla="val 13514"/>
            </a:avLst>
          </a:prstGeom>
          <a:solidFill>
            <a:schemeClr val="accent3"/>
          </a:solidFill>
          <a:ln/>
        </p:spPr>
      </p:sp>
      <p:sp>
        <p:nvSpPr>
          <p:cNvPr id="33" name="Control 362"/>
          <p:cNvSpPr/>
          <p:nvPr/>
        </p:nvSpPr>
        <p:spPr>
          <a:xfrm>
            <a:off x="10049256" y="2670048"/>
            <a:ext cx="338328" cy="338328"/>
          </a:xfrm>
          <a:prstGeom prst="roundRect">
            <a:avLst>
              <a:gd name="adj" fmla="val 13514"/>
            </a:avLst>
          </a:prstGeom>
          <a:solidFill>
            <a:schemeClr val="accent3"/>
          </a:solidFill>
          <a:ln/>
        </p:spPr>
      </p:sp>
      <p:sp>
        <p:nvSpPr>
          <p:cNvPr id="34" name="Control 363"/>
          <p:cNvSpPr/>
          <p:nvPr/>
        </p:nvSpPr>
        <p:spPr>
          <a:xfrm>
            <a:off x="10469880" y="2670048"/>
            <a:ext cx="338328" cy="338328"/>
          </a:xfrm>
          <a:prstGeom prst="roundRect">
            <a:avLst>
              <a:gd name="adj" fmla="val 13514"/>
            </a:avLst>
          </a:prstGeom>
          <a:solidFill>
            <a:schemeClr val="accent3"/>
          </a:solidFill>
          <a:ln/>
        </p:spPr>
      </p:sp>
      <p:sp>
        <p:nvSpPr>
          <p:cNvPr id="35" name="Control 364"/>
          <p:cNvSpPr/>
          <p:nvPr/>
        </p:nvSpPr>
        <p:spPr>
          <a:xfrm>
            <a:off x="6263640" y="3090672"/>
            <a:ext cx="338328" cy="338328"/>
          </a:xfrm>
          <a:prstGeom prst="roundRect">
            <a:avLst>
              <a:gd name="adj" fmla="val 13514"/>
            </a:avLst>
          </a:prstGeom>
          <a:solidFill>
            <a:schemeClr val="accent3"/>
          </a:solidFill>
          <a:ln/>
        </p:spPr>
      </p:sp>
      <p:sp>
        <p:nvSpPr>
          <p:cNvPr id="36" name="Control 365"/>
          <p:cNvSpPr/>
          <p:nvPr/>
        </p:nvSpPr>
        <p:spPr>
          <a:xfrm>
            <a:off x="6684264" y="3090672"/>
            <a:ext cx="338328" cy="338328"/>
          </a:xfrm>
          <a:prstGeom prst="roundRect">
            <a:avLst>
              <a:gd name="adj" fmla="val 13514"/>
            </a:avLst>
          </a:prstGeom>
          <a:solidFill>
            <a:schemeClr val="accent3"/>
          </a:solidFill>
          <a:ln/>
        </p:spPr>
      </p:sp>
      <p:sp>
        <p:nvSpPr>
          <p:cNvPr id="37" name="Control 366"/>
          <p:cNvSpPr/>
          <p:nvPr/>
        </p:nvSpPr>
        <p:spPr>
          <a:xfrm>
            <a:off x="7104888" y="3090672"/>
            <a:ext cx="338328" cy="338328"/>
          </a:xfrm>
          <a:prstGeom prst="roundRect">
            <a:avLst>
              <a:gd name="adj" fmla="val 13514"/>
            </a:avLst>
          </a:prstGeom>
          <a:solidFill>
            <a:schemeClr val="accent3"/>
          </a:solidFill>
          <a:ln/>
        </p:spPr>
      </p:sp>
      <p:sp>
        <p:nvSpPr>
          <p:cNvPr id="38" name="Control 367"/>
          <p:cNvSpPr/>
          <p:nvPr/>
        </p:nvSpPr>
        <p:spPr>
          <a:xfrm>
            <a:off x="7525512" y="3090672"/>
            <a:ext cx="338328" cy="338328"/>
          </a:xfrm>
          <a:prstGeom prst="roundRect">
            <a:avLst>
              <a:gd name="adj" fmla="val 13514"/>
            </a:avLst>
          </a:prstGeom>
          <a:solidFill>
            <a:schemeClr val="accent3"/>
          </a:solidFill>
          <a:ln/>
        </p:spPr>
      </p:sp>
      <p:sp>
        <p:nvSpPr>
          <p:cNvPr id="39" name="Control 368"/>
          <p:cNvSpPr/>
          <p:nvPr/>
        </p:nvSpPr>
        <p:spPr>
          <a:xfrm>
            <a:off x="7946136" y="3090672"/>
            <a:ext cx="338328" cy="338328"/>
          </a:xfrm>
          <a:prstGeom prst="roundRect">
            <a:avLst>
              <a:gd name="adj" fmla="val 13514"/>
            </a:avLst>
          </a:prstGeom>
          <a:solidFill>
            <a:schemeClr val="accent3"/>
          </a:solidFill>
          <a:ln/>
        </p:spPr>
      </p:sp>
      <p:sp>
        <p:nvSpPr>
          <p:cNvPr id="40" name="Control 369"/>
          <p:cNvSpPr/>
          <p:nvPr/>
        </p:nvSpPr>
        <p:spPr>
          <a:xfrm>
            <a:off x="8366760" y="3090672"/>
            <a:ext cx="338328" cy="338328"/>
          </a:xfrm>
          <a:prstGeom prst="roundRect">
            <a:avLst>
              <a:gd name="adj" fmla="val 13514"/>
            </a:avLst>
          </a:prstGeom>
          <a:solidFill>
            <a:schemeClr val="accent3"/>
          </a:solidFill>
          <a:ln/>
        </p:spPr>
      </p:sp>
      <p:sp>
        <p:nvSpPr>
          <p:cNvPr id="41" name="Control 370"/>
          <p:cNvSpPr/>
          <p:nvPr/>
        </p:nvSpPr>
        <p:spPr>
          <a:xfrm>
            <a:off x="8787384" y="3090672"/>
            <a:ext cx="338328" cy="338328"/>
          </a:xfrm>
          <a:prstGeom prst="roundRect">
            <a:avLst>
              <a:gd name="adj" fmla="val 13514"/>
            </a:avLst>
          </a:prstGeom>
          <a:solidFill>
            <a:schemeClr val="accent3"/>
          </a:solidFill>
          <a:ln/>
        </p:spPr>
      </p:sp>
      <p:sp>
        <p:nvSpPr>
          <p:cNvPr id="42" name="Control 371"/>
          <p:cNvSpPr/>
          <p:nvPr/>
        </p:nvSpPr>
        <p:spPr>
          <a:xfrm>
            <a:off x="9208008" y="3090672"/>
            <a:ext cx="338328" cy="338328"/>
          </a:xfrm>
          <a:prstGeom prst="roundRect">
            <a:avLst>
              <a:gd name="adj" fmla="val 13514"/>
            </a:avLst>
          </a:prstGeom>
          <a:solidFill>
            <a:schemeClr val="accent3"/>
          </a:solidFill>
          <a:ln/>
        </p:spPr>
      </p:sp>
      <p:sp>
        <p:nvSpPr>
          <p:cNvPr id="43" name="Control 372"/>
          <p:cNvSpPr/>
          <p:nvPr/>
        </p:nvSpPr>
        <p:spPr>
          <a:xfrm>
            <a:off x="9628632" y="3090672"/>
            <a:ext cx="338328" cy="338328"/>
          </a:xfrm>
          <a:prstGeom prst="roundRect">
            <a:avLst>
              <a:gd name="adj" fmla="val 13514"/>
            </a:avLst>
          </a:prstGeom>
          <a:solidFill>
            <a:schemeClr val="accent3"/>
          </a:solidFill>
          <a:ln/>
        </p:spPr>
      </p:sp>
      <p:sp>
        <p:nvSpPr>
          <p:cNvPr id="44" name="Control 373"/>
          <p:cNvSpPr/>
          <p:nvPr/>
        </p:nvSpPr>
        <p:spPr>
          <a:xfrm>
            <a:off x="10049256" y="3090672"/>
            <a:ext cx="338328" cy="338328"/>
          </a:xfrm>
          <a:prstGeom prst="roundRect">
            <a:avLst>
              <a:gd name="adj" fmla="val 13514"/>
            </a:avLst>
          </a:prstGeom>
          <a:solidFill>
            <a:schemeClr val="accent3"/>
          </a:solidFill>
          <a:ln/>
        </p:spPr>
      </p:sp>
      <p:sp>
        <p:nvSpPr>
          <p:cNvPr id="45" name="Control 374"/>
          <p:cNvSpPr/>
          <p:nvPr/>
        </p:nvSpPr>
        <p:spPr>
          <a:xfrm>
            <a:off x="10469880" y="3090672"/>
            <a:ext cx="338328" cy="338328"/>
          </a:xfrm>
          <a:prstGeom prst="roundRect">
            <a:avLst>
              <a:gd name="adj" fmla="val 13514"/>
            </a:avLst>
          </a:prstGeom>
          <a:solidFill>
            <a:schemeClr val="accent3"/>
          </a:solidFill>
          <a:ln/>
        </p:spPr>
      </p:sp>
      <p:sp>
        <p:nvSpPr>
          <p:cNvPr id="46" name="Control 375"/>
          <p:cNvSpPr/>
          <p:nvPr/>
        </p:nvSpPr>
        <p:spPr>
          <a:xfrm>
            <a:off x="6263640" y="3511296"/>
            <a:ext cx="338328" cy="338328"/>
          </a:xfrm>
          <a:prstGeom prst="roundRect">
            <a:avLst>
              <a:gd name="adj" fmla="val 13514"/>
            </a:avLst>
          </a:prstGeom>
          <a:solidFill>
            <a:schemeClr val="accent3"/>
          </a:solidFill>
          <a:ln/>
        </p:spPr>
      </p:sp>
      <p:sp>
        <p:nvSpPr>
          <p:cNvPr id="47" name="Control 376"/>
          <p:cNvSpPr/>
          <p:nvPr/>
        </p:nvSpPr>
        <p:spPr>
          <a:xfrm>
            <a:off x="6684264" y="3511296"/>
            <a:ext cx="338328" cy="338328"/>
          </a:xfrm>
          <a:prstGeom prst="roundRect">
            <a:avLst>
              <a:gd name="adj" fmla="val 13514"/>
            </a:avLst>
          </a:prstGeom>
          <a:solidFill>
            <a:schemeClr val="accent3"/>
          </a:solidFill>
          <a:ln/>
        </p:spPr>
      </p:sp>
      <p:sp>
        <p:nvSpPr>
          <p:cNvPr id="48" name="Control 377"/>
          <p:cNvSpPr/>
          <p:nvPr/>
        </p:nvSpPr>
        <p:spPr>
          <a:xfrm>
            <a:off x="7104888" y="3511296"/>
            <a:ext cx="338328" cy="338328"/>
          </a:xfrm>
          <a:prstGeom prst="roundRect">
            <a:avLst>
              <a:gd name="adj" fmla="val 13514"/>
            </a:avLst>
          </a:prstGeom>
          <a:solidFill>
            <a:schemeClr val="accent3"/>
          </a:solidFill>
          <a:ln/>
        </p:spPr>
      </p:sp>
      <p:sp>
        <p:nvSpPr>
          <p:cNvPr id="49" name="Control 378"/>
          <p:cNvSpPr/>
          <p:nvPr/>
        </p:nvSpPr>
        <p:spPr>
          <a:xfrm>
            <a:off x="7525512" y="3511296"/>
            <a:ext cx="338328" cy="338328"/>
          </a:xfrm>
          <a:prstGeom prst="roundRect">
            <a:avLst>
              <a:gd name="adj" fmla="val 13514"/>
            </a:avLst>
          </a:prstGeom>
          <a:solidFill>
            <a:schemeClr val="accent3"/>
          </a:solidFill>
          <a:ln/>
        </p:spPr>
      </p:sp>
      <p:sp>
        <p:nvSpPr>
          <p:cNvPr id="50" name="Control 379"/>
          <p:cNvSpPr/>
          <p:nvPr/>
        </p:nvSpPr>
        <p:spPr>
          <a:xfrm>
            <a:off x="7946136" y="3511296"/>
            <a:ext cx="338328" cy="338328"/>
          </a:xfrm>
          <a:prstGeom prst="roundRect">
            <a:avLst>
              <a:gd name="adj" fmla="val 13514"/>
            </a:avLst>
          </a:prstGeom>
          <a:solidFill>
            <a:schemeClr val="accent3"/>
          </a:solidFill>
          <a:ln/>
        </p:spPr>
      </p:sp>
      <p:sp>
        <p:nvSpPr>
          <p:cNvPr id="51" name="Control 380"/>
          <p:cNvSpPr/>
          <p:nvPr/>
        </p:nvSpPr>
        <p:spPr>
          <a:xfrm>
            <a:off x="8366760" y="3511296"/>
            <a:ext cx="338328" cy="338328"/>
          </a:xfrm>
          <a:prstGeom prst="roundRect">
            <a:avLst>
              <a:gd name="adj" fmla="val 13514"/>
            </a:avLst>
          </a:prstGeom>
          <a:solidFill>
            <a:schemeClr val="accent3"/>
          </a:solidFill>
          <a:ln/>
        </p:spPr>
      </p:sp>
      <p:sp>
        <p:nvSpPr>
          <p:cNvPr id="52" name="Control 381"/>
          <p:cNvSpPr/>
          <p:nvPr/>
        </p:nvSpPr>
        <p:spPr>
          <a:xfrm>
            <a:off x="8787384" y="3511296"/>
            <a:ext cx="338328" cy="338328"/>
          </a:xfrm>
          <a:prstGeom prst="roundRect">
            <a:avLst>
              <a:gd name="adj" fmla="val 13514"/>
            </a:avLst>
          </a:prstGeom>
          <a:solidFill>
            <a:schemeClr val="accent3"/>
          </a:solidFill>
          <a:ln/>
        </p:spPr>
      </p:sp>
      <p:sp>
        <p:nvSpPr>
          <p:cNvPr id="53" name="Control 382"/>
          <p:cNvSpPr/>
          <p:nvPr/>
        </p:nvSpPr>
        <p:spPr>
          <a:xfrm>
            <a:off x="9208008" y="3511296"/>
            <a:ext cx="338328" cy="338328"/>
          </a:xfrm>
          <a:prstGeom prst="roundRect">
            <a:avLst>
              <a:gd name="adj" fmla="val 13514"/>
            </a:avLst>
          </a:prstGeom>
          <a:solidFill>
            <a:schemeClr val="accent3"/>
          </a:solidFill>
          <a:ln/>
        </p:spPr>
      </p:sp>
      <p:sp>
        <p:nvSpPr>
          <p:cNvPr id="54" name="Control 383"/>
          <p:cNvSpPr/>
          <p:nvPr/>
        </p:nvSpPr>
        <p:spPr>
          <a:xfrm>
            <a:off x="9628632" y="3511296"/>
            <a:ext cx="338328" cy="338328"/>
          </a:xfrm>
          <a:prstGeom prst="roundRect">
            <a:avLst>
              <a:gd name="adj" fmla="val 13514"/>
            </a:avLst>
          </a:prstGeom>
          <a:solidFill>
            <a:schemeClr val="accent3"/>
          </a:solidFill>
          <a:ln/>
        </p:spPr>
      </p:sp>
      <p:sp>
        <p:nvSpPr>
          <p:cNvPr id="55" name="Control 384"/>
          <p:cNvSpPr/>
          <p:nvPr/>
        </p:nvSpPr>
        <p:spPr>
          <a:xfrm>
            <a:off x="10049256" y="3511296"/>
            <a:ext cx="338328" cy="338328"/>
          </a:xfrm>
          <a:prstGeom prst="roundRect">
            <a:avLst>
              <a:gd name="adj" fmla="val 13514"/>
            </a:avLst>
          </a:prstGeom>
          <a:solidFill>
            <a:schemeClr val="accent5"/>
          </a:solidFill>
          <a:ln/>
        </p:spPr>
      </p:sp>
      <p:sp>
        <p:nvSpPr>
          <p:cNvPr id="56" name="Control 385"/>
          <p:cNvSpPr/>
          <p:nvPr/>
        </p:nvSpPr>
        <p:spPr>
          <a:xfrm>
            <a:off x="10469880" y="3511296"/>
            <a:ext cx="338328" cy="338328"/>
          </a:xfrm>
          <a:prstGeom prst="roundRect">
            <a:avLst>
              <a:gd name="adj" fmla="val 13514"/>
            </a:avLst>
          </a:prstGeom>
          <a:solidFill>
            <a:schemeClr val="accent5"/>
          </a:solidFill>
          <a:ln/>
        </p:spPr>
      </p:sp>
      <p:sp>
        <p:nvSpPr>
          <p:cNvPr id="57" name="Control 386"/>
          <p:cNvSpPr/>
          <p:nvPr/>
        </p:nvSpPr>
        <p:spPr>
          <a:xfrm>
            <a:off x="6263640" y="3931920"/>
            <a:ext cx="338328" cy="338328"/>
          </a:xfrm>
          <a:prstGeom prst="roundRect">
            <a:avLst>
              <a:gd name="adj" fmla="val 13514"/>
            </a:avLst>
          </a:prstGeom>
          <a:solidFill>
            <a:schemeClr val="accent5"/>
          </a:solidFill>
          <a:ln/>
        </p:spPr>
      </p:sp>
      <p:sp>
        <p:nvSpPr>
          <p:cNvPr id="58" name="Control 387"/>
          <p:cNvSpPr/>
          <p:nvPr/>
        </p:nvSpPr>
        <p:spPr>
          <a:xfrm>
            <a:off x="6684264" y="3931920"/>
            <a:ext cx="338328" cy="338328"/>
          </a:xfrm>
          <a:prstGeom prst="roundRect">
            <a:avLst>
              <a:gd name="adj" fmla="val 13514"/>
            </a:avLst>
          </a:prstGeom>
          <a:solidFill>
            <a:schemeClr val="accent5"/>
          </a:solidFill>
          <a:ln/>
        </p:spPr>
      </p:sp>
      <p:sp>
        <p:nvSpPr>
          <p:cNvPr id="59" name="Control 388"/>
          <p:cNvSpPr/>
          <p:nvPr/>
        </p:nvSpPr>
        <p:spPr>
          <a:xfrm>
            <a:off x="7104888" y="3931920"/>
            <a:ext cx="338328" cy="338328"/>
          </a:xfrm>
          <a:prstGeom prst="roundRect">
            <a:avLst>
              <a:gd name="adj" fmla="val 13514"/>
            </a:avLst>
          </a:prstGeom>
          <a:solidFill>
            <a:schemeClr val="accent5"/>
          </a:solidFill>
          <a:ln/>
        </p:spPr>
      </p:sp>
      <p:sp>
        <p:nvSpPr>
          <p:cNvPr id="60" name="Control 389"/>
          <p:cNvSpPr/>
          <p:nvPr/>
        </p:nvSpPr>
        <p:spPr>
          <a:xfrm>
            <a:off x="7525512" y="3931920"/>
            <a:ext cx="338328" cy="338328"/>
          </a:xfrm>
          <a:prstGeom prst="roundRect">
            <a:avLst>
              <a:gd name="adj" fmla="val 13514"/>
            </a:avLst>
          </a:prstGeom>
          <a:solidFill>
            <a:schemeClr val="accent5"/>
          </a:solidFill>
          <a:ln/>
        </p:spPr>
      </p:sp>
      <p:sp>
        <p:nvSpPr>
          <p:cNvPr id="61" name="Control 390"/>
          <p:cNvSpPr/>
          <p:nvPr/>
        </p:nvSpPr>
        <p:spPr>
          <a:xfrm>
            <a:off x="7946136" y="3931920"/>
            <a:ext cx="338328" cy="338328"/>
          </a:xfrm>
          <a:prstGeom prst="roundRect">
            <a:avLst>
              <a:gd name="adj" fmla="val 13514"/>
            </a:avLst>
          </a:prstGeom>
          <a:solidFill>
            <a:schemeClr val="accent4"/>
          </a:solidFill>
          <a:ln/>
        </p:spPr>
      </p:sp>
      <p:sp>
        <p:nvSpPr>
          <p:cNvPr id="62" name="Control 391"/>
          <p:cNvSpPr/>
          <p:nvPr/>
        </p:nvSpPr>
        <p:spPr>
          <a:xfrm>
            <a:off x="8366760" y="3931920"/>
            <a:ext cx="338328" cy="338328"/>
          </a:xfrm>
          <a:prstGeom prst="roundRect">
            <a:avLst>
              <a:gd name="adj" fmla="val 13514"/>
            </a:avLst>
          </a:prstGeom>
          <a:solidFill>
            <a:srgbClr val="F1F5F9"/>
          </a:solidFill>
          <a:ln w="12700">
            <a:solidFill>
              <a:srgbClr val="4E5B6F"/>
            </a:solidFill>
            <a:prstDash val="dash"/>
          </a:ln>
        </p:spPr>
      </p:sp>
      <p:sp>
        <p:nvSpPr>
          <p:cNvPr id="63" name="Control 392"/>
          <p:cNvSpPr/>
          <p:nvPr/>
        </p:nvSpPr>
        <p:spPr>
          <a:xfrm>
            <a:off x="8787384" y="3931920"/>
            <a:ext cx="338328" cy="338328"/>
          </a:xfrm>
          <a:prstGeom prst="roundRect">
            <a:avLst>
              <a:gd name="adj" fmla="val 13514"/>
            </a:avLst>
          </a:prstGeom>
          <a:solidFill>
            <a:srgbClr val="F1F5F9"/>
          </a:solidFill>
          <a:ln w="12700">
            <a:solidFill>
              <a:srgbClr val="4E5B6F"/>
            </a:solidFill>
            <a:prstDash val="dash"/>
          </a:ln>
        </p:spPr>
      </p:sp>
      <p:sp>
        <p:nvSpPr>
          <p:cNvPr id="64" name="Control 393"/>
          <p:cNvSpPr/>
          <p:nvPr/>
        </p:nvSpPr>
        <p:spPr>
          <a:xfrm>
            <a:off x="9208008" y="3931920"/>
            <a:ext cx="338328" cy="338328"/>
          </a:xfrm>
          <a:prstGeom prst="roundRect">
            <a:avLst>
              <a:gd name="adj" fmla="val 13514"/>
            </a:avLst>
          </a:prstGeom>
          <a:solidFill>
            <a:srgbClr val="F1F5F9"/>
          </a:solidFill>
          <a:ln w="12700">
            <a:solidFill>
              <a:srgbClr val="4E5B6F"/>
            </a:solidFill>
            <a:prstDash val="dash"/>
          </a:ln>
        </p:spPr>
      </p:sp>
      <p:sp>
        <p:nvSpPr>
          <p:cNvPr id="65" name="Control 394"/>
          <p:cNvSpPr/>
          <p:nvPr/>
        </p:nvSpPr>
        <p:spPr>
          <a:xfrm>
            <a:off x="9628632" y="3931920"/>
            <a:ext cx="338328" cy="338328"/>
          </a:xfrm>
          <a:prstGeom prst="roundRect">
            <a:avLst>
              <a:gd name="adj" fmla="val 13514"/>
            </a:avLst>
          </a:prstGeom>
          <a:solidFill>
            <a:srgbClr val="F1F5F9"/>
          </a:solidFill>
          <a:ln w="12700">
            <a:solidFill>
              <a:srgbClr val="4E5B6F"/>
            </a:solidFill>
            <a:prstDash val="dash"/>
          </a:ln>
        </p:spPr>
      </p:sp>
      <p:sp>
        <p:nvSpPr>
          <p:cNvPr id="66" name="Control 395"/>
          <p:cNvSpPr/>
          <p:nvPr/>
        </p:nvSpPr>
        <p:spPr>
          <a:xfrm>
            <a:off x="10049256" y="3931920"/>
            <a:ext cx="338328" cy="338328"/>
          </a:xfrm>
          <a:prstGeom prst="roundRect">
            <a:avLst>
              <a:gd name="adj" fmla="val 13514"/>
            </a:avLst>
          </a:prstGeom>
          <a:solidFill>
            <a:srgbClr val="F1F5F9"/>
          </a:solidFill>
          <a:ln w="12700">
            <a:solidFill>
              <a:srgbClr val="4E5B6F"/>
            </a:solidFill>
            <a:prstDash val="dash"/>
          </a:ln>
        </p:spPr>
      </p:sp>
      <p:sp>
        <p:nvSpPr>
          <p:cNvPr id="67" name="Control 396"/>
          <p:cNvSpPr/>
          <p:nvPr/>
        </p:nvSpPr>
        <p:spPr>
          <a:xfrm>
            <a:off x="10469880" y="3931920"/>
            <a:ext cx="338328" cy="338328"/>
          </a:xfrm>
          <a:prstGeom prst="roundRect">
            <a:avLst>
              <a:gd name="adj" fmla="val 13514"/>
            </a:avLst>
          </a:prstGeom>
          <a:solidFill>
            <a:srgbClr val="F1F5F9"/>
          </a:solidFill>
          <a:ln w="12700">
            <a:solidFill>
              <a:srgbClr val="4E5B6F"/>
            </a:solidFill>
            <a:prstDash val="dash"/>
          </a:ln>
        </p:spPr>
      </p:sp>
      <p:sp>
        <p:nvSpPr>
          <p:cNvPr id="68" name="Legend key 397"/>
          <p:cNvSpPr/>
          <p:nvPr/>
        </p:nvSpPr>
        <p:spPr>
          <a:xfrm>
            <a:off x="6263640" y="4544568"/>
            <a:ext cx="201168" cy="201168"/>
          </a:xfrm>
          <a:prstGeom prst="roundRect">
            <a:avLst>
              <a:gd name="adj" fmla="val 18182"/>
            </a:avLst>
          </a:prstGeom>
          <a:solidFill>
            <a:schemeClr val="accent3"/>
          </a:solidFill>
          <a:ln/>
        </p:spPr>
      </p:sp>
      <p:sp>
        <p:nvSpPr>
          <p:cNvPr id="69" name="Text 398"/>
          <p:cNvSpPr txBox="1"/>
          <p:nvPr/>
        </p:nvSpPr>
        <p:spPr>
          <a:xfrm>
            <a:off x="6574536" y="4498848"/>
            <a:ext cx="1920240" cy="292608"/>
          </a:xfrm>
          <a:prstGeom prst="rect">
            <a:avLst/>
          </a:prstGeom>
          <a:noFill/>
          <a:ln/>
        </p:spPr>
        <p:txBody>
          <a:bodyPr wrap="square" lIns="0" tIns="0" rIns="0" bIns="0" rtlCol="0" anchor="ctr"/>
          <a:lstStyle/>
          <a:p>
            <a:pPr indent="0" marL="0">
              <a:buNone/>
            </a:pPr>
            <a:r>
              <a:rPr lang="en-US" sz="1400" dirty="0">
                <a:solidFill>
                  <a:schemeClr val="tx1"/>
                </a:solidFill>
              </a:rPr>
              <a:t>31 in place</a:t>
            </a:r>
            <a:endParaRPr lang="en-US" sz="1400" dirty="0"/>
          </a:p>
        </p:txBody>
      </p:sp>
      <p:sp>
        <p:nvSpPr>
          <p:cNvPr id="70" name="Legend key 399"/>
          <p:cNvSpPr/>
          <p:nvPr/>
        </p:nvSpPr>
        <p:spPr>
          <a:xfrm>
            <a:off x="8641080" y="4544568"/>
            <a:ext cx="201168" cy="201168"/>
          </a:xfrm>
          <a:prstGeom prst="roundRect">
            <a:avLst>
              <a:gd name="adj" fmla="val 18182"/>
            </a:avLst>
          </a:prstGeom>
          <a:solidFill>
            <a:schemeClr val="accent5"/>
          </a:solidFill>
          <a:ln/>
        </p:spPr>
      </p:sp>
      <p:sp>
        <p:nvSpPr>
          <p:cNvPr id="71" name="Text 400"/>
          <p:cNvSpPr txBox="1"/>
          <p:nvPr/>
        </p:nvSpPr>
        <p:spPr>
          <a:xfrm>
            <a:off x="8951976" y="4498848"/>
            <a:ext cx="1920240" cy="292608"/>
          </a:xfrm>
          <a:prstGeom prst="rect">
            <a:avLst/>
          </a:prstGeom>
          <a:noFill/>
          <a:ln/>
        </p:spPr>
        <p:txBody>
          <a:bodyPr wrap="square" lIns="0" tIns="0" rIns="0" bIns="0" rtlCol="0" anchor="ctr"/>
          <a:lstStyle/>
          <a:p>
            <a:pPr indent="0" marL="0">
              <a:buNone/>
            </a:pPr>
            <a:r>
              <a:rPr lang="en-US" sz="1400" dirty="0">
                <a:solidFill>
                  <a:schemeClr val="tx1"/>
                </a:solidFill>
              </a:rPr>
              <a:t>6 partly in place</a:t>
            </a:r>
            <a:endParaRPr lang="en-US" sz="1400" dirty="0"/>
          </a:p>
        </p:txBody>
      </p:sp>
      <p:sp>
        <p:nvSpPr>
          <p:cNvPr id="72" name="Legend key 401"/>
          <p:cNvSpPr/>
          <p:nvPr/>
        </p:nvSpPr>
        <p:spPr>
          <a:xfrm>
            <a:off x="6263640" y="4873752"/>
            <a:ext cx="201168" cy="201168"/>
          </a:xfrm>
          <a:prstGeom prst="roundRect">
            <a:avLst>
              <a:gd name="adj" fmla="val 18182"/>
            </a:avLst>
          </a:prstGeom>
          <a:solidFill>
            <a:schemeClr val="accent4"/>
          </a:solidFill>
          <a:ln/>
        </p:spPr>
      </p:sp>
      <p:sp>
        <p:nvSpPr>
          <p:cNvPr id="73" name="Text 402"/>
          <p:cNvSpPr txBox="1"/>
          <p:nvPr/>
        </p:nvSpPr>
        <p:spPr>
          <a:xfrm>
            <a:off x="6574536" y="4828032"/>
            <a:ext cx="1920240" cy="292608"/>
          </a:xfrm>
          <a:prstGeom prst="rect">
            <a:avLst/>
          </a:prstGeom>
          <a:noFill/>
          <a:ln/>
        </p:spPr>
        <p:txBody>
          <a:bodyPr wrap="square" lIns="0" tIns="0" rIns="0" bIns="0" rtlCol="0" anchor="ctr"/>
          <a:lstStyle/>
          <a:p>
            <a:pPr indent="0" marL="0">
              <a:buNone/>
            </a:pPr>
            <a:r>
              <a:rPr lang="en-US" sz="1400" dirty="0">
                <a:solidFill>
                  <a:schemeClr val="tx1"/>
                </a:solidFill>
              </a:rPr>
              <a:t>1 replaced</a:t>
            </a:r>
            <a:endParaRPr lang="en-US" sz="1400" dirty="0"/>
          </a:p>
        </p:txBody>
      </p:sp>
      <p:sp>
        <p:nvSpPr>
          <p:cNvPr id="74" name="Legend key 403"/>
          <p:cNvSpPr/>
          <p:nvPr/>
        </p:nvSpPr>
        <p:spPr>
          <a:xfrm>
            <a:off x="8641080" y="4873752"/>
            <a:ext cx="201168" cy="201168"/>
          </a:xfrm>
          <a:prstGeom prst="roundRect">
            <a:avLst>
              <a:gd name="adj" fmla="val 18182"/>
            </a:avLst>
          </a:prstGeom>
          <a:solidFill>
            <a:srgbClr val="F1F5F9"/>
          </a:solidFill>
          <a:ln w="12700">
            <a:solidFill>
              <a:srgbClr val="4E5B6F"/>
            </a:solidFill>
            <a:prstDash val="dash"/>
          </a:ln>
        </p:spPr>
      </p:sp>
      <p:sp>
        <p:nvSpPr>
          <p:cNvPr id="75" name="Text 404"/>
          <p:cNvSpPr txBox="1"/>
          <p:nvPr/>
        </p:nvSpPr>
        <p:spPr>
          <a:xfrm>
            <a:off x="8951976" y="4828032"/>
            <a:ext cx="1920240" cy="292608"/>
          </a:xfrm>
          <a:prstGeom prst="rect">
            <a:avLst/>
          </a:prstGeom>
          <a:noFill/>
          <a:ln/>
        </p:spPr>
        <p:txBody>
          <a:bodyPr wrap="square" lIns="0" tIns="0" rIns="0" bIns="0" rtlCol="0" anchor="ctr"/>
          <a:lstStyle/>
          <a:p>
            <a:pPr indent="0" marL="0">
              <a:buNone/>
            </a:pPr>
            <a:r>
              <a:rPr lang="en-US" sz="1400" dirty="0">
                <a:solidFill>
                  <a:schemeClr val="tx1"/>
                </a:solidFill>
              </a:rPr>
              <a:t>6 planned</a:t>
            </a:r>
            <a:endParaRPr lang="en-US" sz="1400" dirty="0"/>
          </a:p>
        </p:txBody>
      </p:sp>
      <p:sp>
        <p:nvSpPr>
          <p:cNvPr id="76" name="Text 405"/>
          <p:cNvSpPr txBox="1"/>
          <p:nvPr/>
        </p:nvSpPr>
        <p:spPr>
          <a:xfrm>
            <a:off x="6263640" y="5212080"/>
            <a:ext cx="4544568" cy="411480"/>
          </a:xfrm>
          <a:prstGeom prst="rect">
            <a:avLst/>
          </a:prstGeom>
          <a:noFill/>
          <a:ln/>
        </p:spPr>
        <p:txBody>
          <a:bodyPr wrap="square" lIns="0" tIns="0" rIns="0" bIns="0" rtlCol="0" anchor="t"/>
          <a:lstStyle/>
          <a:p>
            <a:pPr indent="0" marL="0">
              <a:buNone/>
            </a:pPr>
            <a:r>
              <a:rPr lang="en-US" sz="1200" b="1" dirty="0">
                <a:solidFill>
                  <a:schemeClr val="tx1"/>
                </a:solidFill>
              </a:rPr>
              <a:t>Still open: </a:t>
            </a:r>
            <a:pPr indent="0" marL="0">
              <a:buNone/>
            </a:pPr>
            <a:r>
              <a:rPr lang="en-US" sz="1200" dirty="0">
                <a:solidFill>
                  <a:schemeClr val="tx2"/>
                </a:solidFill>
              </a:rPr>
              <a:t>the photograph upload, edge filtering, alerting and the incident procedure</a:t>
            </a:r>
            <a:endParaRPr lang="en-US" sz="12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3  |  HOW IT IS DELIVERED</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Pipeline and branching, a live look at GitHub</a:t>
            </a:r>
            <a:endParaRPr lang="en-US" sz="3600" dirty="0"/>
          </a:p>
        </p:txBody>
      </p:sp>
      <p:sp>
        <p:nvSpPr>
          <p:cNvPr id="5" name="Glyph part 406"/>
          <p:cNvSpPr/>
          <p:nvPr/>
        </p:nvSpPr>
        <p:spPr>
          <a:xfrm>
            <a:off x="1005840" y="1792224"/>
            <a:ext cx="146304" cy="146304"/>
          </a:xfrm>
          <a:prstGeom prst="ellipse">
            <a:avLst/>
          </a:prstGeom>
          <a:solidFill>
            <a:schemeClr val="accent2"/>
          </a:solidFill>
          <a:ln/>
        </p:spPr>
      </p:sp>
      <p:sp>
        <p:nvSpPr>
          <p:cNvPr id="6" name="Text 407"/>
          <p:cNvSpPr txBox="1"/>
          <p:nvPr/>
        </p:nvSpPr>
        <p:spPr>
          <a:xfrm>
            <a:off x="1243584" y="1737360"/>
            <a:ext cx="292608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EVERY CHANGE</a:t>
            </a:r>
            <a:endParaRPr lang="en-US" sz="1200" dirty="0"/>
          </a:p>
        </p:txBody>
      </p:sp>
      <p:sp>
        <p:nvSpPr>
          <p:cNvPr id="7" name="Glyph part 408"/>
          <p:cNvSpPr/>
          <p:nvPr/>
        </p:nvSpPr>
        <p:spPr>
          <a:xfrm>
            <a:off x="4821814" y="1792224"/>
            <a:ext cx="146304" cy="146304"/>
          </a:xfrm>
          <a:prstGeom prst="ellipse">
            <a:avLst/>
          </a:prstGeom>
          <a:solidFill>
            <a:schemeClr val="tx1"/>
          </a:solidFill>
          <a:ln/>
        </p:spPr>
      </p:sp>
      <p:sp>
        <p:nvSpPr>
          <p:cNvPr id="8" name="Text 409"/>
          <p:cNvSpPr txBox="1"/>
          <p:nvPr/>
        </p:nvSpPr>
        <p:spPr>
          <a:xfrm>
            <a:off x="5059558" y="1737360"/>
            <a:ext cx="292608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EVERY RELEASE</a:t>
            </a:r>
            <a:endParaRPr lang="en-US" sz="1200" dirty="0"/>
          </a:p>
        </p:txBody>
      </p:sp>
      <p:sp>
        <p:nvSpPr>
          <p:cNvPr id="9" name="Glyph part 410"/>
          <p:cNvSpPr/>
          <p:nvPr/>
        </p:nvSpPr>
        <p:spPr>
          <a:xfrm>
            <a:off x="7683795" y="1792224"/>
            <a:ext cx="146304" cy="146304"/>
          </a:xfrm>
          <a:prstGeom prst="ellipse">
            <a:avLst/>
          </a:prstGeom>
          <a:solidFill>
            <a:schemeClr val="accent1"/>
          </a:solidFill>
          <a:ln/>
        </p:spPr>
      </p:sp>
      <p:sp>
        <p:nvSpPr>
          <p:cNvPr id="10" name="Text 411"/>
          <p:cNvSpPr txBox="1"/>
          <p:nvPr/>
        </p:nvSpPr>
        <p:spPr>
          <a:xfrm>
            <a:off x="7921539" y="1737360"/>
            <a:ext cx="292608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PRODUCTION DEPLOYMENT</a:t>
            </a:r>
            <a:endParaRPr lang="en-US" sz="1200" dirty="0"/>
          </a:p>
        </p:txBody>
      </p:sp>
      <p:sp>
        <p:nvSpPr>
          <p:cNvPr id="11" name="Track 412"/>
          <p:cNvSpPr/>
          <p:nvPr/>
        </p:nvSpPr>
        <p:spPr>
          <a:xfrm>
            <a:off x="1325880" y="3154680"/>
            <a:ext cx="953994" cy="0"/>
          </a:xfrm>
          <a:prstGeom prst="line">
            <a:avLst/>
          </a:prstGeom>
          <a:noFill/>
          <a:ln w="63500">
            <a:solidFill>
              <a:schemeClr val="accent2"/>
            </a:solidFill>
            <a:prstDash val="solid"/>
          </a:ln>
        </p:spPr>
      </p:sp>
      <p:sp>
        <p:nvSpPr>
          <p:cNvPr id="12" name="Track 413"/>
          <p:cNvSpPr/>
          <p:nvPr/>
        </p:nvSpPr>
        <p:spPr>
          <a:xfrm>
            <a:off x="2279874" y="3154680"/>
            <a:ext cx="953994" cy="0"/>
          </a:xfrm>
          <a:prstGeom prst="line">
            <a:avLst/>
          </a:prstGeom>
          <a:noFill/>
          <a:ln w="63500">
            <a:solidFill>
              <a:schemeClr val="accent2"/>
            </a:solidFill>
            <a:prstDash val="solid"/>
          </a:ln>
        </p:spPr>
      </p:sp>
      <p:sp>
        <p:nvSpPr>
          <p:cNvPr id="13" name="Track 414"/>
          <p:cNvSpPr/>
          <p:nvPr/>
        </p:nvSpPr>
        <p:spPr>
          <a:xfrm>
            <a:off x="3233867" y="3154680"/>
            <a:ext cx="953994" cy="0"/>
          </a:xfrm>
          <a:prstGeom prst="line">
            <a:avLst/>
          </a:prstGeom>
          <a:noFill/>
          <a:ln w="63500">
            <a:solidFill>
              <a:schemeClr val="accent2"/>
            </a:solidFill>
            <a:prstDash val="solid"/>
          </a:ln>
        </p:spPr>
      </p:sp>
      <p:sp>
        <p:nvSpPr>
          <p:cNvPr id="14" name="Track 415"/>
          <p:cNvSpPr/>
          <p:nvPr/>
        </p:nvSpPr>
        <p:spPr>
          <a:xfrm>
            <a:off x="4187861" y="3154680"/>
            <a:ext cx="953994" cy="0"/>
          </a:xfrm>
          <a:prstGeom prst="line">
            <a:avLst/>
          </a:prstGeom>
          <a:noFill/>
          <a:ln w="63500">
            <a:solidFill>
              <a:schemeClr val="tx1"/>
            </a:solidFill>
            <a:prstDash val="solid"/>
          </a:ln>
        </p:spPr>
      </p:sp>
      <p:sp>
        <p:nvSpPr>
          <p:cNvPr id="15" name="Track 416"/>
          <p:cNvSpPr/>
          <p:nvPr/>
        </p:nvSpPr>
        <p:spPr>
          <a:xfrm>
            <a:off x="5141854" y="3154680"/>
            <a:ext cx="953994" cy="0"/>
          </a:xfrm>
          <a:prstGeom prst="line">
            <a:avLst/>
          </a:prstGeom>
          <a:noFill/>
          <a:ln w="63500">
            <a:solidFill>
              <a:schemeClr val="tx1"/>
            </a:solidFill>
            <a:prstDash val="solid"/>
          </a:ln>
        </p:spPr>
      </p:sp>
      <p:sp>
        <p:nvSpPr>
          <p:cNvPr id="16" name="Track 417"/>
          <p:cNvSpPr/>
          <p:nvPr/>
        </p:nvSpPr>
        <p:spPr>
          <a:xfrm>
            <a:off x="6095848" y="3154680"/>
            <a:ext cx="953994" cy="0"/>
          </a:xfrm>
          <a:prstGeom prst="line">
            <a:avLst/>
          </a:prstGeom>
          <a:noFill/>
          <a:ln w="63500">
            <a:solidFill>
              <a:schemeClr val="tx1"/>
            </a:solidFill>
            <a:prstDash val="solid"/>
          </a:ln>
        </p:spPr>
      </p:sp>
      <p:sp>
        <p:nvSpPr>
          <p:cNvPr id="17" name="Track 418"/>
          <p:cNvSpPr/>
          <p:nvPr/>
        </p:nvSpPr>
        <p:spPr>
          <a:xfrm>
            <a:off x="7049841" y="3154680"/>
            <a:ext cx="953994" cy="0"/>
          </a:xfrm>
          <a:prstGeom prst="line">
            <a:avLst/>
          </a:prstGeom>
          <a:noFill/>
          <a:ln w="63500">
            <a:solidFill>
              <a:schemeClr val="accent1"/>
            </a:solidFill>
            <a:prstDash val="solid"/>
          </a:ln>
        </p:spPr>
      </p:sp>
      <p:sp>
        <p:nvSpPr>
          <p:cNvPr id="18" name="Track 419"/>
          <p:cNvSpPr/>
          <p:nvPr/>
        </p:nvSpPr>
        <p:spPr>
          <a:xfrm>
            <a:off x="8003835" y="3154680"/>
            <a:ext cx="953994" cy="0"/>
          </a:xfrm>
          <a:prstGeom prst="line">
            <a:avLst/>
          </a:prstGeom>
          <a:noFill/>
          <a:ln w="63500">
            <a:solidFill>
              <a:schemeClr val="accent1"/>
            </a:solidFill>
            <a:prstDash val="solid"/>
          </a:ln>
        </p:spPr>
      </p:sp>
      <p:sp>
        <p:nvSpPr>
          <p:cNvPr id="19" name="Track 420"/>
          <p:cNvSpPr/>
          <p:nvPr/>
        </p:nvSpPr>
        <p:spPr>
          <a:xfrm>
            <a:off x="8957828" y="3154680"/>
            <a:ext cx="953994" cy="0"/>
          </a:xfrm>
          <a:prstGeom prst="line">
            <a:avLst/>
          </a:prstGeom>
          <a:noFill/>
          <a:ln w="63500">
            <a:solidFill>
              <a:schemeClr val="accent1"/>
            </a:solidFill>
            <a:prstDash val="solid"/>
          </a:ln>
        </p:spPr>
      </p:sp>
      <p:sp>
        <p:nvSpPr>
          <p:cNvPr id="20" name="Track 421"/>
          <p:cNvSpPr/>
          <p:nvPr/>
        </p:nvSpPr>
        <p:spPr>
          <a:xfrm>
            <a:off x="9911822" y="3154680"/>
            <a:ext cx="953994" cy="0"/>
          </a:xfrm>
          <a:prstGeom prst="line">
            <a:avLst/>
          </a:prstGeom>
          <a:noFill/>
          <a:ln w="63500">
            <a:solidFill>
              <a:schemeClr val="accent1"/>
            </a:solidFill>
            <a:prstDash val="solid"/>
          </a:ln>
        </p:spPr>
      </p:sp>
      <p:sp>
        <p:nvSpPr>
          <p:cNvPr id="21" name="Station 422"/>
          <p:cNvSpPr/>
          <p:nvPr/>
        </p:nvSpPr>
        <p:spPr>
          <a:xfrm>
            <a:off x="1161288" y="2990088"/>
            <a:ext cx="329184" cy="329184"/>
          </a:xfrm>
          <a:prstGeom prst="ellipse">
            <a:avLst/>
          </a:prstGeom>
          <a:solidFill>
            <a:schemeClr val="accent2"/>
          </a:solidFill>
          <a:ln w="31750">
            <a:solidFill>
              <a:schemeClr val="bg2"/>
            </a:solidFill>
            <a:prstDash val="solid"/>
          </a:ln>
        </p:spPr>
      </p:sp>
      <p:sp>
        <p:nvSpPr>
          <p:cNvPr id="22" name="Text 423"/>
          <p:cNvSpPr txBox="1"/>
          <p:nvPr/>
        </p:nvSpPr>
        <p:spPr>
          <a:xfrm>
            <a:off x="475488" y="2112264"/>
            <a:ext cx="1700784" cy="658368"/>
          </a:xfrm>
          <a:prstGeom prst="rect">
            <a:avLst/>
          </a:prstGeom>
          <a:noFill/>
          <a:ln/>
        </p:spPr>
        <p:txBody>
          <a:bodyPr wrap="square" lIns="0" tIns="0" rIns="0" bIns="0" rtlCol="0" anchor="b"/>
          <a:lstStyle/>
          <a:p>
            <a:pPr algn="ctr" indent="0" marL="0">
              <a:buNone/>
            </a:pPr>
            <a:r>
              <a:rPr lang="en-US" sz="1400" b="1" dirty="0">
                <a:solidFill>
                  <a:schemeClr val="tx1"/>
                </a:solidFill>
                <a:latin typeface="Consolas" pitchFamily="34" charset="0"/>
                <a:ea typeface="Consolas" pitchFamily="34" charset="-122"/>
                <a:cs typeface="Consolas" pitchFamily="34" charset="-120"/>
              </a:rPr>
              <a:t>feature/nnn-slug</a:t>
            </a:r>
            <a:endParaRPr lang="en-US" sz="1400" dirty="0"/>
          </a:p>
          <a:p>
            <a:pPr algn="ctr" indent="0" marL="0">
              <a:buNone/>
            </a:pPr>
            <a:r>
              <a:rPr lang="en-US" sz="1100" dirty="0">
                <a:solidFill>
                  <a:schemeClr val="tx2"/>
                </a:solidFill>
              </a:rPr>
              <a:t>cut from develop</a:t>
            </a:r>
            <a:endParaRPr lang="en-US" sz="1400" dirty="0"/>
          </a:p>
        </p:txBody>
      </p:sp>
      <p:sp>
        <p:nvSpPr>
          <p:cNvPr id="23" name="Station 424"/>
          <p:cNvSpPr/>
          <p:nvPr/>
        </p:nvSpPr>
        <p:spPr>
          <a:xfrm>
            <a:off x="2115282" y="2990088"/>
            <a:ext cx="329184" cy="329184"/>
          </a:xfrm>
          <a:prstGeom prst="ellipse">
            <a:avLst/>
          </a:prstGeom>
          <a:solidFill>
            <a:schemeClr val="accent2"/>
          </a:solidFill>
          <a:ln w="31750">
            <a:solidFill>
              <a:schemeClr val="bg2"/>
            </a:solidFill>
            <a:prstDash val="solid"/>
          </a:ln>
        </p:spPr>
      </p:sp>
      <p:sp>
        <p:nvSpPr>
          <p:cNvPr id="24" name="Text 425"/>
          <p:cNvSpPr txBox="1"/>
          <p:nvPr/>
        </p:nvSpPr>
        <p:spPr>
          <a:xfrm>
            <a:off x="1429482" y="3538728"/>
            <a:ext cx="1700784" cy="658368"/>
          </a:xfrm>
          <a:prstGeom prst="rect">
            <a:avLst/>
          </a:prstGeom>
          <a:noFill/>
          <a:ln/>
        </p:spPr>
        <p:txBody>
          <a:bodyPr wrap="square" lIns="0" tIns="0" rIns="0" bIns="0" rtlCol="0" anchor="t"/>
          <a:lstStyle/>
          <a:p>
            <a:pPr algn="ctr" indent="0" marL="0">
              <a:buNone/>
            </a:pPr>
            <a:r>
              <a:rPr lang="en-US" sz="1400" b="1" dirty="0">
                <a:solidFill>
                  <a:schemeClr val="tx1"/>
                </a:solidFill>
              </a:rPr>
              <a:t>Pull request</a:t>
            </a:r>
            <a:endParaRPr lang="en-US" sz="1400" dirty="0"/>
          </a:p>
          <a:p>
            <a:pPr algn="ctr" indent="0" marL="0">
              <a:buNone/>
            </a:pPr>
            <a:r>
              <a:rPr lang="en-US" sz="1100" dirty="0">
                <a:solidFill>
                  <a:schemeClr val="tx2"/>
                </a:solidFill>
              </a:rPr>
              <a:t>fast and integration checks</a:t>
            </a:r>
            <a:endParaRPr lang="en-US" sz="1400" dirty="0"/>
          </a:p>
        </p:txBody>
      </p:sp>
      <p:sp>
        <p:nvSpPr>
          <p:cNvPr id="25" name="Station 426"/>
          <p:cNvSpPr/>
          <p:nvPr/>
        </p:nvSpPr>
        <p:spPr>
          <a:xfrm>
            <a:off x="3069275" y="2990088"/>
            <a:ext cx="329184" cy="329184"/>
          </a:xfrm>
          <a:prstGeom prst="ellipse">
            <a:avLst/>
          </a:prstGeom>
          <a:solidFill>
            <a:schemeClr val="accent2"/>
          </a:solidFill>
          <a:ln w="31750">
            <a:solidFill>
              <a:schemeClr val="bg2"/>
            </a:solidFill>
            <a:prstDash val="solid"/>
          </a:ln>
        </p:spPr>
      </p:sp>
      <p:sp>
        <p:nvSpPr>
          <p:cNvPr id="26" name="Text 427"/>
          <p:cNvSpPr txBox="1"/>
          <p:nvPr/>
        </p:nvSpPr>
        <p:spPr>
          <a:xfrm>
            <a:off x="2383475" y="2112264"/>
            <a:ext cx="1700784" cy="658368"/>
          </a:xfrm>
          <a:prstGeom prst="rect">
            <a:avLst/>
          </a:prstGeom>
          <a:noFill/>
          <a:ln/>
        </p:spPr>
        <p:txBody>
          <a:bodyPr wrap="square" lIns="0" tIns="0" rIns="0" bIns="0" rtlCol="0" anchor="b"/>
          <a:lstStyle/>
          <a:p>
            <a:pPr algn="ctr" indent="0" marL="0">
              <a:buNone/>
            </a:pPr>
            <a:r>
              <a:rPr lang="en-US" sz="1400" b="1" dirty="0">
                <a:solidFill>
                  <a:schemeClr val="tx1"/>
                </a:solidFill>
                <a:latin typeface="Consolas" pitchFamily="34" charset="0"/>
                <a:ea typeface="Consolas" pitchFamily="34" charset="-122"/>
                <a:cs typeface="Consolas" pitchFamily="34" charset="-120"/>
              </a:rPr>
              <a:t>develop</a:t>
            </a:r>
            <a:endParaRPr lang="en-US" sz="1400" dirty="0"/>
          </a:p>
          <a:p>
            <a:pPr algn="ctr" indent="0" marL="0">
              <a:buNone/>
            </a:pPr>
            <a:r>
              <a:rPr lang="en-US" sz="1100" dirty="0">
                <a:solidFill>
                  <a:schemeClr val="tx2"/>
                </a:solidFill>
              </a:rPr>
              <a:t>merge commit only</a:t>
            </a:r>
            <a:endParaRPr lang="en-US" sz="1400" dirty="0"/>
          </a:p>
        </p:txBody>
      </p:sp>
      <p:sp>
        <p:nvSpPr>
          <p:cNvPr id="27" name="Station 428"/>
          <p:cNvSpPr/>
          <p:nvPr/>
        </p:nvSpPr>
        <p:spPr>
          <a:xfrm>
            <a:off x="4023269" y="2990088"/>
            <a:ext cx="329184" cy="329184"/>
          </a:xfrm>
          <a:prstGeom prst="ellipse">
            <a:avLst/>
          </a:prstGeom>
          <a:solidFill>
            <a:schemeClr val="accent2"/>
          </a:solidFill>
          <a:ln w="31750">
            <a:solidFill>
              <a:schemeClr val="bg2"/>
            </a:solidFill>
            <a:prstDash val="solid"/>
          </a:ln>
        </p:spPr>
      </p:sp>
      <p:sp>
        <p:nvSpPr>
          <p:cNvPr id="28" name="Text 429"/>
          <p:cNvSpPr txBox="1"/>
          <p:nvPr/>
        </p:nvSpPr>
        <p:spPr>
          <a:xfrm>
            <a:off x="3337469" y="3538728"/>
            <a:ext cx="1700784" cy="658368"/>
          </a:xfrm>
          <a:prstGeom prst="rect">
            <a:avLst/>
          </a:prstGeom>
          <a:noFill/>
          <a:ln/>
        </p:spPr>
        <p:txBody>
          <a:bodyPr wrap="square" lIns="0" tIns="0" rIns="0" bIns="0" rtlCol="0" anchor="t"/>
          <a:lstStyle/>
          <a:p>
            <a:pPr algn="ctr" indent="0" marL="0">
              <a:buNone/>
            </a:pPr>
            <a:r>
              <a:rPr lang="en-US" sz="1400" b="1" dirty="0">
                <a:solidFill>
                  <a:schemeClr val="tx1"/>
                </a:solidFill>
              </a:rPr>
              <a:t>Staging</a:t>
            </a:r>
            <a:endParaRPr lang="en-US" sz="1400" dirty="0"/>
          </a:p>
          <a:p>
            <a:pPr algn="ctr" indent="0" marL="0">
              <a:buNone/>
            </a:pPr>
            <a:r>
              <a:rPr lang="en-US" sz="1100" dirty="0">
                <a:solidFill>
                  <a:schemeClr val="tx2"/>
                </a:solidFill>
              </a:rPr>
              <a:t>headers, TLS, journeys</a:t>
            </a:r>
            <a:endParaRPr lang="en-US" sz="1400" dirty="0"/>
          </a:p>
        </p:txBody>
      </p:sp>
      <p:sp>
        <p:nvSpPr>
          <p:cNvPr id="29" name="Station 430"/>
          <p:cNvSpPr/>
          <p:nvPr/>
        </p:nvSpPr>
        <p:spPr>
          <a:xfrm>
            <a:off x="4977262" y="2990088"/>
            <a:ext cx="329184" cy="329184"/>
          </a:xfrm>
          <a:prstGeom prst="ellipse">
            <a:avLst/>
          </a:prstGeom>
          <a:solidFill>
            <a:schemeClr val="tx1"/>
          </a:solidFill>
          <a:ln w="31750">
            <a:solidFill>
              <a:schemeClr val="bg2"/>
            </a:solidFill>
            <a:prstDash val="solid"/>
          </a:ln>
        </p:spPr>
      </p:sp>
      <p:sp>
        <p:nvSpPr>
          <p:cNvPr id="30" name="Text 431"/>
          <p:cNvSpPr txBox="1"/>
          <p:nvPr/>
        </p:nvSpPr>
        <p:spPr>
          <a:xfrm>
            <a:off x="4291462" y="2112264"/>
            <a:ext cx="1700784" cy="658368"/>
          </a:xfrm>
          <a:prstGeom prst="rect">
            <a:avLst/>
          </a:prstGeom>
          <a:noFill/>
          <a:ln/>
        </p:spPr>
        <p:txBody>
          <a:bodyPr wrap="square" lIns="0" tIns="0" rIns="0" bIns="0" rtlCol="0" anchor="b"/>
          <a:lstStyle/>
          <a:p>
            <a:pPr algn="ctr" indent="0" marL="0">
              <a:buNone/>
            </a:pPr>
            <a:r>
              <a:rPr lang="en-US" sz="1400" b="1" dirty="0">
                <a:solidFill>
                  <a:schemeClr val="tx1"/>
                </a:solidFill>
                <a:latin typeface="Consolas" pitchFamily="34" charset="0"/>
                <a:ea typeface="Consolas" pitchFamily="34" charset="-122"/>
                <a:cs typeface="Consolas" pitchFamily="34" charset="-120"/>
              </a:rPr>
              <a:t>release/x.y.z</a:t>
            </a:r>
            <a:endParaRPr lang="en-US" sz="1400" dirty="0"/>
          </a:p>
          <a:p>
            <a:pPr algn="ctr" indent="0" marL="0">
              <a:buNone/>
            </a:pPr>
            <a:r>
              <a:rPr lang="en-US" sz="1100" dirty="0">
                <a:solidFill>
                  <a:schemeClr val="tx2"/>
                </a:solidFill>
              </a:rPr>
              <a:t>versions and changelog</a:t>
            </a:r>
            <a:endParaRPr lang="en-US" sz="1400" dirty="0"/>
          </a:p>
        </p:txBody>
      </p:sp>
      <p:sp>
        <p:nvSpPr>
          <p:cNvPr id="31" name="Station 432"/>
          <p:cNvSpPr/>
          <p:nvPr/>
        </p:nvSpPr>
        <p:spPr>
          <a:xfrm>
            <a:off x="5931256" y="2990088"/>
            <a:ext cx="329184" cy="329184"/>
          </a:xfrm>
          <a:prstGeom prst="ellipse">
            <a:avLst/>
          </a:prstGeom>
          <a:solidFill>
            <a:schemeClr val="tx1"/>
          </a:solidFill>
          <a:ln w="31750">
            <a:solidFill>
              <a:schemeClr val="bg2"/>
            </a:solidFill>
            <a:prstDash val="solid"/>
          </a:ln>
        </p:spPr>
      </p:sp>
      <p:sp>
        <p:nvSpPr>
          <p:cNvPr id="32" name="Text 433"/>
          <p:cNvSpPr txBox="1"/>
          <p:nvPr/>
        </p:nvSpPr>
        <p:spPr>
          <a:xfrm>
            <a:off x="5245456" y="3538728"/>
            <a:ext cx="1700784" cy="658368"/>
          </a:xfrm>
          <a:prstGeom prst="rect">
            <a:avLst/>
          </a:prstGeom>
          <a:noFill/>
          <a:ln/>
        </p:spPr>
        <p:txBody>
          <a:bodyPr wrap="square" lIns="0" tIns="0" rIns="0" bIns="0" rtlCol="0" anchor="t"/>
          <a:lstStyle/>
          <a:p>
            <a:pPr algn="ctr" indent="0" marL="0">
              <a:buNone/>
            </a:pPr>
            <a:r>
              <a:rPr lang="en-US" sz="1400" b="1" dirty="0">
                <a:solidFill>
                  <a:schemeClr val="tx1"/>
                </a:solidFill>
                <a:latin typeface="Consolas" pitchFamily="34" charset="0"/>
                <a:ea typeface="Consolas" pitchFamily="34" charset="-122"/>
                <a:cs typeface="Consolas" pitchFamily="34" charset="-120"/>
              </a:rPr>
              <a:t>main</a:t>
            </a:r>
            <a:endParaRPr lang="en-US" sz="1400" dirty="0"/>
          </a:p>
          <a:p>
            <a:pPr algn="ctr" indent="0" marL="0">
              <a:buNone/>
            </a:pPr>
            <a:r>
              <a:rPr lang="en-US" sz="1100" dirty="0">
                <a:solidFill>
                  <a:schemeClr val="tx2"/>
                </a:solidFill>
              </a:rPr>
              <a:t>pull request and checks</a:t>
            </a:r>
            <a:endParaRPr lang="en-US" sz="1400" dirty="0"/>
          </a:p>
        </p:txBody>
      </p:sp>
      <p:sp>
        <p:nvSpPr>
          <p:cNvPr id="33" name="Station 434"/>
          <p:cNvSpPr/>
          <p:nvPr/>
        </p:nvSpPr>
        <p:spPr>
          <a:xfrm>
            <a:off x="6885249" y="2990088"/>
            <a:ext cx="329184" cy="329184"/>
          </a:xfrm>
          <a:prstGeom prst="ellipse">
            <a:avLst/>
          </a:prstGeom>
          <a:solidFill>
            <a:schemeClr val="tx1"/>
          </a:solidFill>
          <a:ln w="31750">
            <a:solidFill>
              <a:schemeClr val="bg2"/>
            </a:solidFill>
            <a:prstDash val="solid"/>
          </a:ln>
        </p:spPr>
      </p:sp>
      <p:sp>
        <p:nvSpPr>
          <p:cNvPr id="34" name="Text 435"/>
          <p:cNvSpPr txBox="1"/>
          <p:nvPr/>
        </p:nvSpPr>
        <p:spPr>
          <a:xfrm>
            <a:off x="6199449" y="2112264"/>
            <a:ext cx="1700784" cy="658368"/>
          </a:xfrm>
          <a:prstGeom prst="rect">
            <a:avLst/>
          </a:prstGeom>
          <a:noFill/>
          <a:ln/>
        </p:spPr>
        <p:txBody>
          <a:bodyPr wrap="square" lIns="0" tIns="0" rIns="0" bIns="0" rtlCol="0" anchor="b"/>
          <a:lstStyle/>
          <a:p>
            <a:pPr algn="ctr" indent="0" marL="0">
              <a:buNone/>
            </a:pPr>
            <a:r>
              <a:rPr lang="en-US" sz="1400" b="1" dirty="0">
                <a:solidFill>
                  <a:schemeClr val="tx1"/>
                </a:solidFill>
              </a:rPr>
              <a:t>Tag vX.Y.Z</a:t>
            </a:r>
            <a:endParaRPr lang="en-US" sz="1400" dirty="0"/>
          </a:p>
          <a:p>
            <a:pPr algn="ctr" indent="0" marL="0">
              <a:buNone/>
            </a:pPr>
            <a:r>
              <a:rPr lang="en-US" sz="1100" dirty="0">
                <a:solidFill>
                  <a:schemeClr val="tx2"/>
                </a:solidFill>
              </a:rPr>
              <a:t>a tag is never moved</a:t>
            </a:r>
            <a:endParaRPr lang="en-US" sz="1400" dirty="0"/>
          </a:p>
        </p:txBody>
      </p:sp>
      <p:sp>
        <p:nvSpPr>
          <p:cNvPr id="35" name="Icon check 436"/>
          <p:cNvSpPr/>
          <p:nvPr/>
        </p:nvSpPr>
        <p:spPr>
          <a:xfrm>
            <a:off x="7747803" y="2898648"/>
            <a:ext cx="512064" cy="512064"/>
          </a:xfrm>
          <a:prstGeom prst="ellipse">
            <a:avLst/>
          </a:prstGeom>
          <a:solidFill>
            <a:schemeClr val="accent1"/>
          </a:solidFill>
          <a:ln/>
        </p:spPr>
      </p:sp>
      <p:sp>
        <p:nvSpPr>
          <p:cNvPr id="36" name="Glyph stroke 438"/>
          <p:cNvSpPr/>
          <p:nvPr/>
        </p:nvSpPr>
        <p:spPr>
          <a:xfrm>
            <a:off x="7895687" y="3159596"/>
            <a:ext cx="78653" cy="78653"/>
          </a:xfrm>
          <a:prstGeom prst="line">
            <a:avLst/>
          </a:prstGeom>
          <a:noFill/>
          <a:ln w="44450">
            <a:solidFill>
              <a:schemeClr val="tx1"/>
            </a:solidFill>
            <a:prstDash val="solid"/>
          </a:ln>
        </p:spPr>
      </p:sp>
      <p:sp>
        <p:nvSpPr>
          <p:cNvPr id="37" name="Glyph stroke 439"/>
          <p:cNvSpPr/>
          <p:nvPr/>
        </p:nvSpPr>
        <p:spPr>
          <a:xfrm flipV="1">
            <a:off x="7974340" y="3076027"/>
            <a:ext cx="142559" cy="162222"/>
          </a:xfrm>
          <a:prstGeom prst="line">
            <a:avLst/>
          </a:prstGeom>
          <a:noFill/>
          <a:ln w="44450">
            <a:solidFill>
              <a:schemeClr val="tx1"/>
            </a:solidFill>
            <a:prstDash val="solid"/>
          </a:ln>
        </p:spPr>
      </p:sp>
      <p:sp>
        <p:nvSpPr>
          <p:cNvPr id="38" name="Text 440"/>
          <p:cNvSpPr txBox="1"/>
          <p:nvPr/>
        </p:nvSpPr>
        <p:spPr>
          <a:xfrm>
            <a:off x="7153443" y="3538728"/>
            <a:ext cx="1700784" cy="658368"/>
          </a:xfrm>
          <a:prstGeom prst="rect">
            <a:avLst/>
          </a:prstGeom>
          <a:noFill/>
          <a:ln/>
        </p:spPr>
        <p:txBody>
          <a:bodyPr wrap="square" lIns="0" tIns="0" rIns="0" bIns="0" rtlCol="0" anchor="t"/>
          <a:lstStyle/>
          <a:p>
            <a:pPr algn="ctr" indent="0" marL="0">
              <a:buNone/>
            </a:pPr>
            <a:r>
              <a:rPr lang="en-US" sz="1400" b="1" dirty="0">
                <a:solidFill>
                  <a:schemeClr val="tx1"/>
                </a:solidFill>
              </a:rPr>
              <a:t>Approval gate</a:t>
            </a:r>
            <a:endParaRPr lang="en-US" sz="1400" dirty="0"/>
          </a:p>
          <a:p>
            <a:pPr algn="ctr" indent="0" marL="0">
              <a:buNone/>
            </a:pPr>
            <a:r>
              <a:rPr lang="en-US" sz="1100" dirty="0">
                <a:solidFill>
                  <a:schemeClr val="tx2"/>
                </a:solidFill>
              </a:rPr>
              <a:t>waits for me</a:t>
            </a:r>
            <a:endParaRPr lang="en-US" sz="1400" dirty="0"/>
          </a:p>
        </p:txBody>
      </p:sp>
      <p:sp>
        <p:nvSpPr>
          <p:cNvPr id="39" name="Station 441"/>
          <p:cNvSpPr/>
          <p:nvPr/>
        </p:nvSpPr>
        <p:spPr>
          <a:xfrm>
            <a:off x="8793236" y="2990088"/>
            <a:ext cx="329184" cy="329184"/>
          </a:xfrm>
          <a:prstGeom prst="ellipse">
            <a:avLst/>
          </a:prstGeom>
          <a:solidFill>
            <a:schemeClr val="accent1"/>
          </a:solidFill>
          <a:ln w="31750">
            <a:solidFill>
              <a:schemeClr val="bg2"/>
            </a:solidFill>
            <a:prstDash val="solid"/>
          </a:ln>
        </p:spPr>
      </p:sp>
      <p:sp>
        <p:nvSpPr>
          <p:cNvPr id="40" name="Text 442"/>
          <p:cNvSpPr txBox="1"/>
          <p:nvPr/>
        </p:nvSpPr>
        <p:spPr>
          <a:xfrm>
            <a:off x="8107436" y="2112264"/>
            <a:ext cx="1700784" cy="658368"/>
          </a:xfrm>
          <a:prstGeom prst="rect">
            <a:avLst/>
          </a:prstGeom>
          <a:noFill/>
          <a:ln/>
        </p:spPr>
        <p:txBody>
          <a:bodyPr wrap="square" lIns="0" tIns="0" rIns="0" bIns="0" rtlCol="0" anchor="b"/>
          <a:lstStyle/>
          <a:p>
            <a:pPr algn="ctr" indent="0" marL="0">
              <a:buNone/>
            </a:pPr>
            <a:r>
              <a:rPr lang="en-US" sz="1400" b="1" dirty="0">
                <a:solidFill>
                  <a:schemeClr val="tx1"/>
                </a:solidFill>
              </a:rPr>
              <a:t>Candidate</a:t>
            </a:r>
            <a:endParaRPr lang="en-US" sz="1400" dirty="0"/>
          </a:p>
          <a:p>
            <a:pPr algn="ctr" indent="0" marL="0">
              <a:buNone/>
            </a:pPr>
            <a:r>
              <a:rPr lang="en-US" sz="1100" dirty="0">
                <a:solidFill>
                  <a:schemeClr val="tx2"/>
                </a:solidFill>
              </a:rPr>
              <a:t>deployed with no traffic</a:t>
            </a:r>
            <a:endParaRPr lang="en-US" sz="1400" dirty="0"/>
          </a:p>
        </p:txBody>
      </p:sp>
      <p:sp>
        <p:nvSpPr>
          <p:cNvPr id="41" name="Station 443"/>
          <p:cNvSpPr/>
          <p:nvPr/>
        </p:nvSpPr>
        <p:spPr>
          <a:xfrm>
            <a:off x="9747230" y="2990088"/>
            <a:ext cx="329184" cy="329184"/>
          </a:xfrm>
          <a:prstGeom prst="ellipse">
            <a:avLst/>
          </a:prstGeom>
          <a:solidFill>
            <a:schemeClr val="accent1"/>
          </a:solidFill>
          <a:ln w="31750">
            <a:solidFill>
              <a:schemeClr val="bg2"/>
            </a:solidFill>
            <a:prstDash val="solid"/>
          </a:ln>
        </p:spPr>
      </p:sp>
      <p:sp>
        <p:nvSpPr>
          <p:cNvPr id="42" name="Text 444"/>
          <p:cNvSpPr txBox="1"/>
          <p:nvPr/>
        </p:nvSpPr>
        <p:spPr>
          <a:xfrm>
            <a:off x="9061430" y="3538728"/>
            <a:ext cx="1700784" cy="658368"/>
          </a:xfrm>
          <a:prstGeom prst="rect">
            <a:avLst/>
          </a:prstGeom>
          <a:noFill/>
          <a:ln/>
        </p:spPr>
        <p:txBody>
          <a:bodyPr wrap="square" lIns="0" tIns="0" rIns="0" bIns="0" rtlCol="0" anchor="t"/>
          <a:lstStyle/>
          <a:p>
            <a:pPr algn="ctr" indent="0" marL="0">
              <a:buNone/>
            </a:pPr>
            <a:r>
              <a:rPr lang="en-US" sz="1400" b="1" dirty="0">
                <a:solidFill>
                  <a:schemeClr val="tx1"/>
                </a:solidFill>
              </a:rPr>
              <a:t>Smoke test</a:t>
            </a:r>
            <a:endParaRPr lang="en-US" sz="1400" dirty="0"/>
          </a:p>
          <a:p>
            <a:pPr algn="ctr" indent="0" marL="0">
              <a:buNone/>
            </a:pPr>
            <a:r>
              <a:rPr lang="en-US" sz="1100" dirty="0">
                <a:solidFill>
                  <a:schemeClr val="tx2"/>
                </a:solidFill>
              </a:rPr>
              <a:t>of the candidate alone</a:t>
            </a:r>
            <a:endParaRPr lang="en-US" sz="1400" dirty="0"/>
          </a:p>
        </p:txBody>
      </p:sp>
      <p:sp>
        <p:nvSpPr>
          <p:cNvPr id="43" name="Station 445"/>
          <p:cNvSpPr/>
          <p:nvPr/>
        </p:nvSpPr>
        <p:spPr>
          <a:xfrm>
            <a:off x="10701223" y="2990088"/>
            <a:ext cx="329184" cy="329184"/>
          </a:xfrm>
          <a:prstGeom prst="ellipse">
            <a:avLst/>
          </a:prstGeom>
          <a:solidFill>
            <a:schemeClr val="accent1"/>
          </a:solidFill>
          <a:ln w="31750">
            <a:solidFill>
              <a:schemeClr val="bg2"/>
            </a:solidFill>
            <a:prstDash val="solid"/>
          </a:ln>
        </p:spPr>
      </p:sp>
      <p:sp>
        <p:nvSpPr>
          <p:cNvPr id="44" name="Text 446"/>
          <p:cNvSpPr txBox="1"/>
          <p:nvPr/>
        </p:nvSpPr>
        <p:spPr>
          <a:xfrm>
            <a:off x="10015423" y="2112264"/>
            <a:ext cx="1700784" cy="658368"/>
          </a:xfrm>
          <a:prstGeom prst="rect">
            <a:avLst/>
          </a:prstGeom>
          <a:noFill/>
          <a:ln/>
        </p:spPr>
        <p:txBody>
          <a:bodyPr wrap="square" lIns="0" tIns="0" rIns="0" bIns="0" rtlCol="0" anchor="b"/>
          <a:lstStyle/>
          <a:p>
            <a:pPr algn="ctr" indent="0" marL="0">
              <a:buNone/>
            </a:pPr>
            <a:r>
              <a:rPr lang="en-US" sz="1400" b="1" dirty="0">
                <a:solidFill>
                  <a:schemeClr val="tx1"/>
                </a:solidFill>
              </a:rPr>
              <a:t>Traffic shift</a:t>
            </a:r>
            <a:endParaRPr lang="en-US" sz="1400" dirty="0"/>
          </a:p>
          <a:p>
            <a:pPr algn="ctr" indent="0" marL="0">
              <a:buNone/>
            </a:pPr>
            <a:r>
              <a:rPr lang="en-US" sz="1100" dirty="0">
                <a:solidFill>
                  <a:schemeClr val="tx2"/>
                </a:solidFill>
              </a:rPr>
              <a:t>then headers and TLS</a:t>
            </a:r>
            <a:endParaRPr lang="en-US" sz="1400" dirty="0"/>
          </a:p>
        </p:txBody>
      </p:sp>
      <p:sp>
        <p:nvSpPr>
          <p:cNvPr id="45" name="Card 447"/>
          <p:cNvSpPr/>
          <p:nvPr/>
        </p:nvSpPr>
        <p:spPr>
          <a:xfrm>
            <a:off x="457200" y="4315968"/>
            <a:ext cx="2613584" cy="1536192"/>
          </a:xfrm>
          <a:prstGeom prst="roundRect">
            <a:avLst>
              <a:gd name="adj" fmla="val 59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46" name="Icon branch 448"/>
          <p:cNvSpPr/>
          <p:nvPr/>
        </p:nvSpPr>
        <p:spPr>
          <a:xfrm>
            <a:off x="658368" y="4498848"/>
            <a:ext cx="475488" cy="475488"/>
          </a:xfrm>
          <a:prstGeom prst="ellipse">
            <a:avLst/>
          </a:prstGeom>
          <a:solidFill>
            <a:schemeClr val="accent1"/>
          </a:solidFill>
          <a:ln/>
        </p:spPr>
      </p:sp>
      <p:sp>
        <p:nvSpPr>
          <p:cNvPr id="47" name="Glyph stroke 450"/>
          <p:cNvSpPr/>
          <p:nvPr/>
        </p:nvSpPr>
        <p:spPr>
          <a:xfrm>
            <a:off x="834299" y="4651004"/>
            <a:ext cx="0" cy="171176"/>
          </a:xfrm>
          <a:prstGeom prst="line">
            <a:avLst/>
          </a:prstGeom>
          <a:noFill/>
          <a:ln w="28575">
            <a:solidFill>
              <a:schemeClr val="tx1"/>
            </a:solidFill>
            <a:prstDash val="solid"/>
          </a:ln>
        </p:spPr>
      </p:sp>
      <p:sp>
        <p:nvSpPr>
          <p:cNvPr id="48" name="Glyph stroke 451"/>
          <p:cNvSpPr/>
          <p:nvPr/>
        </p:nvSpPr>
        <p:spPr>
          <a:xfrm flipH="1">
            <a:off x="834299" y="4684288"/>
            <a:ext cx="118872" cy="104607"/>
          </a:xfrm>
          <a:prstGeom prst="line">
            <a:avLst/>
          </a:prstGeom>
          <a:noFill/>
          <a:ln w="28575">
            <a:solidFill>
              <a:schemeClr val="tx1"/>
            </a:solidFill>
            <a:prstDash val="solid"/>
          </a:ln>
        </p:spPr>
      </p:sp>
      <p:sp>
        <p:nvSpPr>
          <p:cNvPr id="49" name="Glyph part 452"/>
          <p:cNvSpPr/>
          <p:nvPr/>
        </p:nvSpPr>
        <p:spPr>
          <a:xfrm>
            <a:off x="801014" y="4617720"/>
            <a:ext cx="66568" cy="66568"/>
          </a:xfrm>
          <a:prstGeom prst="ellipse">
            <a:avLst/>
          </a:prstGeom>
          <a:solidFill>
            <a:schemeClr val="tx1"/>
          </a:solidFill>
          <a:ln/>
        </p:spPr>
      </p:sp>
      <p:sp>
        <p:nvSpPr>
          <p:cNvPr id="50" name="Glyph part 453"/>
          <p:cNvSpPr/>
          <p:nvPr/>
        </p:nvSpPr>
        <p:spPr>
          <a:xfrm>
            <a:off x="801014" y="4788896"/>
            <a:ext cx="66568" cy="66568"/>
          </a:xfrm>
          <a:prstGeom prst="ellipse">
            <a:avLst/>
          </a:prstGeom>
          <a:solidFill>
            <a:schemeClr val="tx1"/>
          </a:solidFill>
          <a:ln/>
        </p:spPr>
      </p:sp>
      <p:sp>
        <p:nvSpPr>
          <p:cNvPr id="51" name="Glyph part 454"/>
          <p:cNvSpPr/>
          <p:nvPr/>
        </p:nvSpPr>
        <p:spPr>
          <a:xfrm>
            <a:off x="919886" y="4651004"/>
            <a:ext cx="66568" cy="66568"/>
          </a:xfrm>
          <a:prstGeom prst="ellipse">
            <a:avLst/>
          </a:prstGeom>
          <a:solidFill>
            <a:schemeClr val="tx1"/>
          </a:solidFill>
          <a:ln/>
        </p:spPr>
      </p:sp>
      <p:sp>
        <p:nvSpPr>
          <p:cNvPr id="52" name="Text 455"/>
          <p:cNvSpPr txBox="1"/>
          <p:nvPr/>
        </p:nvSpPr>
        <p:spPr>
          <a:xfrm>
            <a:off x="1261872" y="4498848"/>
            <a:ext cx="1653464" cy="475488"/>
          </a:xfrm>
          <a:prstGeom prst="rect">
            <a:avLst/>
          </a:prstGeom>
          <a:noFill/>
          <a:ln/>
        </p:spPr>
        <p:txBody>
          <a:bodyPr wrap="square" lIns="0" tIns="0" rIns="0" bIns="0" rtlCol="0" anchor="ctr"/>
          <a:lstStyle/>
          <a:p>
            <a:pPr indent="0" marL="0">
              <a:buNone/>
            </a:pPr>
            <a:r>
              <a:rPr lang="en-US" sz="1600" b="1" dirty="0">
                <a:solidFill>
                  <a:schemeClr val="tx1"/>
                </a:solidFill>
              </a:rPr>
              <a:t>Reduced GitFlow</a:t>
            </a:r>
            <a:endParaRPr lang="en-US" sz="1600" dirty="0"/>
          </a:p>
        </p:txBody>
      </p:sp>
      <p:sp>
        <p:nvSpPr>
          <p:cNvPr id="53" name="Text 456"/>
          <p:cNvSpPr txBox="1"/>
          <p:nvPr/>
        </p:nvSpPr>
        <p:spPr>
          <a:xfrm>
            <a:off x="658368" y="5065776"/>
            <a:ext cx="2211248" cy="713232"/>
          </a:xfrm>
          <a:prstGeom prst="rect">
            <a:avLst/>
          </a:prstGeom>
          <a:noFill/>
          <a:ln/>
        </p:spPr>
        <p:txBody>
          <a:bodyPr wrap="square" lIns="0" tIns="0" rIns="0" bIns="0" rtlCol="0" anchor="t"/>
          <a:lstStyle/>
          <a:p>
            <a:pPr indent="0" marL="0">
              <a:buNone/>
            </a:pPr>
            <a:r>
              <a:rPr lang="en-US" sz="1400" dirty="0">
                <a:solidFill>
                  <a:schemeClr val="tx2"/>
                </a:solidFill>
              </a:rPr>
              <a:t>main, develop, feature, docs, test, release and hotfix</a:t>
            </a:r>
            <a:endParaRPr lang="en-US" sz="1400" dirty="0"/>
          </a:p>
        </p:txBody>
      </p:sp>
      <p:sp>
        <p:nvSpPr>
          <p:cNvPr id="54" name="Card 457"/>
          <p:cNvSpPr/>
          <p:nvPr/>
        </p:nvSpPr>
        <p:spPr>
          <a:xfrm>
            <a:off x="3345104" y="4315968"/>
            <a:ext cx="2613584" cy="1536192"/>
          </a:xfrm>
          <a:prstGeom prst="roundRect">
            <a:avLst>
              <a:gd name="adj" fmla="val 59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5" name="Icon check 458"/>
          <p:cNvSpPr/>
          <p:nvPr/>
        </p:nvSpPr>
        <p:spPr>
          <a:xfrm>
            <a:off x="3546272" y="4498848"/>
            <a:ext cx="475488" cy="475488"/>
          </a:xfrm>
          <a:prstGeom prst="ellipse">
            <a:avLst/>
          </a:prstGeom>
          <a:solidFill>
            <a:schemeClr val="accent1"/>
          </a:solidFill>
          <a:ln/>
        </p:spPr>
      </p:sp>
      <p:sp>
        <p:nvSpPr>
          <p:cNvPr id="56" name="Glyph stroke 460"/>
          <p:cNvSpPr/>
          <p:nvPr/>
        </p:nvSpPr>
        <p:spPr>
          <a:xfrm>
            <a:off x="3679408" y="4741347"/>
            <a:ext cx="76078" cy="76078"/>
          </a:xfrm>
          <a:prstGeom prst="line">
            <a:avLst/>
          </a:prstGeom>
          <a:noFill/>
          <a:ln w="44450">
            <a:solidFill>
              <a:schemeClr val="tx1"/>
            </a:solidFill>
            <a:prstDash val="solid"/>
          </a:ln>
        </p:spPr>
      </p:sp>
      <p:sp>
        <p:nvSpPr>
          <p:cNvPr id="57" name="Glyph stroke 461"/>
          <p:cNvSpPr/>
          <p:nvPr/>
        </p:nvSpPr>
        <p:spPr>
          <a:xfrm flipV="1">
            <a:off x="3755487" y="4660514"/>
            <a:ext cx="137892" cy="156911"/>
          </a:xfrm>
          <a:prstGeom prst="line">
            <a:avLst/>
          </a:prstGeom>
          <a:noFill/>
          <a:ln w="44450">
            <a:solidFill>
              <a:schemeClr val="tx1"/>
            </a:solidFill>
            <a:prstDash val="solid"/>
          </a:ln>
        </p:spPr>
      </p:sp>
      <p:sp>
        <p:nvSpPr>
          <p:cNvPr id="58" name="Text 462"/>
          <p:cNvSpPr txBox="1"/>
          <p:nvPr/>
        </p:nvSpPr>
        <p:spPr>
          <a:xfrm>
            <a:off x="4149776" y="4498848"/>
            <a:ext cx="1653464" cy="475488"/>
          </a:xfrm>
          <a:prstGeom prst="rect">
            <a:avLst/>
          </a:prstGeom>
          <a:noFill/>
          <a:ln/>
        </p:spPr>
        <p:txBody>
          <a:bodyPr wrap="square" lIns="0" tIns="0" rIns="0" bIns="0" rtlCol="0" anchor="ctr"/>
          <a:lstStyle/>
          <a:p>
            <a:pPr indent="0" marL="0">
              <a:buNone/>
            </a:pPr>
            <a:r>
              <a:rPr lang="en-US" sz="1600" b="1" dirty="0">
                <a:solidFill>
                  <a:schemeClr val="tx1"/>
                </a:solidFill>
              </a:rPr>
              <a:t>Two kinds of check</a:t>
            </a:r>
            <a:endParaRPr lang="en-US" sz="1600" dirty="0"/>
          </a:p>
        </p:txBody>
      </p:sp>
      <p:sp>
        <p:nvSpPr>
          <p:cNvPr id="59" name="Text 463"/>
          <p:cNvSpPr txBox="1"/>
          <p:nvPr/>
        </p:nvSpPr>
        <p:spPr>
          <a:xfrm>
            <a:off x="3546272" y="5065776"/>
            <a:ext cx="2211248" cy="713232"/>
          </a:xfrm>
          <a:prstGeom prst="rect">
            <a:avLst/>
          </a:prstGeom>
          <a:noFill/>
          <a:ln/>
        </p:spPr>
        <p:txBody>
          <a:bodyPr wrap="square" lIns="0" tIns="0" rIns="0" bIns="0" rtlCol="0" anchor="t"/>
          <a:lstStyle/>
          <a:p>
            <a:pPr indent="0" marL="0">
              <a:buNone/>
            </a:pPr>
            <a:r>
              <a:rPr lang="en-US" sz="1400" dirty="0">
                <a:solidFill>
                  <a:schemeClr val="tx2"/>
                </a:solidFill>
              </a:rPr>
              <a:t>Fast on every push, integration on every pull request</a:t>
            </a:r>
            <a:endParaRPr lang="en-US" sz="1400" dirty="0"/>
          </a:p>
        </p:txBody>
      </p:sp>
      <p:sp>
        <p:nvSpPr>
          <p:cNvPr id="60" name="Card 464"/>
          <p:cNvSpPr/>
          <p:nvPr/>
        </p:nvSpPr>
        <p:spPr>
          <a:xfrm>
            <a:off x="6233008" y="4315968"/>
            <a:ext cx="2613584" cy="1536192"/>
          </a:xfrm>
          <a:prstGeom prst="roundRect">
            <a:avLst>
              <a:gd name="adj" fmla="val 59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1" name="Icon deny 465"/>
          <p:cNvSpPr/>
          <p:nvPr/>
        </p:nvSpPr>
        <p:spPr>
          <a:xfrm>
            <a:off x="6434176" y="4498848"/>
            <a:ext cx="475488" cy="475488"/>
          </a:xfrm>
          <a:prstGeom prst="ellipse">
            <a:avLst/>
          </a:prstGeom>
          <a:solidFill>
            <a:schemeClr val="accent1"/>
          </a:solidFill>
          <a:ln/>
        </p:spPr>
      </p:sp>
      <p:sp>
        <p:nvSpPr>
          <p:cNvPr id="62" name="Glyph part 467"/>
          <p:cNvSpPr/>
          <p:nvPr/>
        </p:nvSpPr>
        <p:spPr>
          <a:xfrm>
            <a:off x="6557802" y="4622475"/>
            <a:ext cx="228234" cy="228234"/>
          </a:xfrm>
          <a:prstGeom prst="noSmoking">
            <a:avLst/>
          </a:prstGeom>
          <a:solidFill>
            <a:schemeClr val="tx1"/>
          </a:solidFill>
          <a:ln/>
        </p:spPr>
      </p:sp>
      <p:sp>
        <p:nvSpPr>
          <p:cNvPr id="63" name="Text 468"/>
          <p:cNvSpPr txBox="1"/>
          <p:nvPr/>
        </p:nvSpPr>
        <p:spPr>
          <a:xfrm>
            <a:off x="7037680" y="4498848"/>
            <a:ext cx="1653464" cy="475488"/>
          </a:xfrm>
          <a:prstGeom prst="rect">
            <a:avLst/>
          </a:prstGeom>
          <a:noFill/>
          <a:ln/>
        </p:spPr>
        <p:txBody>
          <a:bodyPr wrap="square" lIns="0" tIns="0" rIns="0" bIns="0" rtlCol="0" anchor="ctr"/>
          <a:lstStyle/>
          <a:p>
            <a:pPr indent="0" marL="0">
              <a:buNone/>
            </a:pPr>
            <a:r>
              <a:rPr lang="en-US" sz="1600" b="1" dirty="0">
                <a:solidFill>
                  <a:schemeClr val="tx1"/>
                </a:solidFill>
              </a:rPr>
              <a:t>Rulesets</a:t>
            </a:r>
            <a:endParaRPr lang="en-US" sz="1600" dirty="0"/>
          </a:p>
        </p:txBody>
      </p:sp>
      <p:sp>
        <p:nvSpPr>
          <p:cNvPr id="64" name="Text 469"/>
          <p:cNvSpPr txBox="1"/>
          <p:nvPr/>
        </p:nvSpPr>
        <p:spPr>
          <a:xfrm>
            <a:off x="6434176" y="5065776"/>
            <a:ext cx="2211248" cy="713232"/>
          </a:xfrm>
          <a:prstGeom prst="rect">
            <a:avLst/>
          </a:prstGeom>
          <a:noFill/>
          <a:ln/>
        </p:spPr>
        <p:txBody>
          <a:bodyPr wrap="square" lIns="0" tIns="0" rIns="0" bIns="0" rtlCol="0" anchor="t"/>
          <a:lstStyle/>
          <a:p>
            <a:pPr indent="0" marL="0">
              <a:buNone/>
            </a:pPr>
            <a:r>
              <a:rPr lang="en-US" sz="1400" dirty="0">
                <a:solidFill>
                  <a:schemeClr val="tx2"/>
                </a:solidFill>
              </a:rPr>
              <a:t>Two required checks, merge commits only, and no bypass for anyone</a:t>
            </a:r>
            <a:endParaRPr lang="en-US" sz="1400" dirty="0"/>
          </a:p>
        </p:txBody>
      </p:sp>
      <p:sp>
        <p:nvSpPr>
          <p:cNvPr id="65" name="Card 470"/>
          <p:cNvSpPr/>
          <p:nvPr/>
        </p:nvSpPr>
        <p:spPr>
          <a:xfrm>
            <a:off x="9120911" y="4315968"/>
            <a:ext cx="2613584" cy="1536192"/>
          </a:xfrm>
          <a:prstGeom prst="roundRect">
            <a:avLst>
              <a:gd name="adj" fmla="val 595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6" name="Icon browser 471"/>
          <p:cNvSpPr/>
          <p:nvPr/>
        </p:nvSpPr>
        <p:spPr>
          <a:xfrm>
            <a:off x="9322079" y="4498848"/>
            <a:ext cx="475488" cy="475488"/>
          </a:xfrm>
          <a:prstGeom prst="ellipse">
            <a:avLst/>
          </a:prstGeom>
          <a:solidFill>
            <a:schemeClr val="accent1"/>
          </a:solidFill>
          <a:ln/>
        </p:spPr>
      </p:sp>
      <p:sp>
        <p:nvSpPr>
          <p:cNvPr id="67" name="Glyph part 473"/>
          <p:cNvSpPr/>
          <p:nvPr/>
        </p:nvSpPr>
        <p:spPr>
          <a:xfrm>
            <a:off x="9440951" y="4641494"/>
            <a:ext cx="237744" cy="190195"/>
          </a:xfrm>
          <a:prstGeom prst="rect">
            <a:avLst/>
          </a:prstGeom>
          <a:noFill/>
          <a:ln w="28575">
            <a:solidFill>
              <a:schemeClr val="tx1"/>
            </a:solidFill>
            <a:prstDash val="solid"/>
          </a:ln>
        </p:spPr>
      </p:sp>
      <p:sp>
        <p:nvSpPr>
          <p:cNvPr id="68" name="Glyph part 474"/>
          <p:cNvSpPr/>
          <p:nvPr/>
        </p:nvSpPr>
        <p:spPr>
          <a:xfrm>
            <a:off x="9440951" y="4641494"/>
            <a:ext cx="237744" cy="52304"/>
          </a:xfrm>
          <a:prstGeom prst="rect">
            <a:avLst/>
          </a:prstGeom>
          <a:solidFill>
            <a:schemeClr val="tx1"/>
          </a:solidFill>
          <a:ln/>
        </p:spPr>
      </p:sp>
      <p:sp>
        <p:nvSpPr>
          <p:cNvPr id="69" name="Text 475"/>
          <p:cNvSpPr txBox="1"/>
          <p:nvPr/>
        </p:nvSpPr>
        <p:spPr>
          <a:xfrm>
            <a:off x="9925583" y="4498848"/>
            <a:ext cx="1653464" cy="475488"/>
          </a:xfrm>
          <a:prstGeom prst="rect">
            <a:avLst/>
          </a:prstGeom>
          <a:noFill/>
          <a:ln/>
        </p:spPr>
        <p:txBody>
          <a:bodyPr wrap="square" lIns="0" tIns="0" rIns="0" bIns="0" rtlCol="0" anchor="ctr"/>
          <a:lstStyle/>
          <a:p>
            <a:pPr indent="0" marL="0">
              <a:buNone/>
            </a:pPr>
            <a:r>
              <a:rPr lang="en-US" sz="1600" b="1" dirty="0">
                <a:solidFill>
                  <a:schemeClr val="tx1"/>
                </a:solidFill>
              </a:rPr>
              <a:t>After staging</a:t>
            </a:r>
            <a:endParaRPr lang="en-US" sz="1600" dirty="0"/>
          </a:p>
        </p:txBody>
      </p:sp>
      <p:sp>
        <p:nvSpPr>
          <p:cNvPr id="70" name="Text 476"/>
          <p:cNvSpPr txBox="1"/>
          <p:nvPr/>
        </p:nvSpPr>
        <p:spPr>
          <a:xfrm>
            <a:off x="9322079" y="5065776"/>
            <a:ext cx="2211248" cy="713232"/>
          </a:xfrm>
          <a:prstGeom prst="rect">
            <a:avLst/>
          </a:prstGeom>
          <a:noFill/>
          <a:ln/>
        </p:spPr>
        <p:txBody>
          <a:bodyPr wrap="square" lIns="0" tIns="0" rIns="0" bIns="0" rtlCol="0" anchor="t"/>
          <a:lstStyle/>
          <a:p>
            <a:pPr indent="0" marL="0">
              <a:buNone/>
            </a:pPr>
            <a:r>
              <a:rPr lang="en-US" sz="1400" dirty="0">
                <a:solidFill>
                  <a:schemeClr val="tx2"/>
                </a:solidFill>
              </a:rPr>
              <a:t>The header and TLS check and the three journeys in a browser</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3  |  HOW IT IS DELIVERED</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Hosting and the release procedure</a:t>
            </a:r>
            <a:endParaRPr lang="en-US" sz="3600" dirty="0"/>
          </a:p>
        </p:txBody>
      </p:sp>
      <p:sp>
        <p:nvSpPr>
          <p:cNvPr id="5" name="Icon cloud 477"/>
          <p:cNvSpPr/>
          <p:nvPr/>
        </p:nvSpPr>
        <p:spPr>
          <a:xfrm>
            <a:off x="457200" y="1783080"/>
            <a:ext cx="548640" cy="548640"/>
          </a:xfrm>
          <a:prstGeom prst="ellipse">
            <a:avLst/>
          </a:prstGeom>
          <a:solidFill>
            <a:schemeClr val="accent1"/>
          </a:solidFill>
          <a:ln/>
        </p:spPr>
      </p:sp>
      <p:sp>
        <p:nvSpPr>
          <p:cNvPr id="6" name="Glyph part 479"/>
          <p:cNvSpPr/>
          <p:nvPr/>
        </p:nvSpPr>
        <p:spPr>
          <a:xfrm>
            <a:off x="583387" y="2057400"/>
            <a:ext cx="296266" cy="104242"/>
          </a:xfrm>
          <a:prstGeom prst="roundRect">
            <a:avLst>
              <a:gd name="adj" fmla="val 50000"/>
            </a:avLst>
          </a:prstGeom>
          <a:solidFill>
            <a:schemeClr val="tx1"/>
          </a:solidFill>
          <a:ln/>
        </p:spPr>
      </p:sp>
      <p:sp>
        <p:nvSpPr>
          <p:cNvPr id="7" name="Glyph part 480"/>
          <p:cNvSpPr/>
          <p:nvPr/>
        </p:nvSpPr>
        <p:spPr>
          <a:xfrm>
            <a:off x="605333" y="2018995"/>
            <a:ext cx="109728" cy="109728"/>
          </a:xfrm>
          <a:prstGeom prst="ellipse">
            <a:avLst/>
          </a:prstGeom>
          <a:solidFill>
            <a:schemeClr val="tx1"/>
          </a:solidFill>
          <a:ln/>
        </p:spPr>
      </p:sp>
      <p:sp>
        <p:nvSpPr>
          <p:cNvPr id="8" name="Glyph part 481"/>
          <p:cNvSpPr/>
          <p:nvPr/>
        </p:nvSpPr>
        <p:spPr>
          <a:xfrm>
            <a:off x="660197" y="1947672"/>
            <a:ext cx="153619" cy="153619"/>
          </a:xfrm>
          <a:prstGeom prst="ellipse">
            <a:avLst/>
          </a:prstGeom>
          <a:solidFill>
            <a:schemeClr val="tx1"/>
          </a:solidFill>
          <a:ln/>
        </p:spPr>
      </p:sp>
      <p:sp>
        <p:nvSpPr>
          <p:cNvPr id="9" name="Glyph part 482"/>
          <p:cNvSpPr/>
          <p:nvPr/>
        </p:nvSpPr>
        <p:spPr>
          <a:xfrm>
            <a:off x="753466" y="2008022"/>
            <a:ext cx="115214" cy="115214"/>
          </a:xfrm>
          <a:prstGeom prst="ellipse">
            <a:avLst/>
          </a:prstGeom>
          <a:solidFill>
            <a:schemeClr val="tx1"/>
          </a:solidFill>
          <a:ln/>
        </p:spPr>
      </p:sp>
      <p:sp>
        <p:nvSpPr>
          <p:cNvPr id="10" name="Text 483"/>
          <p:cNvSpPr txBox="1"/>
          <p:nvPr/>
        </p:nvSpPr>
        <p:spPr>
          <a:xfrm>
            <a:off x="1234440" y="1737360"/>
            <a:ext cx="4069080" cy="640080"/>
          </a:xfrm>
          <a:prstGeom prst="rect">
            <a:avLst/>
          </a:prstGeom>
          <a:noFill/>
          <a:ln/>
        </p:spPr>
        <p:txBody>
          <a:bodyPr wrap="square" lIns="0" tIns="0" rIns="0" bIns="0" rtlCol="0" anchor="ctr"/>
          <a:lstStyle/>
          <a:p>
            <a:pPr indent="0" marL="0">
              <a:buNone/>
            </a:pPr>
            <a:r>
              <a:rPr lang="en-US" sz="1600" b="1" dirty="0">
                <a:solidFill>
                  <a:schemeClr val="tx1"/>
                </a:solidFill>
              </a:rPr>
              <a:t>Three hosts</a:t>
            </a:r>
            <a:endParaRPr lang="en-US" sz="1400" dirty="0"/>
          </a:p>
          <a:p>
            <a:pPr indent="0" marL="0">
              <a:spcBef>
                <a:spcPts val="300"/>
              </a:spcBef>
              <a:buNone/>
            </a:pPr>
            <a:r>
              <a:rPr lang="en-US" sz="1400" dirty="0">
                <a:solidFill>
                  <a:schemeClr val="tx2"/>
                </a:solidFill>
              </a:rPr>
              <a:t>Vercel for the site, Cloud Run in London for the API, Neon in London for the database</a:t>
            </a:r>
            <a:endParaRPr lang="en-US" sz="1400" dirty="0"/>
          </a:p>
        </p:txBody>
      </p:sp>
      <p:sp>
        <p:nvSpPr>
          <p:cNvPr id="11" name="Icon key 484"/>
          <p:cNvSpPr/>
          <p:nvPr/>
        </p:nvSpPr>
        <p:spPr>
          <a:xfrm>
            <a:off x="457200" y="2804160"/>
            <a:ext cx="548640" cy="548640"/>
          </a:xfrm>
          <a:prstGeom prst="ellipse">
            <a:avLst/>
          </a:prstGeom>
          <a:solidFill>
            <a:schemeClr val="accent1"/>
          </a:solidFill>
          <a:ln/>
        </p:spPr>
      </p:sp>
      <p:sp>
        <p:nvSpPr>
          <p:cNvPr id="12" name="Glyph part 486"/>
          <p:cNvSpPr/>
          <p:nvPr/>
        </p:nvSpPr>
        <p:spPr>
          <a:xfrm>
            <a:off x="594360" y="3023616"/>
            <a:ext cx="109728" cy="109728"/>
          </a:xfrm>
          <a:prstGeom prst="ellipse">
            <a:avLst/>
          </a:prstGeom>
          <a:noFill/>
          <a:ln w="31750">
            <a:solidFill>
              <a:schemeClr val="tx1"/>
            </a:solidFill>
            <a:prstDash val="solid"/>
          </a:ln>
        </p:spPr>
      </p:sp>
      <p:sp>
        <p:nvSpPr>
          <p:cNvPr id="13" name="Glyph stroke 487"/>
          <p:cNvSpPr/>
          <p:nvPr/>
        </p:nvSpPr>
        <p:spPr>
          <a:xfrm>
            <a:off x="704088" y="3078480"/>
            <a:ext cx="164592" cy="0"/>
          </a:xfrm>
          <a:prstGeom prst="line">
            <a:avLst/>
          </a:prstGeom>
          <a:noFill/>
          <a:ln w="31750">
            <a:solidFill>
              <a:schemeClr val="tx1"/>
            </a:solidFill>
            <a:prstDash val="solid"/>
          </a:ln>
        </p:spPr>
      </p:sp>
      <p:sp>
        <p:nvSpPr>
          <p:cNvPr id="14" name="Glyph stroke 488"/>
          <p:cNvSpPr/>
          <p:nvPr/>
        </p:nvSpPr>
        <p:spPr>
          <a:xfrm>
            <a:off x="830275" y="3078480"/>
            <a:ext cx="0" cy="65837"/>
          </a:xfrm>
          <a:prstGeom prst="line">
            <a:avLst/>
          </a:prstGeom>
          <a:noFill/>
          <a:ln w="31750">
            <a:solidFill>
              <a:schemeClr val="tx1"/>
            </a:solidFill>
            <a:prstDash val="solid"/>
          </a:ln>
        </p:spPr>
      </p:sp>
      <p:sp>
        <p:nvSpPr>
          <p:cNvPr id="15" name="Glyph stroke 489"/>
          <p:cNvSpPr/>
          <p:nvPr/>
        </p:nvSpPr>
        <p:spPr>
          <a:xfrm>
            <a:off x="780898" y="3078480"/>
            <a:ext cx="0" cy="49378"/>
          </a:xfrm>
          <a:prstGeom prst="line">
            <a:avLst/>
          </a:prstGeom>
          <a:noFill/>
          <a:ln w="31750">
            <a:solidFill>
              <a:schemeClr val="tx1"/>
            </a:solidFill>
            <a:prstDash val="solid"/>
          </a:ln>
        </p:spPr>
      </p:sp>
      <p:sp>
        <p:nvSpPr>
          <p:cNvPr id="16" name="Text 490"/>
          <p:cNvSpPr txBox="1"/>
          <p:nvPr/>
        </p:nvSpPr>
        <p:spPr>
          <a:xfrm>
            <a:off x="1234440" y="2758440"/>
            <a:ext cx="4069080" cy="640080"/>
          </a:xfrm>
          <a:prstGeom prst="rect">
            <a:avLst/>
          </a:prstGeom>
          <a:noFill/>
          <a:ln/>
        </p:spPr>
        <p:txBody>
          <a:bodyPr wrap="square" lIns="0" tIns="0" rIns="0" bIns="0" rtlCol="0" anchor="ctr"/>
          <a:lstStyle/>
          <a:p>
            <a:pPr indent="0" marL="0">
              <a:buNone/>
            </a:pPr>
            <a:r>
              <a:rPr lang="en-US" sz="1600" b="1" dirty="0">
                <a:solidFill>
                  <a:schemeClr val="tx1"/>
                </a:solidFill>
              </a:rPr>
              <a:t>Keyless deployment</a:t>
            </a:r>
            <a:endParaRPr lang="en-US" sz="1400" dirty="0"/>
          </a:p>
          <a:p>
            <a:pPr indent="0" marL="0">
              <a:spcBef>
                <a:spcPts val="300"/>
              </a:spcBef>
              <a:buNone/>
            </a:pPr>
            <a:r>
              <a:rPr lang="en-US" sz="1400" dirty="0">
                <a:solidFill>
                  <a:schemeClr val="tx2"/>
                </a:solidFill>
              </a:rPr>
              <a:t>Workload Identity Federation, and every secret kept in Secret Manager</a:t>
            </a:r>
            <a:endParaRPr lang="en-US" sz="1400" dirty="0"/>
          </a:p>
        </p:txBody>
      </p:sp>
      <p:sp>
        <p:nvSpPr>
          <p:cNvPr id="17" name="Icon check 491"/>
          <p:cNvSpPr/>
          <p:nvPr/>
        </p:nvSpPr>
        <p:spPr>
          <a:xfrm>
            <a:off x="457200" y="3985260"/>
            <a:ext cx="548640" cy="548640"/>
          </a:xfrm>
          <a:prstGeom prst="ellipse">
            <a:avLst/>
          </a:prstGeom>
          <a:solidFill>
            <a:schemeClr val="accent1"/>
          </a:solidFill>
          <a:ln/>
        </p:spPr>
      </p:sp>
      <p:sp>
        <p:nvSpPr>
          <p:cNvPr id="18" name="Glyph stroke 493"/>
          <p:cNvSpPr/>
          <p:nvPr/>
        </p:nvSpPr>
        <p:spPr>
          <a:xfrm>
            <a:off x="610819" y="4265066"/>
            <a:ext cx="87782" cy="87782"/>
          </a:xfrm>
          <a:prstGeom prst="line">
            <a:avLst/>
          </a:prstGeom>
          <a:noFill/>
          <a:ln w="44450">
            <a:solidFill>
              <a:schemeClr val="tx1"/>
            </a:solidFill>
            <a:prstDash val="solid"/>
          </a:ln>
        </p:spPr>
      </p:sp>
      <p:sp>
        <p:nvSpPr>
          <p:cNvPr id="19" name="Glyph stroke 494"/>
          <p:cNvSpPr/>
          <p:nvPr/>
        </p:nvSpPr>
        <p:spPr>
          <a:xfrm flipV="1">
            <a:off x="698602" y="4171798"/>
            <a:ext cx="159106" cy="181051"/>
          </a:xfrm>
          <a:prstGeom prst="line">
            <a:avLst/>
          </a:prstGeom>
          <a:noFill/>
          <a:ln w="44450">
            <a:solidFill>
              <a:schemeClr val="tx1"/>
            </a:solidFill>
            <a:prstDash val="solid"/>
          </a:ln>
        </p:spPr>
      </p:sp>
      <p:sp>
        <p:nvSpPr>
          <p:cNvPr id="20" name="Text 495"/>
          <p:cNvSpPr txBox="1"/>
          <p:nvPr/>
        </p:nvSpPr>
        <p:spPr>
          <a:xfrm>
            <a:off x="1234440" y="3779520"/>
            <a:ext cx="4069080" cy="960120"/>
          </a:xfrm>
          <a:prstGeom prst="rect">
            <a:avLst/>
          </a:prstGeom>
          <a:noFill/>
          <a:ln/>
        </p:spPr>
        <p:txBody>
          <a:bodyPr wrap="square" lIns="0" tIns="0" rIns="0" bIns="0" rtlCol="0" anchor="ctr"/>
          <a:lstStyle/>
          <a:p>
            <a:pPr indent="0" marL="0">
              <a:buNone/>
            </a:pPr>
            <a:r>
              <a:rPr lang="en-US" sz="1600" b="1" dirty="0">
                <a:solidFill>
                  <a:schemeClr val="tx1"/>
                </a:solidFill>
              </a:rPr>
              <a:t>My approval, then a candidate</a:t>
            </a:r>
            <a:endParaRPr lang="en-US" sz="1400" dirty="0"/>
          </a:p>
          <a:p>
            <a:pPr indent="0" marL="0">
              <a:spcBef>
                <a:spcPts val="300"/>
              </a:spcBef>
              <a:buNone/>
            </a:pPr>
            <a:r>
              <a:rPr lang="en-US" sz="1400" dirty="0">
                <a:solidFill>
                  <a:schemeClr val="tx2"/>
                </a:solidFill>
              </a:rPr>
              <a:t>A release tag waits for my approval, a candidate is smoke tested before any traffic, and headers and TLS are checked last</a:t>
            </a:r>
            <a:endParaRPr lang="en-US" sz="1400" dirty="0"/>
          </a:p>
        </p:txBody>
      </p:sp>
      <p:sp>
        <p:nvSpPr>
          <p:cNvPr id="21" name="Icon shield 496"/>
          <p:cNvSpPr/>
          <p:nvPr/>
        </p:nvSpPr>
        <p:spPr>
          <a:xfrm>
            <a:off x="457200" y="5166360"/>
            <a:ext cx="548640" cy="548640"/>
          </a:xfrm>
          <a:prstGeom prst="ellipse">
            <a:avLst/>
          </a:prstGeom>
          <a:solidFill>
            <a:schemeClr val="accent1"/>
          </a:solidFill>
          <a:ln/>
        </p:spPr>
      </p:sp>
      <p:sp>
        <p:nvSpPr>
          <p:cNvPr id="22" name="Glyph part 498"/>
          <p:cNvSpPr/>
          <p:nvPr/>
        </p:nvSpPr>
        <p:spPr>
          <a:xfrm>
            <a:off x="627278" y="5303520"/>
            <a:ext cx="208483" cy="274320"/>
          </a:xfrm>
          <a:prstGeom prst="flowChartOffpageConnector">
            <a:avLst/>
          </a:prstGeom>
          <a:solidFill>
            <a:schemeClr val="tx1"/>
          </a:solidFill>
          <a:ln/>
        </p:spPr>
      </p:sp>
      <p:sp>
        <p:nvSpPr>
          <p:cNvPr id="23" name="Text 499"/>
          <p:cNvSpPr txBox="1"/>
          <p:nvPr/>
        </p:nvSpPr>
        <p:spPr>
          <a:xfrm>
            <a:off x="1234440" y="5120640"/>
            <a:ext cx="4069080" cy="640080"/>
          </a:xfrm>
          <a:prstGeom prst="rect">
            <a:avLst/>
          </a:prstGeom>
          <a:noFill/>
          <a:ln/>
        </p:spPr>
        <p:txBody>
          <a:bodyPr wrap="square" lIns="0" tIns="0" rIns="0" bIns="0" rtlCol="0" anchor="ctr"/>
          <a:lstStyle/>
          <a:p>
            <a:pPr indent="0" marL="0">
              <a:buNone/>
            </a:pPr>
            <a:r>
              <a:rPr lang="en-US" sz="1600" b="1" dirty="0">
                <a:solidFill>
                  <a:schemeClr val="tx1"/>
                </a:solidFill>
              </a:rPr>
              <a:t>One instance at most</a:t>
            </a:r>
            <a:endParaRPr lang="en-US" sz="1400" dirty="0"/>
          </a:p>
          <a:p>
            <a:pPr indent="0" marL="0">
              <a:spcBef>
                <a:spcPts val="300"/>
              </a:spcBef>
              <a:buNone/>
            </a:pPr>
            <a:r>
              <a:rPr lang="en-US" sz="1400" dirty="0">
                <a:solidFill>
                  <a:schemeClr val="tx2"/>
                </a:solidFill>
              </a:rPr>
              <a:t>With a budget alert, because this runs on a free trial</a:t>
            </a:r>
            <a:endParaRPr lang="en-US" sz="1400" dirty="0"/>
          </a:p>
        </p:txBody>
      </p:sp>
      <p:graphicFrame>
        <p:nvGraphicFramePr>
          <p:cNvPr id="11" name="Staging and production"/>
          <p:cNvGraphicFramePr>
            <a:graphicFrameLocks noGrp="1"/>
          </p:cNvGraphicFramePr>
          <p:nvPr>
            <p:extLst>
              <p:ext uri="{D42A27DB-BD31-4B8C-83A1-F6EECF244321}">
                <p14:modId xmlns:p14="http://schemas.microsoft.com/office/powerpoint/2010/main" val="1579011935"/>
              </p:ext>
            </p:extLst>
          </p:nvPr>
        </p:nvGraphicFramePr>
        <p:xfrm>
          <a:off x="5715000" y="1645920"/>
          <a:ext cx="6019495" cy="914400"/>
        </p:xfrm>
        <a:graphic>
          <a:graphicData uri="http://schemas.openxmlformats.org/drawingml/2006/table">
            <a:tbl>
              <a:tblPr/>
              <a:tblGrid>
                <a:gridCol w="1371600"/>
                <a:gridCol w="1965960"/>
                <a:gridCol w="2681935"/>
              </a:tblGrid>
              <a:tr h="457200">
                <a:tc>
                  <a:txBody>
                    <a:bodyPr/>
                    <a:lstStyle/>
                    <a:p>
                      <a:pPr indent="0" marL="0">
                        <a:buNone/>
                      </a:pP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Staging</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Production</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tx1"/>
                    </a:solidFill>
                  </a:tcPr>
                </a:tc>
              </a:tr>
              <a:tr h="713232">
                <a:tc>
                  <a:txBody>
                    <a:bodyPr/>
                    <a:lstStyle/>
                    <a:p>
                      <a:pPr indent="0" marL="0">
                        <a:buNone/>
                      </a:pPr>
                      <a:r>
                        <a:rPr lang="en-US" sz="1400" b="1" dirty="0">
                          <a:solidFill>
                            <a:schemeClr val="tx2"/>
                          </a:solidFill>
                        </a:rPr>
                        <a:t>Deployed by</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merge into develop</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version tag on main,</a:t>
                      </a:r>
                      <a:endParaRPr lang="en-US" sz="1400" dirty="0"/>
                    </a:p>
                    <a:p>
                      <a:pPr indent="0" marL="0">
                        <a:buNone/>
                      </a:pPr>
                      <a:r>
                        <a:rPr lang="en-US" sz="1400" dirty="0">
                          <a:solidFill>
                            <a:schemeClr val="tx1"/>
                          </a:solidFill>
                        </a:rPr>
                        <a:t>after my approval</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2"/>
                          </a:solidFill>
                        </a:rPr>
                        <a:t>Database</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Neon branch staging</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Neon branch main</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2"/>
                          </a:solidFill>
                        </a:rPr>
                        <a:t>New revision</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Takes traffic at once</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traffic until</a:t>
                      </a:r>
                      <a:endParaRPr lang="en-US" sz="1400" dirty="0"/>
                    </a:p>
                    <a:p>
                      <a:pPr indent="0" marL="0">
                        <a:buNone/>
                      </a:pPr>
                      <a:r>
                        <a:rPr lang="en-US" sz="1400" dirty="0">
                          <a:solidFill>
                            <a:schemeClr val="tx1"/>
                          </a:solidFill>
                        </a:rPr>
                        <a:t>its smoke test passes</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2"/>
                          </a:solidFill>
                        </a:rPr>
                        <a:t>Checked after it</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Smoke test, headers,</a:t>
                      </a:r>
                      <a:endParaRPr lang="en-US" sz="1400" dirty="0"/>
                    </a:p>
                    <a:p>
                      <a:pPr indent="0" marL="0">
                        <a:buNone/>
                      </a:pPr>
                      <a:r>
                        <a:rPr lang="en-US" sz="1400" dirty="0">
                          <a:solidFill>
                            <a:schemeClr val="tx1"/>
                          </a:solidFill>
                        </a:rPr>
                        <a:t>TLS, three journeys</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Smoke test,</a:t>
                      </a:r>
                      <a:endParaRPr lang="en-US" sz="1400" dirty="0"/>
                    </a:p>
                    <a:p>
                      <a:pPr indent="0" marL="0">
                        <a:buNone/>
                      </a:pPr>
                      <a:r>
                        <a:rPr lang="en-US" sz="1400" dirty="0">
                          <a:solidFill>
                            <a:schemeClr val="tx1"/>
                          </a:solidFill>
                        </a:rPr>
                        <a:t>headers and TLS</a:t>
                      </a:r>
                      <a:endParaRPr lang="en-US" sz="1400" dirty="0"/>
                    </a:p>
                  </a:txBody>
                  <a:tcPr marL="101600" marR="101600" marT="50800" marB="5080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chemeClr val="bg1"/>
                    </a:solidFill>
                  </a:tcPr>
                </a:tc>
              </a:tr>
            </a:tbl>
          </a:graphicData>
        </a:graphic>
      </p:graphicFrame>
      <p:sp>
        <p:nvSpPr>
          <p:cNvPr id="25" name="Card 500"/>
          <p:cNvSpPr/>
          <p:nvPr/>
        </p:nvSpPr>
        <p:spPr>
          <a:xfrm>
            <a:off x="5715000" y="5074920"/>
            <a:ext cx="6019495" cy="777240"/>
          </a:xfrm>
          <a:prstGeom prst="roundRect">
            <a:avLst>
              <a:gd name="adj" fmla="val 11765"/>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6" name="Icon clock 501"/>
          <p:cNvSpPr/>
          <p:nvPr/>
        </p:nvSpPr>
        <p:spPr>
          <a:xfrm>
            <a:off x="5916168" y="5230368"/>
            <a:ext cx="457200" cy="457200"/>
          </a:xfrm>
          <a:prstGeom prst="ellipse">
            <a:avLst/>
          </a:prstGeom>
          <a:solidFill>
            <a:schemeClr val="tx2"/>
          </a:solidFill>
          <a:ln/>
        </p:spPr>
      </p:sp>
      <p:sp>
        <p:nvSpPr>
          <p:cNvPr id="27" name="Glyph part 503"/>
          <p:cNvSpPr/>
          <p:nvPr/>
        </p:nvSpPr>
        <p:spPr>
          <a:xfrm>
            <a:off x="6039612" y="5353812"/>
            <a:ext cx="210312" cy="210312"/>
          </a:xfrm>
          <a:prstGeom prst="ellipse">
            <a:avLst/>
          </a:prstGeom>
          <a:noFill/>
          <a:ln w="28575">
            <a:solidFill>
              <a:schemeClr val="bg1"/>
            </a:solidFill>
            <a:prstDash val="solid"/>
          </a:ln>
        </p:spPr>
      </p:sp>
      <p:sp>
        <p:nvSpPr>
          <p:cNvPr id="28" name="Glyph stroke 504"/>
          <p:cNvSpPr/>
          <p:nvPr/>
        </p:nvSpPr>
        <p:spPr>
          <a:xfrm flipV="1">
            <a:off x="6144768" y="5390388"/>
            <a:ext cx="0" cy="68580"/>
          </a:xfrm>
          <a:prstGeom prst="line">
            <a:avLst/>
          </a:prstGeom>
          <a:noFill/>
          <a:ln w="28575">
            <a:solidFill>
              <a:schemeClr val="bg1"/>
            </a:solidFill>
            <a:prstDash val="solid"/>
          </a:ln>
        </p:spPr>
      </p:sp>
      <p:sp>
        <p:nvSpPr>
          <p:cNvPr id="29" name="Glyph stroke 505"/>
          <p:cNvSpPr/>
          <p:nvPr/>
        </p:nvSpPr>
        <p:spPr>
          <a:xfrm>
            <a:off x="6144768" y="5458968"/>
            <a:ext cx="50292" cy="0"/>
          </a:xfrm>
          <a:prstGeom prst="line">
            <a:avLst/>
          </a:prstGeom>
          <a:noFill/>
          <a:ln w="28575">
            <a:solidFill>
              <a:schemeClr val="bg1"/>
            </a:solidFill>
            <a:prstDash val="solid"/>
          </a:ln>
        </p:spPr>
      </p:sp>
      <p:sp>
        <p:nvSpPr>
          <p:cNvPr id="30" name="Text 506"/>
          <p:cNvSpPr txBox="1"/>
          <p:nvPr/>
        </p:nvSpPr>
        <p:spPr>
          <a:xfrm>
            <a:off x="6537960" y="5148072"/>
            <a:ext cx="5013655" cy="630936"/>
          </a:xfrm>
          <a:prstGeom prst="rect">
            <a:avLst/>
          </a:prstGeom>
          <a:noFill/>
          <a:ln/>
        </p:spPr>
        <p:txBody>
          <a:bodyPr wrap="square" lIns="0" tIns="0" rIns="0" bIns="0" rtlCol="0" anchor="ctr"/>
          <a:lstStyle/>
          <a:p>
            <a:pPr indent="0" marL="0">
              <a:buNone/>
            </a:pPr>
            <a:r>
              <a:rPr lang="en-US" sz="1400" dirty="0">
                <a:solidFill>
                  <a:schemeClr val="tx2"/>
                </a:solidFill>
              </a:rPr>
              <a:t>The API scales to zero, so the first request after a quiet spell waits for it to wake</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4  |  LIVE DEMONSTRATION</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Live demonstration</a:t>
            </a:r>
            <a:endParaRPr lang="en-US" sz="3600" dirty="0"/>
          </a:p>
        </p:txBody>
      </p:sp>
      <p:sp>
        <p:nvSpPr>
          <p:cNvPr id="5" name="Glyph part 507"/>
          <p:cNvSpPr/>
          <p:nvPr/>
        </p:nvSpPr>
        <p:spPr>
          <a:xfrm>
            <a:off x="726948" y="1929384"/>
            <a:ext cx="27432" cy="3639312"/>
          </a:xfrm>
          <a:prstGeom prst="rect">
            <a:avLst/>
          </a:prstGeom>
          <a:solidFill>
            <a:srgbClr val="E2E5E9"/>
          </a:solidFill>
          <a:ln/>
        </p:spPr>
      </p:sp>
      <p:sp>
        <p:nvSpPr>
          <p:cNvPr id="6" name="Number badge 508"/>
          <p:cNvSpPr/>
          <p:nvPr/>
        </p:nvSpPr>
        <p:spPr>
          <a:xfrm>
            <a:off x="457200" y="164592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09"/>
          <p:cNvSpPr txBox="1"/>
          <p:nvPr/>
        </p:nvSpPr>
        <p:spPr>
          <a:xfrm>
            <a:off x="1298448" y="1472184"/>
            <a:ext cx="5257800" cy="914400"/>
          </a:xfrm>
          <a:prstGeom prst="rect">
            <a:avLst/>
          </a:prstGeom>
          <a:noFill/>
          <a:ln/>
        </p:spPr>
        <p:txBody>
          <a:bodyPr wrap="square" lIns="0" tIns="0" rIns="0" bIns="0" rtlCol="0" anchor="ctr"/>
          <a:lstStyle/>
          <a:p>
            <a:pPr indent="0" marL="0">
              <a:buNone/>
            </a:pPr>
            <a:r>
              <a:rPr lang="en-US" sz="1800" b="1" dirty="0">
                <a:solidFill>
                  <a:schemeClr val="tx1"/>
                </a:solidFill>
              </a:rPr>
              <a:t>The customer journey on production</a:t>
            </a:r>
            <a:endParaRPr lang="en-US" sz="1400" dirty="0"/>
          </a:p>
          <a:p>
            <a:pPr indent="0" marL="0">
              <a:spcBef>
                <a:spcPts val="300"/>
              </a:spcBef>
              <a:buNone/>
            </a:pPr>
            <a:r>
              <a:rPr lang="en-US" sz="1400" dirty="0">
                <a:solidFill>
                  <a:schemeClr val="tx2"/>
                </a:solidFill>
              </a:rPr>
              <a:t>Search, hold, confirm, cancel and the hire history, about one and a quarter minutes</a:t>
            </a:r>
            <a:endParaRPr lang="en-US" sz="1400" dirty="0"/>
          </a:p>
        </p:txBody>
      </p:sp>
      <p:sp>
        <p:nvSpPr>
          <p:cNvPr id="8" name="Number badge 510"/>
          <p:cNvSpPr/>
          <p:nvPr/>
        </p:nvSpPr>
        <p:spPr>
          <a:xfrm>
            <a:off x="457200" y="2859024"/>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ext 511"/>
          <p:cNvSpPr txBox="1"/>
          <p:nvPr/>
        </p:nvSpPr>
        <p:spPr>
          <a:xfrm>
            <a:off x="1298448" y="2685288"/>
            <a:ext cx="5257800" cy="914400"/>
          </a:xfrm>
          <a:prstGeom prst="rect">
            <a:avLst/>
          </a:prstGeom>
          <a:noFill/>
          <a:ln/>
        </p:spPr>
        <p:txBody>
          <a:bodyPr wrap="square" lIns="0" tIns="0" rIns="0" bIns="0" rtlCol="0" anchor="ctr"/>
          <a:lstStyle/>
          <a:p>
            <a:pPr indent="0" marL="0">
              <a:buNone/>
            </a:pPr>
            <a:r>
              <a:rPr lang="en-US" sz="1800" b="1" dirty="0">
                <a:solidFill>
                  <a:schemeClr val="tx1"/>
                </a:solidFill>
              </a:rPr>
              <a:t>The counter journey</a:t>
            </a:r>
            <a:endParaRPr lang="en-US" sz="1400" dirty="0"/>
          </a:p>
          <a:p>
            <a:pPr indent="0" marL="0">
              <a:spcBef>
                <a:spcPts val="300"/>
              </a:spcBef>
              <a:buNone/>
            </a:pPr>
            <a:r>
              <a:rPr lang="en-US" sz="1400" dirty="0">
                <a:solidFill>
                  <a:schemeClr val="tx2"/>
                </a:solidFill>
              </a:rPr>
              <a:t>A walk-in, checkout, the return with its deposit and the locator, about one and three quarter minutes</a:t>
            </a:r>
            <a:endParaRPr lang="en-US" sz="1400" dirty="0"/>
          </a:p>
        </p:txBody>
      </p:sp>
      <p:sp>
        <p:nvSpPr>
          <p:cNvPr id="10" name="Number badge 512"/>
          <p:cNvSpPr/>
          <p:nvPr/>
        </p:nvSpPr>
        <p:spPr>
          <a:xfrm>
            <a:off x="457200" y="4072128"/>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1" name="Text 513"/>
          <p:cNvSpPr txBox="1"/>
          <p:nvPr/>
        </p:nvSpPr>
        <p:spPr>
          <a:xfrm>
            <a:off x="1298448" y="3898392"/>
            <a:ext cx="5257800" cy="914400"/>
          </a:xfrm>
          <a:prstGeom prst="rect">
            <a:avLst/>
          </a:prstGeom>
          <a:noFill/>
          <a:ln/>
        </p:spPr>
        <p:txBody>
          <a:bodyPr wrap="square" lIns="0" tIns="0" rIns="0" bIns="0" rtlCol="0" anchor="ctr"/>
          <a:lstStyle/>
          <a:p>
            <a:pPr indent="0" marL="0">
              <a:buNone/>
            </a:pPr>
            <a:r>
              <a:rPr lang="en-US" sz="1800" b="1" dirty="0">
                <a:solidFill>
                  <a:schemeClr val="tx1"/>
                </a:solidFill>
              </a:rPr>
              <a:t>The worked example from Task 1</a:t>
            </a:r>
            <a:endParaRPr lang="en-US" sz="1400" dirty="0"/>
          </a:p>
          <a:p>
            <a:pPr indent="0" marL="0">
              <a:spcBef>
                <a:spcPts val="300"/>
              </a:spcBef>
              <a:buNone/>
            </a:pPr>
            <a:r>
              <a:rPr lang="en-US" sz="1400" dirty="0">
                <a:solidFill>
                  <a:schemeClr val="tx2"/>
                </a:solidFill>
              </a:rPr>
              <a:t>Rental TSH-H-26-000098, opened on the return screen</a:t>
            </a:r>
            <a:endParaRPr lang="en-US" sz="1400" dirty="0"/>
          </a:p>
        </p:txBody>
      </p:sp>
      <p:sp>
        <p:nvSpPr>
          <p:cNvPr id="12" name="Number badge 514"/>
          <p:cNvSpPr/>
          <p:nvPr/>
        </p:nvSpPr>
        <p:spPr>
          <a:xfrm>
            <a:off x="457200" y="5285232"/>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3" name="Text 515"/>
          <p:cNvSpPr txBox="1"/>
          <p:nvPr/>
        </p:nvSpPr>
        <p:spPr>
          <a:xfrm>
            <a:off x="1298448" y="5111496"/>
            <a:ext cx="5257800" cy="914400"/>
          </a:xfrm>
          <a:prstGeom prst="rect">
            <a:avLst/>
          </a:prstGeom>
          <a:noFill/>
          <a:ln/>
        </p:spPr>
        <p:txBody>
          <a:bodyPr wrap="square" lIns="0" tIns="0" rIns="0" bIns="0" rtlCol="0" anchor="ctr"/>
          <a:lstStyle/>
          <a:p>
            <a:pPr indent="0" marL="0">
              <a:buNone/>
            </a:pPr>
            <a:r>
              <a:rPr lang="en-US" sz="1800" b="1" dirty="0">
                <a:solidFill>
                  <a:schemeClr val="tx1"/>
                </a:solidFill>
              </a:rPr>
              <a:t>The owner's side</a:t>
            </a:r>
            <a:endParaRPr lang="en-US" sz="1400" dirty="0"/>
          </a:p>
          <a:p>
            <a:pPr indent="0" marL="0">
              <a:spcBef>
                <a:spcPts val="300"/>
              </a:spcBef>
              <a:buNone/>
            </a:pPr>
            <a:r>
              <a:rPr lang="en-US" sz="1400" dirty="0">
                <a:solidFill>
                  <a:schemeClr val="tx2"/>
                </a:solidFill>
              </a:rPr>
              <a:t>From the dashboard and the report to prices, units, staff, holds and the audit trail, about two and a half minutes</a:t>
            </a:r>
            <a:endParaRPr lang="en-US" sz="1400" dirty="0"/>
          </a:p>
        </p:txBody>
      </p:sp>
      <p:sp>
        <p:nvSpPr>
          <p:cNvPr id="14" name="Card 516"/>
          <p:cNvSpPr/>
          <p:nvPr/>
        </p:nvSpPr>
        <p:spPr>
          <a:xfrm>
            <a:off x="6720840" y="1645920"/>
            <a:ext cx="5013655" cy="4206240"/>
          </a:xfrm>
          <a:prstGeom prst="roundRect">
            <a:avLst>
              <a:gd name="adj" fmla="val 2174"/>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5" name="Text 517"/>
          <p:cNvSpPr txBox="1"/>
          <p:nvPr/>
        </p:nvSpPr>
        <p:spPr>
          <a:xfrm>
            <a:off x="7086600" y="1901952"/>
            <a:ext cx="4282135" cy="228600"/>
          </a:xfrm>
          <a:prstGeom prst="rect">
            <a:avLst/>
          </a:prstGeom>
          <a:noFill/>
          <a:ln/>
        </p:spPr>
        <p:txBody>
          <a:bodyPr wrap="square" lIns="0" tIns="0" rIns="0" bIns="0" rtlCol="0" anchor="t"/>
          <a:lstStyle/>
          <a:p>
            <a:pPr indent="0" marL="0">
              <a:buNone/>
            </a:pPr>
            <a:r>
              <a:rPr lang="en-US" sz="1100" b="1" spc="100" kern="0" dirty="0">
                <a:solidFill>
                  <a:srgbClr val="5D6B7E"/>
                </a:solidFill>
              </a:rPr>
              <a:t>THE WORKED EXAMPLE, ON PRODUCTION</a:t>
            </a:r>
            <a:endParaRPr lang="en-US" sz="1100" dirty="0"/>
          </a:p>
        </p:txBody>
      </p:sp>
      <p:sp>
        <p:nvSpPr>
          <p:cNvPr id="16" name="Text 518"/>
          <p:cNvSpPr txBox="1"/>
          <p:nvPr/>
        </p:nvSpPr>
        <p:spPr>
          <a:xfrm>
            <a:off x="7086600" y="2176272"/>
            <a:ext cx="3108960" cy="384048"/>
          </a:xfrm>
          <a:prstGeom prst="rect">
            <a:avLst/>
          </a:prstGeom>
          <a:noFill/>
          <a:ln/>
        </p:spPr>
        <p:txBody>
          <a:bodyPr wrap="square" lIns="0" tIns="0" rIns="0" bIns="0" rtlCol="0" anchor="ctr"/>
          <a:lstStyle/>
          <a:p>
            <a:pPr indent="0" marL="0">
              <a:buNone/>
            </a:pPr>
            <a:r>
              <a:rPr lang="en-US" sz="2000" b="1" dirty="0">
                <a:solidFill>
                  <a:schemeClr val="tx1"/>
                </a:solidFill>
                <a:latin typeface="Consolas" pitchFamily="34" charset="0"/>
                <a:ea typeface="Consolas" pitchFamily="34" charset="-122"/>
                <a:cs typeface="Consolas" pitchFamily="34" charset="-120"/>
              </a:rPr>
              <a:t>TSH-H-26-000098</a:t>
            </a:r>
            <a:endParaRPr lang="en-US" sz="2000" dirty="0"/>
          </a:p>
        </p:txBody>
      </p:sp>
      <p:sp>
        <p:nvSpPr>
          <p:cNvPr id="17" name="Chip 519"/>
          <p:cNvSpPr/>
          <p:nvPr/>
        </p:nvSpPr>
        <p:spPr>
          <a:xfrm>
            <a:off x="10271455" y="2221992"/>
            <a:ext cx="1097280" cy="292608"/>
          </a:xfrm>
          <a:prstGeom prst="roundRect">
            <a:avLst>
              <a:gd name="adj" fmla="val 50000"/>
            </a:avLst>
          </a:prstGeom>
          <a:solidFill>
            <a:srgbClr val="ECFDF5"/>
          </a:solidFill>
          <a:ln/>
        </p:spPr>
        <p:txBody>
          <a:bodyPr wrap="square" lIns="25400" tIns="25400" rIns="25400" bIns="25400" rtlCol="0" anchor="ctr"/>
          <a:lstStyle/>
          <a:p>
            <a:pPr algn="ctr" indent="0" marL="0">
              <a:buNone/>
            </a:pPr>
            <a:r>
              <a:rPr lang="en-US" sz="1200" b="1" dirty="0">
                <a:solidFill>
                  <a:schemeClr val="accent3"/>
                </a:solidFill>
              </a:rPr>
              <a:t>SETTLED</a:t>
            </a:r>
            <a:endParaRPr lang="en-US" sz="1200" dirty="0"/>
          </a:p>
        </p:txBody>
      </p:sp>
      <p:sp>
        <p:nvSpPr>
          <p:cNvPr id="18" name="Glyph part 520"/>
          <p:cNvSpPr/>
          <p:nvPr/>
        </p:nvSpPr>
        <p:spPr>
          <a:xfrm>
            <a:off x="7086600" y="2743200"/>
            <a:ext cx="4282135" cy="10973"/>
          </a:xfrm>
          <a:prstGeom prst="rect">
            <a:avLst/>
          </a:prstGeom>
          <a:solidFill>
            <a:srgbClr val="E2E5E9"/>
          </a:solidFill>
          <a:ln/>
        </p:spPr>
      </p:sp>
      <p:sp>
        <p:nvSpPr>
          <p:cNvPr id="19" name="Text 521"/>
          <p:cNvSpPr txBox="1"/>
          <p:nvPr/>
        </p:nvSpPr>
        <p:spPr>
          <a:xfrm>
            <a:off x="7086600" y="2944368"/>
            <a:ext cx="2727655" cy="329184"/>
          </a:xfrm>
          <a:prstGeom prst="rect">
            <a:avLst/>
          </a:prstGeom>
          <a:noFill/>
          <a:ln/>
        </p:spPr>
        <p:txBody>
          <a:bodyPr wrap="square" lIns="0" tIns="0" rIns="0" bIns="0" rtlCol="0" anchor="ctr"/>
          <a:lstStyle/>
          <a:p>
            <a:pPr indent="0" marL="0">
              <a:buNone/>
            </a:pPr>
            <a:r>
              <a:rPr lang="en-US" sz="1500" dirty="0">
                <a:solidFill>
                  <a:schemeClr val="tx1"/>
                </a:solidFill>
              </a:rPr>
              <a:t>Deposit held</a:t>
            </a:r>
            <a:endParaRPr lang="en-US" sz="1500" dirty="0"/>
          </a:p>
        </p:txBody>
      </p:sp>
      <p:sp>
        <p:nvSpPr>
          <p:cNvPr id="20" name="Text 522"/>
          <p:cNvSpPr txBox="1"/>
          <p:nvPr/>
        </p:nvSpPr>
        <p:spPr>
          <a:xfrm>
            <a:off x="9814255" y="2944368"/>
            <a:ext cx="1554480" cy="329184"/>
          </a:xfrm>
          <a:prstGeom prst="rect">
            <a:avLst/>
          </a:prstGeom>
          <a:noFill/>
          <a:ln/>
        </p:spPr>
        <p:txBody>
          <a:bodyPr wrap="square" lIns="0" tIns="0" rIns="0" bIns="0" rtlCol="0" anchor="ctr"/>
          <a:lstStyle/>
          <a:p>
            <a:pPr algn="r" indent="0" marL="0">
              <a:buNone/>
            </a:pPr>
            <a:r>
              <a:rPr lang="en-US" sz="1500" b="1" dirty="0">
                <a:solidFill>
                  <a:schemeClr val="tx1"/>
                </a:solidFill>
              </a:rPr>
              <a:t>R1,200.00</a:t>
            </a:r>
            <a:endParaRPr lang="en-US" sz="1500" dirty="0"/>
          </a:p>
        </p:txBody>
      </p:sp>
      <p:sp>
        <p:nvSpPr>
          <p:cNvPr id="21" name="Text 523"/>
          <p:cNvSpPr txBox="1"/>
          <p:nvPr/>
        </p:nvSpPr>
        <p:spPr>
          <a:xfrm>
            <a:off x="7086600" y="3474720"/>
            <a:ext cx="2727655" cy="329184"/>
          </a:xfrm>
          <a:prstGeom prst="rect">
            <a:avLst/>
          </a:prstGeom>
          <a:noFill/>
          <a:ln/>
        </p:spPr>
        <p:txBody>
          <a:bodyPr wrap="square" lIns="0" tIns="0" rIns="0" bIns="0" rtlCol="0" anchor="ctr"/>
          <a:lstStyle/>
          <a:p>
            <a:pPr indent="0" marL="0">
              <a:buNone/>
            </a:pPr>
            <a:r>
              <a:rPr lang="en-US" sz="1500" dirty="0">
                <a:solidFill>
                  <a:schemeClr val="tx1"/>
                </a:solidFill>
              </a:rPr>
              <a:t>Late fee, two days at R120.00</a:t>
            </a:r>
            <a:endParaRPr lang="en-US" sz="1500" dirty="0"/>
          </a:p>
        </p:txBody>
      </p:sp>
      <p:sp>
        <p:nvSpPr>
          <p:cNvPr id="22" name="Text 524"/>
          <p:cNvSpPr txBox="1"/>
          <p:nvPr/>
        </p:nvSpPr>
        <p:spPr>
          <a:xfrm>
            <a:off x="9814255" y="3474720"/>
            <a:ext cx="1554480" cy="329184"/>
          </a:xfrm>
          <a:prstGeom prst="rect">
            <a:avLst/>
          </a:prstGeom>
          <a:noFill/>
          <a:ln/>
        </p:spPr>
        <p:txBody>
          <a:bodyPr wrap="square" lIns="0" tIns="0" rIns="0" bIns="0" rtlCol="0" anchor="ctr"/>
          <a:lstStyle/>
          <a:p>
            <a:pPr algn="r" indent="0" marL="0">
              <a:buNone/>
            </a:pPr>
            <a:r>
              <a:rPr lang="en-US" sz="1500" b="1" dirty="0">
                <a:solidFill>
                  <a:schemeClr val="tx1"/>
                </a:solidFill>
              </a:rPr>
              <a:t>R240.00</a:t>
            </a:r>
            <a:endParaRPr lang="en-US" sz="1500" dirty="0"/>
          </a:p>
        </p:txBody>
      </p:sp>
      <p:sp>
        <p:nvSpPr>
          <p:cNvPr id="23" name="Text 525"/>
          <p:cNvSpPr txBox="1"/>
          <p:nvPr/>
        </p:nvSpPr>
        <p:spPr>
          <a:xfrm>
            <a:off x="7086600" y="3822192"/>
            <a:ext cx="4282135" cy="256032"/>
          </a:xfrm>
          <a:prstGeom prst="rect">
            <a:avLst/>
          </a:prstGeom>
          <a:noFill/>
          <a:ln/>
        </p:spPr>
        <p:txBody>
          <a:bodyPr wrap="square" lIns="0" tIns="0" rIns="0" bIns="0" rtlCol="0" anchor="t"/>
          <a:lstStyle/>
          <a:p>
            <a:pPr indent="0" marL="0">
              <a:buNone/>
            </a:pPr>
            <a:r>
              <a:rPr lang="en-US" sz="1200" dirty="0">
                <a:solidFill>
                  <a:schemeClr val="tx2"/>
                </a:solidFill>
              </a:rPr>
              <a:t>Withheld from the deposit, R208.70 plus R31.30 VAT</a:t>
            </a:r>
            <a:endParaRPr lang="en-US" sz="1200" dirty="0"/>
          </a:p>
        </p:txBody>
      </p:sp>
      <p:sp>
        <p:nvSpPr>
          <p:cNvPr id="24" name="Text 526"/>
          <p:cNvSpPr txBox="1"/>
          <p:nvPr/>
        </p:nvSpPr>
        <p:spPr>
          <a:xfrm>
            <a:off x="7086600" y="4279392"/>
            <a:ext cx="2727655" cy="329184"/>
          </a:xfrm>
          <a:prstGeom prst="rect">
            <a:avLst/>
          </a:prstGeom>
          <a:noFill/>
          <a:ln/>
        </p:spPr>
        <p:txBody>
          <a:bodyPr wrap="square" lIns="0" tIns="0" rIns="0" bIns="0" rtlCol="0" anchor="ctr"/>
          <a:lstStyle/>
          <a:p>
            <a:pPr indent="0" marL="0">
              <a:buNone/>
            </a:pPr>
            <a:r>
              <a:rPr lang="en-US" sz="1500" dirty="0">
                <a:solidFill>
                  <a:schemeClr val="tx1"/>
                </a:solidFill>
              </a:rPr>
              <a:t>Released to the customer</a:t>
            </a:r>
            <a:endParaRPr lang="en-US" sz="1500" dirty="0"/>
          </a:p>
        </p:txBody>
      </p:sp>
      <p:sp>
        <p:nvSpPr>
          <p:cNvPr id="25" name="Text 527"/>
          <p:cNvSpPr txBox="1"/>
          <p:nvPr/>
        </p:nvSpPr>
        <p:spPr>
          <a:xfrm>
            <a:off x="9814255" y="4279392"/>
            <a:ext cx="1554480" cy="329184"/>
          </a:xfrm>
          <a:prstGeom prst="rect">
            <a:avLst/>
          </a:prstGeom>
          <a:noFill/>
          <a:ln/>
        </p:spPr>
        <p:txBody>
          <a:bodyPr wrap="square" lIns="0" tIns="0" rIns="0" bIns="0" rtlCol="0" anchor="ctr"/>
          <a:lstStyle/>
          <a:p>
            <a:pPr algn="r" indent="0" marL="0">
              <a:buNone/>
            </a:pPr>
            <a:r>
              <a:rPr lang="en-US" sz="1500" b="1" dirty="0">
                <a:solidFill>
                  <a:schemeClr val="tx1"/>
                </a:solidFill>
              </a:rPr>
              <a:t>R960.00</a:t>
            </a:r>
            <a:endParaRPr lang="en-US" sz="1500" dirty="0"/>
          </a:p>
        </p:txBody>
      </p:sp>
      <p:sp>
        <p:nvSpPr>
          <p:cNvPr id="26" name="Glyph part 528"/>
          <p:cNvSpPr/>
          <p:nvPr/>
        </p:nvSpPr>
        <p:spPr>
          <a:xfrm>
            <a:off x="7086600" y="4791456"/>
            <a:ext cx="4282135" cy="10973"/>
          </a:xfrm>
          <a:prstGeom prst="rect">
            <a:avLst/>
          </a:prstGeom>
          <a:solidFill>
            <a:srgbClr val="E2E5E9"/>
          </a:solidFill>
          <a:ln/>
        </p:spPr>
      </p:sp>
      <p:sp>
        <p:nvSpPr>
          <p:cNvPr id="27" name="Text 529"/>
          <p:cNvSpPr txBox="1"/>
          <p:nvPr/>
        </p:nvSpPr>
        <p:spPr>
          <a:xfrm>
            <a:off x="7086600" y="4956048"/>
            <a:ext cx="2727655" cy="329184"/>
          </a:xfrm>
          <a:prstGeom prst="rect">
            <a:avLst/>
          </a:prstGeom>
          <a:noFill/>
          <a:ln/>
        </p:spPr>
        <p:txBody>
          <a:bodyPr wrap="square" lIns="0" tIns="0" rIns="0" bIns="0" rtlCol="0" anchor="ctr"/>
          <a:lstStyle/>
          <a:p>
            <a:pPr indent="0" marL="0">
              <a:buNone/>
            </a:pPr>
            <a:r>
              <a:rPr lang="en-US" sz="1800" b="1" dirty="0">
                <a:solidFill>
                  <a:schemeClr val="tx1"/>
                </a:solidFill>
              </a:rPr>
              <a:t>Due at the counter</a:t>
            </a:r>
            <a:endParaRPr lang="en-US" sz="1800" dirty="0"/>
          </a:p>
        </p:txBody>
      </p:sp>
      <p:sp>
        <p:nvSpPr>
          <p:cNvPr id="28" name="Text 530"/>
          <p:cNvSpPr txBox="1"/>
          <p:nvPr/>
        </p:nvSpPr>
        <p:spPr>
          <a:xfrm>
            <a:off x="9814255" y="4956048"/>
            <a:ext cx="1554480" cy="329184"/>
          </a:xfrm>
          <a:prstGeom prst="rect">
            <a:avLst/>
          </a:prstGeom>
          <a:noFill/>
          <a:ln/>
        </p:spPr>
        <p:txBody>
          <a:bodyPr wrap="square" lIns="0" tIns="0" rIns="0" bIns="0" rtlCol="0" anchor="ctr"/>
          <a:lstStyle/>
          <a:p>
            <a:pPr algn="r" indent="0" marL="0">
              <a:buNone/>
            </a:pPr>
            <a:r>
              <a:rPr lang="en-US" sz="1800" b="1" dirty="0">
                <a:solidFill>
                  <a:schemeClr val="tx1"/>
                </a:solidFill>
              </a:rPr>
              <a:t>R0.00</a:t>
            </a:r>
            <a:endParaRPr lang="en-US" sz="1800" dirty="0"/>
          </a:p>
        </p:txBody>
      </p:sp>
      <p:sp>
        <p:nvSpPr>
          <p:cNvPr id="29" name="Text 531"/>
          <p:cNvSpPr txBox="1"/>
          <p:nvPr/>
        </p:nvSpPr>
        <p:spPr>
          <a:xfrm>
            <a:off x="7086600" y="5413248"/>
            <a:ext cx="4282135" cy="274320"/>
          </a:xfrm>
          <a:prstGeom prst="rect">
            <a:avLst/>
          </a:prstGeom>
          <a:noFill/>
          <a:ln/>
        </p:spPr>
        <p:txBody>
          <a:bodyPr wrap="square" lIns="0" tIns="0" rIns="0" bIns="0" rtlCol="0" anchor="t"/>
          <a:lstStyle/>
          <a:p>
            <a:pPr indent="0" marL="0">
              <a:buNone/>
            </a:pPr>
            <a:r>
              <a:rPr lang="en-US" sz="1200" dirty="0">
                <a:solidFill>
                  <a:schemeClr val="tx2"/>
                </a:solidFill>
              </a:rPr>
              <a:t>A test follows these figures through the API on every pull request.</a:t>
            </a:r>
            <a:endParaRPr lang="en-US" sz="12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5  |  TESTING, DEVIATIONS AND WHAT IS NEXT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Testing</a:t>
            </a:r>
            <a:endParaRPr lang="en-US" sz="3600" dirty="0"/>
          </a:p>
        </p:txBody>
      </p:sp>
      <p:sp>
        <p:nvSpPr>
          <p:cNvPr id="5" name="Card 532"/>
          <p:cNvSpPr/>
          <p:nvPr/>
        </p:nvSpPr>
        <p:spPr>
          <a:xfrm>
            <a:off x="457200" y="1645920"/>
            <a:ext cx="2072579" cy="1463040"/>
          </a:xfrm>
          <a:prstGeom prst="roundRect">
            <a:avLst>
              <a:gd name="adj" fmla="val 625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Text 533"/>
          <p:cNvSpPr txBox="1"/>
          <p:nvPr/>
        </p:nvSpPr>
        <p:spPr>
          <a:xfrm>
            <a:off x="658368" y="1682496"/>
            <a:ext cx="1670243" cy="603504"/>
          </a:xfrm>
          <a:prstGeom prst="rect">
            <a:avLst/>
          </a:prstGeom>
          <a:noFill/>
          <a:ln/>
        </p:spPr>
        <p:txBody>
          <a:bodyPr wrap="square" lIns="0" tIns="0" rIns="0" bIns="0" rtlCol="0" anchor="b"/>
          <a:lstStyle/>
          <a:p>
            <a:pPr indent="0" marL="0">
              <a:buNone/>
            </a:pPr>
            <a:r>
              <a:rPr lang="en-US" sz="3600" b="1" dirty="0">
                <a:solidFill>
                  <a:schemeClr val="tx1"/>
                </a:solidFill>
              </a:rPr>
              <a:t>4,623</a:t>
            </a:r>
            <a:endParaRPr lang="en-US" sz="3600" dirty="0"/>
          </a:p>
        </p:txBody>
      </p:sp>
      <p:sp>
        <p:nvSpPr>
          <p:cNvPr id="7" name="Text 534"/>
          <p:cNvSpPr txBox="1"/>
          <p:nvPr/>
        </p:nvSpPr>
        <p:spPr>
          <a:xfrm>
            <a:off x="658368" y="2340864"/>
            <a:ext cx="1670243" cy="749808"/>
          </a:xfrm>
          <a:prstGeom prst="rect">
            <a:avLst/>
          </a:prstGeom>
          <a:noFill/>
          <a:ln/>
        </p:spPr>
        <p:txBody>
          <a:bodyPr wrap="square" lIns="0" tIns="0" rIns="0" bIns="0" rtlCol="0" anchor="t"/>
          <a:lstStyle/>
          <a:p>
            <a:pPr indent="0" marL="0">
              <a:buNone/>
            </a:pPr>
            <a:r>
              <a:rPr lang="en-US" sz="1400" dirty="0">
                <a:solidFill>
                  <a:schemeClr val="tx2"/>
                </a:solidFill>
              </a:rPr>
              <a:t>backend tests on PostgreSQL 16</a:t>
            </a:r>
            <a:endParaRPr lang="en-US" sz="1400" dirty="0"/>
          </a:p>
        </p:txBody>
      </p:sp>
      <p:sp>
        <p:nvSpPr>
          <p:cNvPr id="8" name="Card 535"/>
          <p:cNvSpPr/>
          <p:nvPr/>
        </p:nvSpPr>
        <p:spPr>
          <a:xfrm>
            <a:off x="2758379" y="1645920"/>
            <a:ext cx="2072579" cy="1463040"/>
          </a:xfrm>
          <a:prstGeom prst="roundRect">
            <a:avLst>
              <a:gd name="adj" fmla="val 625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9" name="Text 536"/>
          <p:cNvSpPr txBox="1"/>
          <p:nvPr/>
        </p:nvSpPr>
        <p:spPr>
          <a:xfrm>
            <a:off x="2959547" y="1682496"/>
            <a:ext cx="1670243" cy="603504"/>
          </a:xfrm>
          <a:prstGeom prst="rect">
            <a:avLst/>
          </a:prstGeom>
          <a:noFill/>
          <a:ln/>
        </p:spPr>
        <p:txBody>
          <a:bodyPr wrap="square" lIns="0" tIns="0" rIns="0" bIns="0" rtlCol="0" anchor="b"/>
          <a:lstStyle/>
          <a:p>
            <a:pPr indent="0" marL="0">
              <a:buNone/>
            </a:pPr>
            <a:r>
              <a:rPr lang="en-US" sz="3600" b="1" dirty="0">
                <a:solidFill>
                  <a:schemeClr val="tx1"/>
                </a:solidFill>
              </a:rPr>
              <a:t>100%</a:t>
            </a:r>
            <a:endParaRPr lang="en-US" sz="3600" dirty="0"/>
          </a:p>
        </p:txBody>
      </p:sp>
      <p:sp>
        <p:nvSpPr>
          <p:cNvPr id="10" name="Text 537"/>
          <p:cNvSpPr txBox="1"/>
          <p:nvPr/>
        </p:nvSpPr>
        <p:spPr>
          <a:xfrm>
            <a:off x="2959547" y="2340864"/>
            <a:ext cx="1670243" cy="749808"/>
          </a:xfrm>
          <a:prstGeom prst="rect">
            <a:avLst/>
          </a:prstGeom>
          <a:noFill/>
          <a:ln/>
        </p:spPr>
        <p:txBody>
          <a:bodyPr wrap="square" lIns="0" tIns="0" rIns="0" bIns="0" rtlCol="0" anchor="t"/>
          <a:lstStyle/>
          <a:p>
            <a:pPr indent="0" marL="0">
              <a:buNone/>
            </a:pPr>
            <a:r>
              <a:rPr lang="en-US" sz="1400" dirty="0">
                <a:solidFill>
                  <a:schemeClr val="tx2"/>
                </a:solidFill>
              </a:rPr>
              <a:t>of lines in domain and application, floor 70</a:t>
            </a:r>
            <a:endParaRPr lang="en-US" sz="1400" dirty="0"/>
          </a:p>
        </p:txBody>
      </p:sp>
      <p:sp>
        <p:nvSpPr>
          <p:cNvPr id="11" name="Card 538"/>
          <p:cNvSpPr/>
          <p:nvPr/>
        </p:nvSpPr>
        <p:spPr>
          <a:xfrm>
            <a:off x="5059558" y="1645920"/>
            <a:ext cx="2072579" cy="1463040"/>
          </a:xfrm>
          <a:prstGeom prst="roundRect">
            <a:avLst>
              <a:gd name="adj" fmla="val 625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2" name="Text 539"/>
          <p:cNvSpPr txBox="1"/>
          <p:nvPr/>
        </p:nvSpPr>
        <p:spPr>
          <a:xfrm>
            <a:off x="5260726" y="1682496"/>
            <a:ext cx="1670243" cy="603504"/>
          </a:xfrm>
          <a:prstGeom prst="rect">
            <a:avLst/>
          </a:prstGeom>
          <a:noFill/>
          <a:ln/>
        </p:spPr>
        <p:txBody>
          <a:bodyPr wrap="square" lIns="0" tIns="0" rIns="0" bIns="0" rtlCol="0" anchor="b"/>
          <a:lstStyle/>
          <a:p>
            <a:pPr indent="0" marL="0">
              <a:buNone/>
            </a:pPr>
            <a:r>
              <a:rPr lang="en-US" sz="3600" b="1" dirty="0">
                <a:solidFill>
                  <a:schemeClr val="tx1"/>
                </a:solidFill>
              </a:rPr>
              <a:t>1,455</a:t>
            </a:r>
            <a:endParaRPr lang="en-US" sz="3600" dirty="0"/>
          </a:p>
        </p:txBody>
      </p:sp>
      <p:sp>
        <p:nvSpPr>
          <p:cNvPr id="13" name="Text 540"/>
          <p:cNvSpPr txBox="1"/>
          <p:nvPr/>
        </p:nvSpPr>
        <p:spPr>
          <a:xfrm>
            <a:off x="5260726" y="2340864"/>
            <a:ext cx="1670243" cy="749808"/>
          </a:xfrm>
          <a:prstGeom prst="rect">
            <a:avLst/>
          </a:prstGeom>
          <a:noFill/>
          <a:ln/>
        </p:spPr>
        <p:txBody>
          <a:bodyPr wrap="square" lIns="0" tIns="0" rIns="0" bIns="0" rtlCol="0" anchor="t"/>
          <a:lstStyle/>
          <a:p>
            <a:pPr indent="0" marL="0">
              <a:buNone/>
            </a:pPr>
            <a:r>
              <a:rPr lang="en-US" sz="1400" dirty="0">
                <a:solidFill>
                  <a:schemeClr val="tx2"/>
                </a:solidFill>
              </a:rPr>
              <a:t>frontend unit and component tests</a:t>
            </a:r>
            <a:endParaRPr lang="en-US" sz="1400" dirty="0"/>
          </a:p>
        </p:txBody>
      </p:sp>
      <p:sp>
        <p:nvSpPr>
          <p:cNvPr id="14" name="Card 541"/>
          <p:cNvSpPr/>
          <p:nvPr/>
        </p:nvSpPr>
        <p:spPr>
          <a:xfrm>
            <a:off x="7360737" y="1645920"/>
            <a:ext cx="2072579" cy="1463040"/>
          </a:xfrm>
          <a:prstGeom prst="roundRect">
            <a:avLst>
              <a:gd name="adj" fmla="val 625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5" name="Text 542"/>
          <p:cNvSpPr txBox="1"/>
          <p:nvPr/>
        </p:nvSpPr>
        <p:spPr>
          <a:xfrm>
            <a:off x="7561905" y="1682496"/>
            <a:ext cx="1670243" cy="603504"/>
          </a:xfrm>
          <a:prstGeom prst="rect">
            <a:avLst/>
          </a:prstGeom>
          <a:noFill/>
          <a:ln/>
        </p:spPr>
        <p:txBody>
          <a:bodyPr wrap="square" lIns="0" tIns="0" rIns="0" bIns="0" rtlCol="0" anchor="b"/>
          <a:lstStyle/>
          <a:p>
            <a:pPr indent="0" marL="0">
              <a:buNone/>
            </a:pPr>
            <a:r>
              <a:rPr lang="en-US" sz="3600" b="1" dirty="0">
                <a:solidFill>
                  <a:schemeClr val="tx1"/>
                </a:solidFill>
              </a:rPr>
              <a:t>392</a:t>
            </a:r>
            <a:endParaRPr lang="en-US" sz="3600" dirty="0"/>
          </a:p>
        </p:txBody>
      </p:sp>
      <p:sp>
        <p:nvSpPr>
          <p:cNvPr id="16" name="Text 543"/>
          <p:cNvSpPr txBox="1"/>
          <p:nvPr/>
        </p:nvSpPr>
        <p:spPr>
          <a:xfrm>
            <a:off x="7561905" y="2340864"/>
            <a:ext cx="1670243" cy="749808"/>
          </a:xfrm>
          <a:prstGeom prst="rect">
            <a:avLst/>
          </a:prstGeom>
          <a:noFill/>
          <a:ln/>
        </p:spPr>
        <p:txBody>
          <a:bodyPr wrap="square" lIns="0" tIns="0" rIns="0" bIns="0" rtlCol="0" anchor="t"/>
          <a:lstStyle/>
          <a:p>
            <a:pPr indent="0" marL="0">
              <a:buNone/>
            </a:pPr>
            <a:r>
              <a:rPr lang="en-US" sz="1400" dirty="0">
                <a:solidFill>
                  <a:schemeClr val="tx2"/>
                </a:solidFill>
              </a:rPr>
              <a:t>browser and accessibility tests on the real API</a:t>
            </a:r>
            <a:endParaRPr lang="en-US" sz="1400" dirty="0"/>
          </a:p>
        </p:txBody>
      </p:sp>
      <p:sp>
        <p:nvSpPr>
          <p:cNvPr id="17" name="Card 544"/>
          <p:cNvSpPr/>
          <p:nvPr/>
        </p:nvSpPr>
        <p:spPr>
          <a:xfrm>
            <a:off x="9661916" y="1645920"/>
            <a:ext cx="2072579" cy="1463040"/>
          </a:xfrm>
          <a:prstGeom prst="roundRect">
            <a:avLst>
              <a:gd name="adj" fmla="val 6250"/>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8" name="Text 545"/>
          <p:cNvSpPr txBox="1"/>
          <p:nvPr/>
        </p:nvSpPr>
        <p:spPr>
          <a:xfrm>
            <a:off x="9863084" y="1682496"/>
            <a:ext cx="1670243" cy="603504"/>
          </a:xfrm>
          <a:prstGeom prst="rect">
            <a:avLst/>
          </a:prstGeom>
          <a:noFill/>
          <a:ln/>
        </p:spPr>
        <p:txBody>
          <a:bodyPr wrap="square" lIns="0" tIns="0" rIns="0" bIns="0" rtlCol="0" anchor="b"/>
          <a:lstStyle/>
          <a:p>
            <a:pPr indent="0" marL="0">
              <a:buNone/>
            </a:pPr>
            <a:r>
              <a:rPr lang="en-US" sz="3600" b="1" dirty="0">
                <a:solidFill>
                  <a:schemeClr val="tx1"/>
                </a:solidFill>
              </a:rPr>
              <a:t>109</a:t>
            </a:r>
            <a:endParaRPr lang="en-US" sz="3600" dirty="0"/>
          </a:p>
        </p:txBody>
      </p:sp>
      <p:sp>
        <p:nvSpPr>
          <p:cNvPr id="19" name="Text 546"/>
          <p:cNvSpPr txBox="1"/>
          <p:nvPr/>
        </p:nvSpPr>
        <p:spPr>
          <a:xfrm>
            <a:off x="9863084" y="2340864"/>
            <a:ext cx="1670243" cy="749808"/>
          </a:xfrm>
          <a:prstGeom prst="rect">
            <a:avLst/>
          </a:prstGeom>
          <a:noFill/>
          <a:ln/>
        </p:spPr>
        <p:txBody>
          <a:bodyPr wrap="square" lIns="0" tIns="0" rIns="0" bIns="0" rtlCol="0" anchor="t"/>
          <a:lstStyle/>
          <a:p>
            <a:pPr indent="0" marL="0">
              <a:buNone/>
            </a:pPr>
            <a:r>
              <a:rPr lang="en-US" sz="1400" dirty="0">
                <a:solidFill>
                  <a:schemeClr val="tx2"/>
                </a:solidFill>
              </a:rPr>
              <a:t>axe scans of all 24 screens, zero findings</a:t>
            </a:r>
            <a:endParaRPr lang="en-US" sz="1400" dirty="0"/>
          </a:p>
        </p:txBody>
      </p:sp>
      <p:sp>
        <p:nvSpPr>
          <p:cNvPr id="20" name="Card 547"/>
          <p:cNvSpPr/>
          <p:nvPr/>
        </p:nvSpPr>
        <p:spPr>
          <a:xfrm>
            <a:off x="457200" y="3383280"/>
            <a:ext cx="3576218" cy="2468880"/>
          </a:xfrm>
          <a:prstGeom prst="roundRect">
            <a:avLst>
              <a:gd name="adj" fmla="val 3704"/>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1" name="Text 548"/>
          <p:cNvSpPr txBox="1"/>
          <p:nvPr/>
        </p:nvSpPr>
        <p:spPr>
          <a:xfrm>
            <a:off x="731520" y="3566160"/>
            <a:ext cx="3027578" cy="329184"/>
          </a:xfrm>
          <a:prstGeom prst="rect">
            <a:avLst/>
          </a:prstGeom>
          <a:noFill/>
          <a:ln/>
        </p:spPr>
        <p:txBody>
          <a:bodyPr wrap="square" lIns="0" tIns="0" rIns="0" bIns="0" rtlCol="0" anchor="t"/>
          <a:lstStyle/>
          <a:p>
            <a:pPr indent="0" marL="0">
              <a:buNone/>
            </a:pPr>
            <a:r>
              <a:rPr lang="en-US" sz="1800" b="1" dirty="0">
                <a:solidFill>
                  <a:schemeClr val="tx1"/>
                </a:solidFill>
              </a:rPr>
              <a:t>Five kinds of test</a:t>
            </a:r>
            <a:endParaRPr lang="en-US" sz="1800" dirty="0"/>
          </a:p>
        </p:txBody>
      </p:sp>
      <p:sp>
        <p:nvSpPr>
          <p:cNvPr id="22" name="Chip 549"/>
          <p:cNvSpPr/>
          <p:nvPr/>
        </p:nvSpPr>
        <p:spPr>
          <a:xfrm>
            <a:off x="1445209" y="3986784"/>
            <a:ext cx="1600200" cy="246888"/>
          </a:xfrm>
          <a:prstGeom prst="roundRect">
            <a:avLst>
              <a:gd name="adj" fmla="val 14815"/>
            </a:avLst>
          </a:prstGeom>
          <a:solidFill>
            <a:schemeClr val="accent1"/>
          </a:solidFill>
          <a:ln/>
        </p:spPr>
        <p:txBody>
          <a:bodyPr wrap="square" lIns="0" tIns="0" rIns="0" bIns="0" rtlCol="0" anchor="ctr"/>
          <a:lstStyle/>
          <a:p>
            <a:pPr algn="ctr" indent="0" marL="0">
              <a:buNone/>
            </a:pPr>
            <a:r>
              <a:rPr lang="en-US" sz="1100" b="1" dirty="0">
                <a:solidFill>
                  <a:schemeClr val="tx1"/>
                </a:solidFill>
              </a:rPr>
              <a:t>The deployed site</a:t>
            </a:r>
            <a:endParaRPr lang="en-US" sz="1100" dirty="0"/>
          </a:p>
        </p:txBody>
      </p:sp>
      <p:sp>
        <p:nvSpPr>
          <p:cNvPr id="23" name="Chip 550"/>
          <p:cNvSpPr/>
          <p:nvPr/>
        </p:nvSpPr>
        <p:spPr>
          <a:xfrm>
            <a:off x="1262329" y="4279392"/>
            <a:ext cx="1965960" cy="246888"/>
          </a:xfrm>
          <a:prstGeom prst="roundRect">
            <a:avLst>
              <a:gd name="adj" fmla="val 14815"/>
            </a:avLst>
          </a:prstGeom>
          <a:solidFill>
            <a:schemeClr val="accent2"/>
          </a:solidFill>
          <a:ln/>
        </p:spPr>
        <p:txBody>
          <a:bodyPr wrap="square" lIns="0" tIns="0" rIns="0" bIns="0" rtlCol="0" anchor="ctr"/>
          <a:lstStyle/>
          <a:p>
            <a:pPr algn="ctr" indent="0" marL="0">
              <a:buNone/>
            </a:pPr>
            <a:r>
              <a:rPr lang="en-US" sz="1100" b="1" dirty="0">
                <a:solidFill>
                  <a:schemeClr val="bg1"/>
                </a:solidFill>
              </a:rPr>
              <a:t>Browser and accessibility</a:t>
            </a:r>
            <a:endParaRPr lang="en-US" sz="1100" dirty="0"/>
          </a:p>
        </p:txBody>
      </p:sp>
      <p:sp>
        <p:nvSpPr>
          <p:cNvPr id="24" name="Chip 551"/>
          <p:cNvSpPr/>
          <p:nvPr/>
        </p:nvSpPr>
        <p:spPr>
          <a:xfrm>
            <a:off x="1079449" y="4572000"/>
            <a:ext cx="2331720" cy="246888"/>
          </a:xfrm>
          <a:prstGeom prst="roundRect">
            <a:avLst>
              <a:gd name="adj" fmla="val 14815"/>
            </a:avLst>
          </a:prstGeom>
          <a:solidFill>
            <a:schemeClr val="tx2"/>
          </a:solidFill>
          <a:ln/>
        </p:spPr>
        <p:txBody>
          <a:bodyPr wrap="square" lIns="0" tIns="0" rIns="0" bIns="0" rtlCol="0" anchor="ctr"/>
          <a:lstStyle/>
          <a:p>
            <a:pPr algn="ctr" indent="0" marL="0">
              <a:buNone/>
            </a:pPr>
            <a:r>
              <a:rPr lang="en-US" sz="1100" b="1" dirty="0">
                <a:solidFill>
                  <a:schemeClr val="bg1"/>
                </a:solidFill>
              </a:rPr>
              <a:t>PostgreSQL 16 integration</a:t>
            </a:r>
            <a:endParaRPr lang="en-US" sz="1100" dirty="0"/>
          </a:p>
        </p:txBody>
      </p:sp>
      <p:sp>
        <p:nvSpPr>
          <p:cNvPr id="25" name="Chip 552"/>
          <p:cNvSpPr/>
          <p:nvPr/>
        </p:nvSpPr>
        <p:spPr>
          <a:xfrm>
            <a:off x="896569" y="4864608"/>
            <a:ext cx="2697480" cy="246888"/>
          </a:xfrm>
          <a:prstGeom prst="roundRect">
            <a:avLst>
              <a:gd name="adj" fmla="val 14815"/>
            </a:avLst>
          </a:prstGeom>
          <a:solidFill>
            <a:schemeClr val="tx2"/>
          </a:solidFill>
          <a:ln/>
        </p:spPr>
        <p:txBody>
          <a:bodyPr wrap="square" lIns="0" tIns="0" rIns="0" bIns="0" rtlCol="0" anchor="ctr"/>
          <a:lstStyle/>
          <a:p>
            <a:pPr algn="ctr" indent="0" marL="0">
              <a:buNone/>
            </a:pPr>
            <a:r>
              <a:rPr lang="en-US" sz="1100" b="1" dirty="0">
                <a:solidFill>
                  <a:schemeClr val="bg1"/>
                </a:solidFill>
              </a:rPr>
              <a:t>API, every route</a:t>
            </a:r>
            <a:endParaRPr lang="en-US" sz="1100" dirty="0"/>
          </a:p>
        </p:txBody>
      </p:sp>
      <p:sp>
        <p:nvSpPr>
          <p:cNvPr id="26" name="Chip 553"/>
          <p:cNvSpPr/>
          <p:nvPr/>
        </p:nvSpPr>
        <p:spPr>
          <a:xfrm>
            <a:off x="731520" y="5157216"/>
            <a:ext cx="3027578" cy="246888"/>
          </a:xfrm>
          <a:prstGeom prst="roundRect">
            <a:avLst>
              <a:gd name="adj" fmla="val 14815"/>
            </a:avLst>
          </a:prstGeom>
          <a:solidFill>
            <a:schemeClr val="tx1"/>
          </a:solidFill>
          <a:ln/>
        </p:spPr>
        <p:txBody>
          <a:bodyPr wrap="square" lIns="0" tIns="0" rIns="0" bIns="0" rtlCol="0" anchor="ctr"/>
          <a:lstStyle/>
          <a:p>
            <a:pPr algn="ctr" indent="0" marL="0">
              <a:buNone/>
            </a:pPr>
            <a:r>
              <a:rPr lang="en-US" sz="1100" b="1" dirty="0">
                <a:solidFill>
                  <a:schemeClr val="bg1"/>
                </a:solidFill>
              </a:rPr>
              <a:t>Domain and application</a:t>
            </a:r>
            <a:endParaRPr lang="en-US" sz="1100" dirty="0"/>
          </a:p>
        </p:txBody>
      </p:sp>
      <p:sp>
        <p:nvSpPr>
          <p:cNvPr id="27" name="Text 554"/>
          <p:cNvSpPr txBox="1"/>
          <p:nvPr/>
        </p:nvSpPr>
        <p:spPr>
          <a:xfrm>
            <a:off x="731520" y="5431536"/>
            <a:ext cx="3027578" cy="274320"/>
          </a:xfrm>
          <a:prstGeom prst="rect">
            <a:avLst/>
          </a:prstGeom>
          <a:noFill/>
          <a:ln/>
        </p:spPr>
        <p:txBody>
          <a:bodyPr wrap="square" lIns="0" tIns="0" rIns="0" bIns="0" rtlCol="0" anchor="ctr"/>
          <a:lstStyle/>
          <a:p>
            <a:pPr indent="0" marL="0">
              <a:buNone/>
            </a:pPr>
            <a:r>
              <a:rPr lang="en-US" sz="1100" dirty="0">
                <a:solidFill>
                  <a:schemeClr val="tx2"/>
                </a:solidFill>
              </a:rPr>
              <a:t>mypy strict on 341 files, and 5 layer import contracts</a:t>
            </a:r>
            <a:endParaRPr lang="en-US" sz="1100" dirty="0"/>
          </a:p>
        </p:txBody>
      </p:sp>
      <p:sp>
        <p:nvSpPr>
          <p:cNvPr id="28" name="Card 555"/>
          <p:cNvSpPr/>
          <p:nvPr/>
        </p:nvSpPr>
        <p:spPr>
          <a:xfrm>
            <a:off x="4307738" y="3383280"/>
            <a:ext cx="3576218" cy="2468880"/>
          </a:xfrm>
          <a:prstGeom prst="roundRect">
            <a:avLst>
              <a:gd name="adj" fmla="val 3704"/>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9" name="Text 556"/>
          <p:cNvSpPr txBox="1"/>
          <p:nvPr/>
        </p:nvSpPr>
        <p:spPr>
          <a:xfrm>
            <a:off x="4582058" y="3566160"/>
            <a:ext cx="3027578" cy="329184"/>
          </a:xfrm>
          <a:prstGeom prst="rect">
            <a:avLst/>
          </a:prstGeom>
          <a:noFill/>
          <a:ln/>
        </p:spPr>
        <p:txBody>
          <a:bodyPr wrap="square" lIns="0" tIns="0" rIns="0" bIns="0" rtlCol="0" anchor="t"/>
          <a:lstStyle/>
          <a:p>
            <a:pPr indent="0" marL="0">
              <a:buNone/>
            </a:pPr>
            <a:r>
              <a:rPr lang="en-US" sz="1800" b="1" dirty="0">
                <a:solidFill>
                  <a:schemeClr val="tx1"/>
                </a:solidFill>
              </a:rPr>
              <a:t>Twenty holds, five units</a:t>
            </a:r>
            <a:endParaRPr lang="en-US" sz="1800" dirty="0"/>
          </a:p>
        </p:txBody>
      </p:sp>
      <p:sp>
        <p:nvSpPr>
          <p:cNvPr id="30" name="Held request 557"/>
          <p:cNvSpPr/>
          <p:nvPr/>
        </p:nvSpPr>
        <p:spPr>
          <a:xfrm>
            <a:off x="4582058" y="4059936"/>
            <a:ext cx="219456" cy="219456"/>
          </a:xfrm>
          <a:prstGeom prst="ellipse">
            <a:avLst/>
          </a:prstGeom>
          <a:solidFill>
            <a:schemeClr val="accent3"/>
          </a:solidFill>
          <a:ln/>
        </p:spPr>
      </p:sp>
      <p:sp>
        <p:nvSpPr>
          <p:cNvPr id="31" name="Held request 558"/>
          <p:cNvSpPr/>
          <p:nvPr/>
        </p:nvSpPr>
        <p:spPr>
          <a:xfrm>
            <a:off x="4883810" y="4059936"/>
            <a:ext cx="219456" cy="219456"/>
          </a:xfrm>
          <a:prstGeom prst="ellipse">
            <a:avLst/>
          </a:prstGeom>
          <a:solidFill>
            <a:schemeClr val="accent3"/>
          </a:solidFill>
          <a:ln/>
        </p:spPr>
      </p:sp>
      <p:sp>
        <p:nvSpPr>
          <p:cNvPr id="32" name="Held request 559"/>
          <p:cNvSpPr/>
          <p:nvPr/>
        </p:nvSpPr>
        <p:spPr>
          <a:xfrm>
            <a:off x="5185562" y="4059936"/>
            <a:ext cx="219456" cy="219456"/>
          </a:xfrm>
          <a:prstGeom prst="ellipse">
            <a:avLst/>
          </a:prstGeom>
          <a:solidFill>
            <a:schemeClr val="accent3"/>
          </a:solidFill>
          <a:ln/>
        </p:spPr>
      </p:sp>
      <p:sp>
        <p:nvSpPr>
          <p:cNvPr id="33" name="Held request 560"/>
          <p:cNvSpPr/>
          <p:nvPr/>
        </p:nvSpPr>
        <p:spPr>
          <a:xfrm>
            <a:off x="5487314" y="4059936"/>
            <a:ext cx="219456" cy="219456"/>
          </a:xfrm>
          <a:prstGeom prst="ellipse">
            <a:avLst/>
          </a:prstGeom>
          <a:solidFill>
            <a:schemeClr val="accent3"/>
          </a:solidFill>
          <a:ln/>
        </p:spPr>
      </p:sp>
      <p:sp>
        <p:nvSpPr>
          <p:cNvPr id="34" name="Held request 561"/>
          <p:cNvSpPr/>
          <p:nvPr/>
        </p:nvSpPr>
        <p:spPr>
          <a:xfrm>
            <a:off x="5789066" y="4059936"/>
            <a:ext cx="219456" cy="219456"/>
          </a:xfrm>
          <a:prstGeom prst="ellipse">
            <a:avLst/>
          </a:prstGeom>
          <a:solidFill>
            <a:schemeClr val="accent3"/>
          </a:solidFill>
          <a:ln/>
        </p:spPr>
      </p:sp>
      <p:sp>
        <p:nvSpPr>
          <p:cNvPr id="35" name="Refused request 562"/>
          <p:cNvSpPr/>
          <p:nvPr/>
        </p:nvSpPr>
        <p:spPr>
          <a:xfrm>
            <a:off x="6090818" y="4059936"/>
            <a:ext cx="219456" cy="219456"/>
          </a:xfrm>
          <a:prstGeom prst="ellipse">
            <a:avLst/>
          </a:prstGeom>
          <a:solidFill>
            <a:srgbClr val="F1F5F9"/>
          </a:solidFill>
          <a:ln w="12700">
            <a:solidFill>
              <a:srgbClr val="4E5B6F"/>
            </a:solidFill>
            <a:prstDash val="solid"/>
          </a:ln>
        </p:spPr>
      </p:sp>
      <p:sp>
        <p:nvSpPr>
          <p:cNvPr id="36" name="Refused request 563"/>
          <p:cNvSpPr/>
          <p:nvPr/>
        </p:nvSpPr>
        <p:spPr>
          <a:xfrm>
            <a:off x="6392570" y="4059936"/>
            <a:ext cx="219456" cy="219456"/>
          </a:xfrm>
          <a:prstGeom prst="ellipse">
            <a:avLst/>
          </a:prstGeom>
          <a:solidFill>
            <a:srgbClr val="F1F5F9"/>
          </a:solidFill>
          <a:ln w="12700">
            <a:solidFill>
              <a:srgbClr val="4E5B6F"/>
            </a:solidFill>
            <a:prstDash val="solid"/>
          </a:ln>
        </p:spPr>
      </p:sp>
      <p:sp>
        <p:nvSpPr>
          <p:cNvPr id="37" name="Refused request 564"/>
          <p:cNvSpPr/>
          <p:nvPr/>
        </p:nvSpPr>
        <p:spPr>
          <a:xfrm>
            <a:off x="6694322" y="4059936"/>
            <a:ext cx="219456" cy="219456"/>
          </a:xfrm>
          <a:prstGeom prst="ellipse">
            <a:avLst/>
          </a:prstGeom>
          <a:solidFill>
            <a:srgbClr val="F1F5F9"/>
          </a:solidFill>
          <a:ln w="12700">
            <a:solidFill>
              <a:srgbClr val="4E5B6F"/>
            </a:solidFill>
            <a:prstDash val="solid"/>
          </a:ln>
        </p:spPr>
      </p:sp>
      <p:sp>
        <p:nvSpPr>
          <p:cNvPr id="38" name="Refused request 565"/>
          <p:cNvSpPr/>
          <p:nvPr/>
        </p:nvSpPr>
        <p:spPr>
          <a:xfrm>
            <a:off x="6996074" y="4059936"/>
            <a:ext cx="219456" cy="219456"/>
          </a:xfrm>
          <a:prstGeom prst="ellipse">
            <a:avLst/>
          </a:prstGeom>
          <a:solidFill>
            <a:srgbClr val="F1F5F9"/>
          </a:solidFill>
          <a:ln w="12700">
            <a:solidFill>
              <a:srgbClr val="4E5B6F"/>
            </a:solidFill>
            <a:prstDash val="solid"/>
          </a:ln>
        </p:spPr>
      </p:sp>
      <p:sp>
        <p:nvSpPr>
          <p:cNvPr id="39" name="Refused request 566"/>
          <p:cNvSpPr/>
          <p:nvPr/>
        </p:nvSpPr>
        <p:spPr>
          <a:xfrm>
            <a:off x="7297826" y="4059936"/>
            <a:ext cx="219456" cy="219456"/>
          </a:xfrm>
          <a:prstGeom prst="ellipse">
            <a:avLst/>
          </a:prstGeom>
          <a:solidFill>
            <a:srgbClr val="F1F5F9"/>
          </a:solidFill>
          <a:ln w="12700">
            <a:solidFill>
              <a:srgbClr val="4E5B6F"/>
            </a:solidFill>
            <a:prstDash val="solid"/>
          </a:ln>
        </p:spPr>
      </p:sp>
      <p:sp>
        <p:nvSpPr>
          <p:cNvPr id="40" name="Refused request 567"/>
          <p:cNvSpPr/>
          <p:nvPr/>
        </p:nvSpPr>
        <p:spPr>
          <a:xfrm>
            <a:off x="4582058" y="4361688"/>
            <a:ext cx="219456" cy="219456"/>
          </a:xfrm>
          <a:prstGeom prst="ellipse">
            <a:avLst/>
          </a:prstGeom>
          <a:solidFill>
            <a:srgbClr val="F1F5F9"/>
          </a:solidFill>
          <a:ln w="12700">
            <a:solidFill>
              <a:srgbClr val="4E5B6F"/>
            </a:solidFill>
            <a:prstDash val="solid"/>
          </a:ln>
        </p:spPr>
      </p:sp>
      <p:sp>
        <p:nvSpPr>
          <p:cNvPr id="41" name="Refused request 568"/>
          <p:cNvSpPr/>
          <p:nvPr/>
        </p:nvSpPr>
        <p:spPr>
          <a:xfrm>
            <a:off x="4883810" y="4361688"/>
            <a:ext cx="219456" cy="219456"/>
          </a:xfrm>
          <a:prstGeom prst="ellipse">
            <a:avLst/>
          </a:prstGeom>
          <a:solidFill>
            <a:srgbClr val="F1F5F9"/>
          </a:solidFill>
          <a:ln w="12700">
            <a:solidFill>
              <a:srgbClr val="4E5B6F"/>
            </a:solidFill>
            <a:prstDash val="solid"/>
          </a:ln>
        </p:spPr>
      </p:sp>
      <p:sp>
        <p:nvSpPr>
          <p:cNvPr id="42" name="Refused request 569"/>
          <p:cNvSpPr/>
          <p:nvPr/>
        </p:nvSpPr>
        <p:spPr>
          <a:xfrm>
            <a:off x="5185562" y="4361688"/>
            <a:ext cx="219456" cy="219456"/>
          </a:xfrm>
          <a:prstGeom prst="ellipse">
            <a:avLst/>
          </a:prstGeom>
          <a:solidFill>
            <a:srgbClr val="F1F5F9"/>
          </a:solidFill>
          <a:ln w="12700">
            <a:solidFill>
              <a:srgbClr val="4E5B6F"/>
            </a:solidFill>
            <a:prstDash val="solid"/>
          </a:ln>
        </p:spPr>
      </p:sp>
      <p:sp>
        <p:nvSpPr>
          <p:cNvPr id="43" name="Refused request 570"/>
          <p:cNvSpPr/>
          <p:nvPr/>
        </p:nvSpPr>
        <p:spPr>
          <a:xfrm>
            <a:off x="5487314" y="4361688"/>
            <a:ext cx="219456" cy="219456"/>
          </a:xfrm>
          <a:prstGeom prst="ellipse">
            <a:avLst/>
          </a:prstGeom>
          <a:solidFill>
            <a:srgbClr val="F1F5F9"/>
          </a:solidFill>
          <a:ln w="12700">
            <a:solidFill>
              <a:srgbClr val="4E5B6F"/>
            </a:solidFill>
            <a:prstDash val="solid"/>
          </a:ln>
        </p:spPr>
      </p:sp>
      <p:sp>
        <p:nvSpPr>
          <p:cNvPr id="44" name="Refused request 571"/>
          <p:cNvSpPr/>
          <p:nvPr/>
        </p:nvSpPr>
        <p:spPr>
          <a:xfrm>
            <a:off x="5789066" y="4361688"/>
            <a:ext cx="219456" cy="219456"/>
          </a:xfrm>
          <a:prstGeom prst="ellipse">
            <a:avLst/>
          </a:prstGeom>
          <a:solidFill>
            <a:srgbClr val="F1F5F9"/>
          </a:solidFill>
          <a:ln w="12700">
            <a:solidFill>
              <a:srgbClr val="4E5B6F"/>
            </a:solidFill>
            <a:prstDash val="solid"/>
          </a:ln>
        </p:spPr>
      </p:sp>
      <p:sp>
        <p:nvSpPr>
          <p:cNvPr id="45" name="Refused request 572"/>
          <p:cNvSpPr/>
          <p:nvPr/>
        </p:nvSpPr>
        <p:spPr>
          <a:xfrm>
            <a:off x="6090818" y="4361688"/>
            <a:ext cx="219456" cy="219456"/>
          </a:xfrm>
          <a:prstGeom prst="ellipse">
            <a:avLst/>
          </a:prstGeom>
          <a:solidFill>
            <a:srgbClr val="F1F5F9"/>
          </a:solidFill>
          <a:ln w="12700">
            <a:solidFill>
              <a:srgbClr val="4E5B6F"/>
            </a:solidFill>
            <a:prstDash val="solid"/>
          </a:ln>
        </p:spPr>
      </p:sp>
      <p:sp>
        <p:nvSpPr>
          <p:cNvPr id="46" name="Refused request 573"/>
          <p:cNvSpPr/>
          <p:nvPr/>
        </p:nvSpPr>
        <p:spPr>
          <a:xfrm>
            <a:off x="6392570" y="4361688"/>
            <a:ext cx="219456" cy="219456"/>
          </a:xfrm>
          <a:prstGeom prst="ellipse">
            <a:avLst/>
          </a:prstGeom>
          <a:solidFill>
            <a:srgbClr val="F1F5F9"/>
          </a:solidFill>
          <a:ln w="12700">
            <a:solidFill>
              <a:srgbClr val="4E5B6F"/>
            </a:solidFill>
            <a:prstDash val="solid"/>
          </a:ln>
        </p:spPr>
      </p:sp>
      <p:sp>
        <p:nvSpPr>
          <p:cNvPr id="47" name="Refused request 574"/>
          <p:cNvSpPr/>
          <p:nvPr/>
        </p:nvSpPr>
        <p:spPr>
          <a:xfrm>
            <a:off x="6694322" y="4361688"/>
            <a:ext cx="219456" cy="219456"/>
          </a:xfrm>
          <a:prstGeom prst="ellipse">
            <a:avLst/>
          </a:prstGeom>
          <a:solidFill>
            <a:srgbClr val="F1F5F9"/>
          </a:solidFill>
          <a:ln w="12700">
            <a:solidFill>
              <a:srgbClr val="4E5B6F"/>
            </a:solidFill>
            <a:prstDash val="solid"/>
          </a:ln>
        </p:spPr>
      </p:sp>
      <p:sp>
        <p:nvSpPr>
          <p:cNvPr id="48" name="Refused request 575"/>
          <p:cNvSpPr/>
          <p:nvPr/>
        </p:nvSpPr>
        <p:spPr>
          <a:xfrm>
            <a:off x="6996074" y="4361688"/>
            <a:ext cx="219456" cy="219456"/>
          </a:xfrm>
          <a:prstGeom prst="ellipse">
            <a:avLst/>
          </a:prstGeom>
          <a:solidFill>
            <a:srgbClr val="F1F5F9"/>
          </a:solidFill>
          <a:ln w="12700">
            <a:solidFill>
              <a:srgbClr val="4E5B6F"/>
            </a:solidFill>
            <a:prstDash val="solid"/>
          </a:ln>
        </p:spPr>
      </p:sp>
      <p:sp>
        <p:nvSpPr>
          <p:cNvPr id="49" name="Refused request 576"/>
          <p:cNvSpPr/>
          <p:nvPr/>
        </p:nvSpPr>
        <p:spPr>
          <a:xfrm>
            <a:off x="7297826" y="4361688"/>
            <a:ext cx="219456" cy="219456"/>
          </a:xfrm>
          <a:prstGeom prst="ellipse">
            <a:avLst/>
          </a:prstGeom>
          <a:solidFill>
            <a:srgbClr val="F1F5F9"/>
          </a:solidFill>
          <a:ln w="12700">
            <a:solidFill>
              <a:srgbClr val="4E5B6F"/>
            </a:solidFill>
            <a:prstDash val="solid"/>
          </a:ln>
        </p:spPr>
      </p:sp>
      <p:sp>
        <p:nvSpPr>
          <p:cNvPr id="50" name="Text 577"/>
          <p:cNvSpPr txBox="1"/>
          <p:nvPr/>
        </p:nvSpPr>
        <p:spPr>
          <a:xfrm>
            <a:off x="4582058" y="4745736"/>
            <a:ext cx="3027578" cy="603504"/>
          </a:xfrm>
          <a:prstGeom prst="rect">
            <a:avLst/>
          </a:prstGeom>
          <a:noFill/>
          <a:ln/>
        </p:spPr>
        <p:txBody>
          <a:bodyPr wrap="square" lIns="0" tIns="0" rIns="0" bIns="0" rtlCol="0" anchor="t"/>
          <a:lstStyle/>
          <a:p>
            <a:pPr indent="0" marL="0">
              <a:buNone/>
            </a:pPr>
            <a:r>
              <a:rPr lang="en-US" sz="1600" b="1" dirty="0">
                <a:solidFill>
                  <a:schemeClr val="accent3"/>
                </a:solidFill>
              </a:rPr>
              <a:t>5 holds</a:t>
            </a:r>
            <a:pPr indent="0" marL="0">
              <a:buNone/>
            </a:pPr>
            <a:r>
              <a:rPr lang="en-US" sz="1600" dirty="0">
                <a:solidFill>
                  <a:schemeClr val="tx2"/>
                </a:solidFill>
              </a:rPr>
              <a:t> and </a:t>
            </a:r>
            <a:pPr indent="0" marL="0">
              <a:buNone/>
            </a:pPr>
            <a:r>
              <a:rPr lang="en-US" sz="1600" b="1" dirty="0">
                <a:solidFill>
                  <a:schemeClr val="tx2"/>
                </a:solidFill>
              </a:rPr>
              <a:t>15 clean refusals</a:t>
            </a:r>
            <a:endParaRPr lang="en-US" sz="1600" dirty="0"/>
          </a:p>
          <a:p>
            <a:pPr indent="0" marL="0">
              <a:buNone/>
            </a:pPr>
            <a:r>
              <a:rPr lang="en-US" sz="1400" dirty="0">
                <a:solidFill>
                  <a:schemeClr val="tx2"/>
                </a:solidFill>
              </a:rPr>
              <a:t>No unit is ever held twice</a:t>
            </a:r>
            <a:endParaRPr lang="en-US" sz="1600" dirty="0"/>
          </a:p>
        </p:txBody>
      </p:sp>
      <p:sp>
        <p:nvSpPr>
          <p:cNvPr id="51" name="Text 578"/>
          <p:cNvSpPr txBox="1"/>
          <p:nvPr/>
        </p:nvSpPr>
        <p:spPr>
          <a:xfrm>
            <a:off x="4582058" y="5431536"/>
            <a:ext cx="3027578" cy="274320"/>
          </a:xfrm>
          <a:prstGeom prst="rect">
            <a:avLst/>
          </a:prstGeom>
          <a:noFill/>
          <a:ln/>
        </p:spPr>
        <p:txBody>
          <a:bodyPr wrap="square" lIns="0" tIns="0" rIns="0" bIns="0" rtlCol="0" anchor="ctr"/>
          <a:lstStyle/>
          <a:p>
            <a:pPr indent="0" marL="0">
              <a:buNone/>
            </a:pPr>
            <a:r>
              <a:rPr lang="en-US" sz="1100" dirty="0">
                <a:solidFill>
                  <a:schemeClr val="tx2"/>
                </a:solidFill>
              </a:rPr>
              <a:t>Every pull request, against PostgreSQL 16</a:t>
            </a:r>
            <a:endParaRPr lang="en-US" sz="1100" dirty="0"/>
          </a:p>
        </p:txBody>
      </p:sp>
      <p:sp>
        <p:nvSpPr>
          <p:cNvPr id="52" name="Card 579"/>
          <p:cNvSpPr/>
          <p:nvPr/>
        </p:nvSpPr>
        <p:spPr>
          <a:xfrm>
            <a:off x="8158277" y="3383280"/>
            <a:ext cx="3576218" cy="2468880"/>
          </a:xfrm>
          <a:prstGeom prst="roundRect">
            <a:avLst>
              <a:gd name="adj" fmla="val 3704"/>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3" name="Text 580"/>
          <p:cNvSpPr txBox="1"/>
          <p:nvPr/>
        </p:nvSpPr>
        <p:spPr>
          <a:xfrm>
            <a:off x="8432597" y="3566160"/>
            <a:ext cx="3027578" cy="329184"/>
          </a:xfrm>
          <a:prstGeom prst="rect">
            <a:avLst/>
          </a:prstGeom>
          <a:noFill/>
          <a:ln/>
        </p:spPr>
        <p:txBody>
          <a:bodyPr wrap="square" lIns="0" tIns="0" rIns="0" bIns="0" rtlCol="0" anchor="t"/>
          <a:lstStyle/>
          <a:p>
            <a:pPr indent="0" marL="0">
              <a:buNone/>
            </a:pPr>
            <a:r>
              <a:rPr lang="en-US" sz="1800" b="1" dirty="0">
                <a:solidFill>
                  <a:schemeClr val="tx1"/>
                </a:solidFill>
              </a:rPr>
              <a:t>Every screen, three widths</a:t>
            </a:r>
            <a:endParaRPr lang="en-US" sz="1800" dirty="0"/>
          </a:p>
        </p:txBody>
      </p:sp>
      <p:sp>
        <p:nvSpPr>
          <p:cNvPr id="54" name="Layout 360 581"/>
          <p:cNvSpPr/>
          <p:nvPr/>
        </p:nvSpPr>
        <p:spPr>
          <a:xfrm>
            <a:off x="8487918" y="4078224"/>
            <a:ext cx="365760" cy="731520"/>
          </a:xfrm>
          <a:prstGeom prst="roundRect">
            <a:avLst>
              <a:gd name="adj" fmla="val 12500"/>
            </a:avLst>
          </a:prstGeom>
          <a:solidFill>
            <a:schemeClr val="bg1"/>
          </a:solidFill>
          <a:ln w="19050">
            <a:solidFill>
              <a:schemeClr val="tx1"/>
            </a:solidFill>
            <a:prstDash val="solid"/>
          </a:ln>
        </p:spPr>
      </p:sp>
      <p:sp>
        <p:nvSpPr>
          <p:cNvPr id="55" name="Glyph part 582"/>
          <p:cNvSpPr/>
          <p:nvPr/>
        </p:nvSpPr>
        <p:spPr>
          <a:xfrm>
            <a:off x="8542782" y="4169664"/>
            <a:ext cx="256032" cy="73152"/>
          </a:xfrm>
          <a:prstGeom prst="rect">
            <a:avLst/>
          </a:prstGeom>
          <a:solidFill>
            <a:schemeClr val="accent1"/>
          </a:solidFill>
          <a:ln/>
        </p:spPr>
      </p:sp>
      <p:sp>
        <p:nvSpPr>
          <p:cNvPr id="56" name="Glyph part 583"/>
          <p:cNvSpPr/>
          <p:nvPr/>
        </p:nvSpPr>
        <p:spPr>
          <a:xfrm>
            <a:off x="8542782" y="4315968"/>
            <a:ext cx="256032" cy="45720"/>
          </a:xfrm>
          <a:prstGeom prst="rect">
            <a:avLst/>
          </a:prstGeom>
          <a:solidFill>
            <a:srgbClr val="E2E5E9"/>
          </a:solidFill>
          <a:ln/>
        </p:spPr>
      </p:sp>
      <p:sp>
        <p:nvSpPr>
          <p:cNvPr id="57" name="Glyph part 584"/>
          <p:cNvSpPr/>
          <p:nvPr/>
        </p:nvSpPr>
        <p:spPr>
          <a:xfrm>
            <a:off x="8542782" y="4416552"/>
            <a:ext cx="179222" cy="45720"/>
          </a:xfrm>
          <a:prstGeom prst="rect">
            <a:avLst/>
          </a:prstGeom>
          <a:solidFill>
            <a:srgbClr val="E2E5E9"/>
          </a:solidFill>
          <a:ln/>
        </p:spPr>
      </p:sp>
      <p:sp>
        <p:nvSpPr>
          <p:cNvPr id="58" name="Text 585"/>
          <p:cNvSpPr txBox="1"/>
          <p:nvPr/>
        </p:nvSpPr>
        <p:spPr>
          <a:xfrm>
            <a:off x="8305038" y="4864608"/>
            <a:ext cx="731520" cy="237744"/>
          </a:xfrm>
          <a:prstGeom prst="rect">
            <a:avLst/>
          </a:prstGeom>
          <a:noFill/>
          <a:ln/>
        </p:spPr>
        <p:txBody>
          <a:bodyPr wrap="square" lIns="0" tIns="0" rIns="0" bIns="0" rtlCol="0" anchor="t"/>
          <a:lstStyle/>
          <a:p>
            <a:pPr algn="ctr" indent="0" marL="0">
              <a:buNone/>
            </a:pPr>
            <a:r>
              <a:rPr lang="en-US" sz="1200" b="1" dirty="0">
                <a:solidFill>
                  <a:schemeClr val="tx1"/>
                </a:solidFill>
              </a:rPr>
              <a:t>360</a:t>
            </a:r>
            <a:endParaRPr lang="en-US" sz="1200" dirty="0"/>
          </a:p>
        </p:txBody>
      </p:sp>
      <p:sp>
        <p:nvSpPr>
          <p:cNvPr id="59" name="Layout 768 586"/>
          <p:cNvSpPr/>
          <p:nvPr/>
        </p:nvSpPr>
        <p:spPr>
          <a:xfrm>
            <a:off x="9009126" y="4078224"/>
            <a:ext cx="777240" cy="731520"/>
          </a:xfrm>
          <a:prstGeom prst="roundRect">
            <a:avLst>
              <a:gd name="adj" fmla="val 6250"/>
            </a:avLst>
          </a:prstGeom>
          <a:solidFill>
            <a:schemeClr val="bg1"/>
          </a:solidFill>
          <a:ln w="19050">
            <a:solidFill>
              <a:schemeClr val="tx1"/>
            </a:solidFill>
            <a:prstDash val="solid"/>
          </a:ln>
        </p:spPr>
      </p:sp>
      <p:sp>
        <p:nvSpPr>
          <p:cNvPr id="60" name="Glyph part 587"/>
          <p:cNvSpPr/>
          <p:nvPr/>
        </p:nvSpPr>
        <p:spPr>
          <a:xfrm>
            <a:off x="9063990" y="4169664"/>
            <a:ext cx="667512" cy="73152"/>
          </a:xfrm>
          <a:prstGeom prst="rect">
            <a:avLst/>
          </a:prstGeom>
          <a:solidFill>
            <a:schemeClr val="accent1"/>
          </a:solidFill>
          <a:ln/>
        </p:spPr>
      </p:sp>
      <p:sp>
        <p:nvSpPr>
          <p:cNvPr id="61" name="Glyph part 588"/>
          <p:cNvSpPr/>
          <p:nvPr/>
        </p:nvSpPr>
        <p:spPr>
          <a:xfrm>
            <a:off x="9063990" y="4315968"/>
            <a:ext cx="667512" cy="45720"/>
          </a:xfrm>
          <a:prstGeom prst="rect">
            <a:avLst/>
          </a:prstGeom>
          <a:solidFill>
            <a:srgbClr val="E2E5E9"/>
          </a:solidFill>
          <a:ln/>
        </p:spPr>
      </p:sp>
      <p:sp>
        <p:nvSpPr>
          <p:cNvPr id="62" name="Glyph part 589"/>
          <p:cNvSpPr/>
          <p:nvPr/>
        </p:nvSpPr>
        <p:spPr>
          <a:xfrm>
            <a:off x="9063990" y="4416552"/>
            <a:ext cx="467258" cy="45720"/>
          </a:xfrm>
          <a:prstGeom prst="rect">
            <a:avLst/>
          </a:prstGeom>
          <a:solidFill>
            <a:srgbClr val="E2E5E9"/>
          </a:solidFill>
          <a:ln/>
        </p:spPr>
      </p:sp>
      <p:sp>
        <p:nvSpPr>
          <p:cNvPr id="63" name="Text 590"/>
          <p:cNvSpPr txBox="1"/>
          <p:nvPr/>
        </p:nvSpPr>
        <p:spPr>
          <a:xfrm>
            <a:off x="8826246" y="4864608"/>
            <a:ext cx="1143000" cy="237744"/>
          </a:xfrm>
          <a:prstGeom prst="rect">
            <a:avLst/>
          </a:prstGeom>
          <a:noFill/>
          <a:ln/>
        </p:spPr>
        <p:txBody>
          <a:bodyPr wrap="square" lIns="0" tIns="0" rIns="0" bIns="0" rtlCol="0" anchor="t"/>
          <a:lstStyle/>
          <a:p>
            <a:pPr algn="ctr" indent="0" marL="0">
              <a:buNone/>
            </a:pPr>
            <a:r>
              <a:rPr lang="en-US" sz="1200" b="1" dirty="0">
                <a:solidFill>
                  <a:schemeClr val="tx1"/>
                </a:solidFill>
              </a:rPr>
              <a:t>768</a:t>
            </a:r>
            <a:endParaRPr lang="en-US" sz="1200" dirty="0"/>
          </a:p>
        </p:txBody>
      </p:sp>
      <p:sp>
        <p:nvSpPr>
          <p:cNvPr id="64" name="Layout 1440 591"/>
          <p:cNvSpPr/>
          <p:nvPr/>
        </p:nvSpPr>
        <p:spPr>
          <a:xfrm>
            <a:off x="9941814" y="4078224"/>
            <a:ext cx="1463040" cy="731520"/>
          </a:xfrm>
          <a:prstGeom prst="roundRect">
            <a:avLst>
              <a:gd name="adj" fmla="val 6250"/>
            </a:avLst>
          </a:prstGeom>
          <a:solidFill>
            <a:schemeClr val="bg1"/>
          </a:solidFill>
          <a:ln w="19050">
            <a:solidFill>
              <a:schemeClr val="tx1"/>
            </a:solidFill>
            <a:prstDash val="solid"/>
          </a:ln>
        </p:spPr>
      </p:sp>
      <p:sp>
        <p:nvSpPr>
          <p:cNvPr id="65" name="Glyph part 592"/>
          <p:cNvSpPr/>
          <p:nvPr/>
        </p:nvSpPr>
        <p:spPr>
          <a:xfrm>
            <a:off x="9996678" y="4169664"/>
            <a:ext cx="1353312" cy="73152"/>
          </a:xfrm>
          <a:prstGeom prst="rect">
            <a:avLst/>
          </a:prstGeom>
          <a:solidFill>
            <a:schemeClr val="accent1"/>
          </a:solidFill>
          <a:ln/>
        </p:spPr>
      </p:sp>
      <p:sp>
        <p:nvSpPr>
          <p:cNvPr id="66" name="Glyph part 593"/>
          <p:cNvSpPr/>
          <p:nvPr/>
        </p:nvSpPr>
        <p:spPr>
          <a:xfrm>
            <a:off x="9996678" y="4315968"/>
            <a:ext cx="1353312" cy="45720"/>
          </a:xfrm>
          <a:prstGeom prst="rect">
            <a:avLst/>
          </a:prstGeom>
          <a:solidFill>
            <a:srgbClr val="E2E5E9"/>
          </a:solidFill>
          <a:ln/>
        </p:spPr>
      </p:sp>
      <p:sp>
        <p:nvSpPr>
          <p:cNvPr id="67" name="Glyph part 594"/>
          <p:cNvSpPr/>
          <p:nvPr/>
        </p:nvSpPr>
        <p:spPr>
          <a:xfrm>
            <a:off x="9996678" y="4416552"/>
            <a:ext cx="947318" cy="45720"/>
          </a:xfrm>
          <a:prstGeom prst="rect">
            <a:avLst/>
          </a:prstGeom>
          <a:solidFill>
            <a:srgbClr val="E2E5E9"/>
          </a:solidFill>
          <a:ln/>
        </p:spPr>
      </p:sp>
      <p:sp>
        <p:nvSpPr>
          <p:cNvPr id="68" name="Text 595"/>
          <p:cNvSpPr txBox="1"/>
          <p:nvPr/>
        </p:nvSpPr>
        <p:spPr>
          <a:xfrm>
            <a:off x="9758934" y="4864608"/>
            <a:ext cx="1828800" cy="237744"/>
          </a:xfrm>
          <a:prstGeom prst="rect">
            <a:avLst/>
          </a:prstGeom>
          <a:noFill/>
          <a:ln/>
        </p:spPr>
        <p:txBody>
          <a:bodyPr wrap="square" lIns="0" tIns="0" rIns="0" bIns="0" rtlCol="0" anchor="t"/>
          <a:lstStyle/>
          <a:p>
            <a:pPr algn="ctr" indent="0" marL="0">
              <a:buNone/>
            </a:pPr>
            <a:r>
              <a:rPr lang="en-US" sz="1200" b="1" dirty="0">
                <a:solidFill>
                  <a:schemeClr val="tx1"/>
                </a:solidFill>
              </a:rPr>
              <a:t>1440</a:t>
            </a:r>
            <a:endParaRPr lang="en-US" sz="1200" dirty="0"/>
          </a:p>
        </p:txBody>
      </p:sp>
      <p:sp>
        <p:nvSpPr>
          <p:cNvPr id="69" name="Text 596"/>
          <p:cNvSpPr txBox="1"/>
          <p:nvPr/>
        </p:nvSpPr>
        <p:spPr>
          <a:xfrm>
            <a:off x="8432597" y="5431536"/>
            <a:ext cx="3027578" cy="274320"/>
          </a:xfrm>
          <a:prstGeom prst="rect">
            <a:avLst/>
          </a:prstGeom>
          <a:noFill/>
          <a:ln/>
        </p:spPr>
        <p:txBody>
          <a:bodyPr wrap="square" lIns="0" tIns="0" rIns="0" bIns="0" rtlCol="0" anchor="ctr"/>
          <a:lstStyle/>
          <a:p>
            <a:pPr indent="0" marL="0">
              <a:buNone/>
            </a:pPr>
            <a:r>
              <a:rPr lang="en-US" sz="1100" dirty="0">
                <a:solidFill>
                  <a:schemeClr val="tx2"/>
                </a:solidFill>
              </a:rPr>
              <a:t>Pixels wide, and nothing scrolls sideways</a:t>
            </a:r>
            <a:endParaRPr lang="en-US" sz="11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5  |  TESTING, DEVIATIONS AND WHAT IS NEXT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Deviations from the design</a:t>
            </a:r>
            <a:endParaRPr lang="en-US" sz="3600" dirty="0"/>
          </a:p>
        </p:txBody>
      </p:sp>
      <p:sp>
        <p:nvSpPr>
          <p:cNvPr id="5" name="Text 597"/>
          <p:cNvSpPr txBox="1"/>
          <p:nvPr/>
        </p:nvSpPr>
        <p:spPr>
          <a:xfrm>
            <a:off x="457200" y="1645920"/>
            <a:ext cx="329184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THE DESIGN</a:t>
            </a:r>
            <a:endParaRPr lang="en-US" sz="1200" dirty="0"/>
          </a:p>
        </p:txBody>
      </p:sp>
      <p:sp>
        <p:nvSpPr>
          <p:cNvPr id="6" name="Text 598"/>
          <p:cNvSpPr txBox="1"/>
          <p:nvPr/>
        </p:nvSpPr>
        <p:spPr>
          <a:xfrm>
            <a:off x="4206240" y="1645920"/>
            <a:ext cx="329184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WHAT I BUILT</a:t>
            </a:r>
            <a:endParaRPr lang="en-US" sz="1200" dirty="0"/>
          </a:p>
        </p:txBody>
      </p:sp>
      <p:sp>
        <p:nvSpPr>
          <p:cNvPr id="7" name="Text 599"/>
          <p:cNvSpPr txBox="1"/>
          <p:nvPr/>
        </p:nvSpPr>
        <p:spPr>
          <a:xfrm>
            <a:off x="7772400" y="1645920"/>
            <a:ext cx="3962095"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WHY</a:t>
            </a:r>
            <a:endParaRPr lang="en-US" sz="1200" dirty="0"/>
          </a:p>
        </p:txBody>
      </p:sp>
      <p:sp>
        <p:nvSpPr>
          <p:cNvPr id="8" name="Chip 600"/>
          <p:cNvSpPr/>
          <p:nvPr/>
        </p:nvSpPr>
        <p:spPr>
          <a:xfrm>
            <a:off x="457200" y="2029968"/>
            <a:ext cx="3291840" cy="845820"/>
          </a:xfrm>
          <a:prstGeom prst="roundRect">
            <a:avLst>
              <a:gd name="adj" fmla="val 8649"/>
            </a:avLst>
          </a:prstGeom>
          <a:solidFill>
            <a:srgbClr val="F1F2F4"/>
          </a:solidFill>
          <a:ln/>
        </p:spPr>
        <p:txBody>
          <a:bodyPr wrap="square" lIns="127000" tIns="127000" rIns="127000" bIns="127000" rtlCol="0" anchor="ctr"/>
          <a:lstStyle/>
          <a:p>
            <a:pPr algn="l" indent="0" marL="0">
              <a:buNone/>
            </a:pPr>
            <a:r>
              <a:rPr lang="en-US" sz="1400" dirty="0">
                <a:solidFill>
                  <a:schemeClr val="tx2"/>
                </a:solidFill>
              </a:rPr>
              <a:t>Production capped at four instances</a:t>
            </a:r>
            <a:endParaRPr lang="en-US" sz="1400" dirty="0"/>
          </a:p>
        </p:txBody>
      </p:sp>
      <p:sp>
        <p:nvSpPr>
          <p:cNvPr id="9" name="Connector 601"/>
          <p:cNvSpPr/>
          <p:nvPr/>
        </p:nvSpPr>
        <p:spPr>
          <a:xfrm>
            <a:off x="3822192" y="2452878"/>
            <a:ext cx="310896" cy="0"/>
          </a:xfrm>
          <a:prstGeom prst="line">
            <a:avLst/>
          </a:prstGeom>
          <a:noFill/>
          <a:ln w="25400">
            <a:solidFill>
              <a:schemeClr val="tx2"/>
            </a:solidFill>
            <a:prstDash val="solid"/>
            <a:tailEnd type="triangle"/>
          </a:ln>
        </p:spPr>
      </p:sp>
      <p:sp>
        <p:nvSpPr>
          <p:cNvPr id="10" name="Card 602"/>
          <p:cNvSpPr/>
          <p:nvPr/>
        </p:nvSpPr>
        <p:spPr>
          <a:xfrm>
            <a:off x="4206240" y="2029968"/>
            <a:ext cx="3291840" cy="845820"/>
          </a:xfrm>
          <a:prstGeom prst="roundRect">
            <a:avLst>
              <a:gd name="adj" fmla="val 10811"/>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1" name="Text 603"/>
          <p:cNvSpPr txBox="1"/>
          <p:nvPr/>
        </p:nvSpPr>
        <p:spPr>
          <a:xfrm>
            <a:off x="4343400" y="2075688"/>
            <a:ext cx="3017520" cy="754380"/>
          </a:xfrm>
          <a:prstGeom prst="rect">
            <a:avLst/>
          </a:prstGeom>
          <a:noFill/>
          <a:ln/>
        </p:spPr>
        <p:txBody>
          <a:bodyPr wrap="square" lIns="0" tIns="0" rIns="0" bIns="0" rtlCol="0" anchor="ctr"/>
          <a:lstStyle/>
          <a:p>
            <a:pPr indent="0" marL="0">
              <a:buNone/>
            </a:pPr>
            <a:r>
              <a:rPr lang="en-US" sz="1400" b="1" dirty="0">
                <a:solidFill>
                  <a:schemeClr val="tx1"/>
                </a:solidFill>
              </a:rPr>
              <a:t>One instance in both environments</a:t>
            </a:r>
            <a:endParaRPr lang="en-US" sz="1400" dirty="0"/>
          </a:p>
        </p:txBody>
      </p:sp>
      <p:sp>
        <p:nvSpPr>
          <p:cNvPr id="12" name="Text 604"/>
          <p:cNvSpPr txBox="1"/>
          <p:nvPr/>
        </p:nvSpPr>
        <p:spPr>
          <a:xfrm>
            <a:off x="7772400" y="2029968"/>
            <a:ext cx="3962095" cy="845820"/>
          </a:xfrm>
          <a:prstGeom prst="rect">
            <a:avLst/>
          </a:prstGeom>
          <a:noFill/>
          <a:ln/>
        </p:spPr>
        <p:txBody>
          <a:bodyPr wrap="square" lIns="0" tIns="0" rIns="0" bIns="0" rtlCol="0" anchor="ctr"/>
          <a:lstStyle/>
          <a:p>
            <a:pPr indent="0" marL="0">
              <a:buNone/>
            </a:pPr>
            <a:r>
              <a:rPr lang="en-US" sz="1400" dirty="0">
                <a:solidFill>
                  <a:schemeClr val="tx2"/>
                </a:solidFill>
              </a:rPr>
              <a:t>An instance cap is the only hard limit on cost while this runs on a free trial.</a:t>
            </a:r>
            <a:endParaRPr lang="en-US" sz="1400" dirty="0"/>
          </a:p>
        </p:txBody>
      </p:sp>
      <p:sp>
        <p:nvSpPr>
          <p:cNvPr id="13" name="Chip 605"/>
          <p:cNvSpPr/>
          <p:nvPr/>
        </p:nvSpPr>
        <p:spPr>
          <a:xfrm>
            <a:off x="457200" y="3022092"/>
            <a:ext cx="3291840" cy="845820"/>
          </a:xfrm>
          <a:prstGeom prst="roundRect">
            <a:avLst>
              <a:gd name="adj" fmla="val 8649"/>
            </a:avLst>
          </a:prstGeom>
          <a:solidFill>
            <a:srgbClr val="F1F2F4"/>
          </a:solidFill>
          <a:ln/>
        </p:spPr>
        <p:txBody>
          <a:bodyPr wrap="square" lIns="127000" tIns="127000" rIns="127000" bIns="127000" rtlCol="0" anchor="ctr"/>
          <a:lstStyle/>
          <a:p>
            <a:pPr algn="l" indent="0" marL="0">
              <a:buNone/>
            </a:pPr>
            <a:r>
              <a:rPr lang="en-US" sz="1400" dirty="0">
                <a:solidFill>
                  <a:schemeClr val="tx2"/>
                </a:solidFill>
              </a:rPr>
              <a:t>Email delivered to every customer</a:t>
            </a:r>
            <a:endParaRPr lang="en-US" sz="1400" dirty="0"/>
          </a:p>
        </p:txBody>
      </p:sp>
      <p:sp>
        <p:nvSpPr>
          <p:cNvPr id="14" name="Connector 606"/>
          <p:cNvSpPr/>
          <p:nvPr/>
        </p:nvSpPr>
        <p:spPr>
          <a:xfrm>
            <a:off x="3822192" y="3445002"/>
            <a:ext cx="310896" cy="0"/>
          </a:xfrm>
          <a:prstGeom prst="line">
            <a:avLst/>
          </a:prstGeom>
          <a:noFill/>
          <a:ln w="25400">
            <a:solidFill>
              <a:schemeClr val="tx2"/>
            </a:solidFill>
            <a:prstDash val="solid"/>
            <a:tailEnd type="triangle"/>
          </a:ln>
        </p:spPr>
      </p:sp>
      <p:sp>
        <p:nvSpPr>
          <p:cNvPr id="15" name="Card 607"/>
          <p:cNvSpPr/>
          <p:nvPr/>
        </p:nvSpPr>
        <p:spPr>
          <a:xfrm>
            <a:off x="4206240" y="3022092"/>
            <a:ext cx="3291840" cy="845820"/>
          </a:xfrm>
          <a:prstGeom prst="roundRect">
            <a:avLst>
              <a:gd name="adj" fmla="val 10811"/>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16" name="Text 608"/>
          <p:cNvSpPr txBox="1"/>
          <p:nvPr/>
        </p:nvSpPr>
        <p:spPr>
          <a:xfrm>
            <a:off x="4343400" y="3067812"/>
            <a:ext cx="3017520" cy="754380"/>
          </a:xfrm>
          <a:prstGeom prst="rect">
            <a:avLst/>
          </a:prstGeom>
          <a:noFill/>
          <a:ln/>
        </p:spPr>
        <p:txBody>
          <a:bodyPr wrap="square" lIns="0" tIns="0" rIns="0" bIns="0" rtlCol="0" anchor="ctr"/>
          <a:lstStyle/>
          <a:p>
            <a:pPr indent="0" marL="0">
              <a:buNone/>
            </a:pPr>
            <a:r>
              <a:rPr lang="en-US" sz="1400" b="1" dirty="0">
                <a:solidFill>
                  <a:schemeClr val="tx1"/>
                </a:solidFill>
              </a:rPr>
              <a:t>Restricted mode, delivered to my own address only</a:t>
            </a:r>
            <a:endParaRPr lang="en-US" sz="1400" dirty="0"/>
          </a:p>
        </p:txBody>
      </p:sp>
      <p:sp>
        <p:nvSpPr>
          <p:cNvPr id="17" name="Text 609"/>
          <p:cNvSpPr txBox="1"/>
          <p:nvPr/>
        </p:nvSpPr>
        <p:spPr>
          <a:xfrm>
            <a:off x="7772400" y="3022092"/>
            <a:ext cx="3962095" cy="845820"/>
          </a:xfrm>
          <a:prstGeom prst="rect">
            <a:avLst/>
          </a:prstGeom>
          <a:noFill/>
          <a:ln/>
        </p:spPr>
        <p:txBody>
          <a:bodyPr wrap="square" lIns="0" tIns="0" rIns="0" bIns="0" rtlCol="0" anchor="ctr"/>
          <a:lstStyle/>
          <a:p>
            <a:pPr indent="0" marL="0">
              <a:buNone/>
            </a:pPr>
            <a:r>
              <a:rPr lang="en-US" sz="1400" dirty="0">
                <a:solidFill>
                  <a:schemeClr val="tx2"/>
                </a:solidFill>
              </a:rPr>
              <a:t>There is no verified sending domain, and a stranger should never get mail from a university project.</a:t>
            </a:r>
            <a:endParaRPr lang="en-US" sz="1400" dirty="0"/>
          </a:p>
        </p:txBody>
      </p:sp>
      <p:sp>
        <p:nvSpPr>
          <p:cNvPr id="18" name="Chip 610"/>
          <p:cNvSpPr/>
          <p:nvPr/>
        </p:nvSpPr>
        <p:spPr>
          <a:xfrm>
            <a:off x="457200" y="4014216"/>
            <a:ext cx="3291840" cy="845820"/>
          </a:xfrm>
          <a:prstGeom prst="roundRect">
            <a:avLst>
              <a:gd name="adj" fmla="val 8649"/>
            </a:avLst>
          </a:prstGeom>
          <a:solidFill>
            <a:srgbClr val="F1F2F4"/>
          </a:solidFill>
          <a:ln/>
        </p:spPr>
        <p:txBody>
          <a:bodyPr wrap="square" lIns="127000" tIns="127000" rIns="127000" bIns="127000" rtlCol="0" anchor="ctr"/>
          <a:lstStyle/>
          <a:p>
            <a:pPr algn="l" indent="0" marL="0">
              <a:buNone/>
            </a:pPr>
            <a:r>
              <a:rPr lang="en-US" sz="1400" dirty="0">
                <a:solidFill>
                  <a:schemeClr val="tx2"/>
                </a:solidFill>
              </a:rPr>
              <a:t>A later correction to a settled hire is a reversing charge</a:t>
            </a:r>
            <a:endParaRPr lang="en-US" sz="1400" dirty="0"/>
          </a:p>
        </p:txBody>
      </p:sp>
      <p:sp>
        <p:nvSpPr>
          <p:cNvPr id="19" name="Connector 611"/>
          <p:cNvSpPr/>
          <p:nvPr/>
        </p:nvSpPr>
        <p:spPr>
          <a:xfrm>
            <a:off x="3822192" y="4437126"/>
            <a:ext cx="310896" cy="0"/>
          </a:xfrm>
          <a:prstGeom prst="line">
            <a:avLst/>
          </a:prstGeom>
          <a:noFill/>
          <a:ln w="25400">
            <a:solidFill>
              <a:schemeClr val="tx2"/>
            </a:solidFill>
            <a:prstDash val="solid"/>
            <a:tailEnd type="triangle"/>
          </a:ln>
        </p:spPr>
      </p:sp>
      <p:sp>
        <p:nvSpPr>
          <p:cNvPr id="20" name="Card 612"/>
          <p:cNvSpPr/>
          <p:nvPr/>
        </p:nvSpPr>
        <p:spPr>
          <a:xfrm>
            <a:off x="4206240" y="4014216"/>
            <a:ext cx="3291840" cy="845820"/>
          </a:xfrm>
          <a:prstGeom prst="roundRect">
            <a:avLst>
              <a:gd name="adj" fmla="val 10811"/>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1" name="Text 613"/>
          <p:cNvSpPr txBox="1"/>
          <p:nvPr/>
        </p:nvSpPr>
        <p:spPr>
          <a:xfrm>
            <a:off x="4343400" y="4059936"/>
            <a:ext cx="3017520" cy="754380"/>
          </a:xfrm>
          <a:prstGeom prst="rect">
            <a:avLst/>
          </a:prstGeom>
          <a:noFill/>
          <a:ln/>
        </p:spPr>
        <p:txBody>
          <a:bodyPr wrap="square" lIns="0" tIns="0" rIns="0" bIns="0" rtlCol="0" anchor="ctr"/>
          <a:lstStyle/>
          <a:p>
            <a:pPr indent="0" marL="0">
              <a:buNone/>
            </a:pPr>
            <a:r>
              <a:rPr lang="en-US" sz="1400" b="1" dirty="0">
                <a:solidFill>
                  <a:schemeClr val="tx1"/>
                </a:solidFill>
              </a:rPr>
              <a:t>A settled hire only takes a correction that gives money back</a:t>
            </a:r>
            <a:endParaRPr lang="en-US" sz="1400" dirty="0"/>
          </a:p>
        </p:txBody>
      </p:sp>
      <p:sp>
        <p:nvSpPr>
          <p:cNvPr id="22" name="Text 614"/>
          <p:cNvSpPr txBox="1"/>
          <p:nvPr/>
        </p:nvSpPr>
        <p:spPr>
          <a:xfrm>
            <a:off x="7772400" y="4014216"/>
            <a:ext cx="3962095" cy="845820"/>
          </a:xfrm>
          <a:prstGeom prst="rect">
            <a:avLst/>
          </a:prstGeom>
          <a:noFill/>
          <a:ln/>
        </p:spPr>
        <p:txBody>
          <a:bodyPr wrap="square" lIns="0" tIns="0" rIns="0" bIns="0" rtlCol="0" anchor="ctr"/>
          <a:lstStyle/>
          <a:p>
            <a:pPr indent="0" marL="0">
              <a:buNone/>
            </a:pPr>
            <a:r>
              <a:rPr lang="en-US" sz="1400" dirty="0">
                <a:solidFill>
                  <a:schemeClr val="tx2"/>
                </a:solidFill>
              </a:rPr>
              <a:t>Asking a settled hire for more would reopen it. Money found owed later is a matter for the office.</a:t>
            </a:r>
            <a:endParaRPr lang="en-US" sz="1400" dirty="0"/>
          </a:p>
        </p:txBody>
      </p:sp>
      <p:sp>
        <p:nvSpPr>
          <p:cNvPr id="23" name="Chip 615"/>
          <p:cNvSpPr/>
          <p:nvPr/>
        </p:nvSpPr>
        <p:spPr>
          <a:xfrm>
            <a:off x="457200" y="5006340"/>
            <a:ext cx="3291840" cy="845820"/>
          </a:xfrm>
          <a:prstGeom prst="roundRect">
            <a:avLst>
              <a:gd name="adj" fmla="val 8649"/>
            </a:avLst>
          </a:prstGeom>
          <a:solidFill>
            <a:srgbClr val="F1F2F4"/>
          </a:solidFill>
          <a:ln/>
        </p:spPr>
        <p:txBody>
          <a:bodyPr wrap="square" lIns="127000" tIns="127000" rIns="127000" bIns="127000" rtlCol="0" anchor="ctr"/>
          <a:lstStyle/>
          <a:p>
            <a:pPr algn="l" indent="0" marL="0">
              <a:buNone/>
            </a:pPr>
            <a:r>
              <a:rPr lang="en-US" sz="1400" dirty="0">
                <a:solidFill>
                  <a:schemeClr val="tx2"/>
                </a:solidFill>
              </a:rPr>
              <a:t>Utilisation worked out in one query with window functions</a:t>
            </a:r>
            <a:endParaRPr lang="en-US" sz="1400" dirty="0"/>
          </a:p>
        </p:txBody>
      </p:sp>
      <p:sp>
        <p:nvSpPr>
          <p:cNvPr id="24" name="Connector 616"/>
          <p:cNvSpPr/>
          <p:nvPr/>
        </p:nvSpPr>
        <p:spPr>
          <a:xfrm>
            <a:off x="3822192" y="5429250"/>
            <a:ext cx="310896" cy="0"/>
          </a:xfrm>
          <a:prstGeom prst="line">
            <a:avLst/>
          </a:prstGeom>
          <a:noFill/>
          <a:ln w="25400">
            <a:solidFill>
              <a:schemeClr val="tx2"/>
            </a:solidFill>
            <a:prstDash val="solid"/>
            <a:tailEnd type="triangle"/>
          </a:ln>
        </p:spPr>
      </p:sp>
      <p:sp>
        <p:nvSpPr>
          <p:cNvPr id="25" name="Card 617"/>
          <p:cNvSpPr/>
          <p:nvPr/>
        </p:nvSpPr>
        <p:spPr>
          <a:xfrm>
            <a:off x="4206240" y="5006340"/>
            <a:ext cx="3291840" cy="845820"/>
          </a:xfrm>
          <a:prstGeom prst="roundRect">
            <a:avLst>
              <a:gd name="adj" fmla="val 10811"/>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26" name="Text 618"/>
          <p:cNvSpPr txBox="1"/>
          <p:nvPr/>
        </p:nvSpPr>
        <p:spPr>
          <a:xfrm>
            <a:off x="4343400" y="5052060"/>
            <a:ext cx="3017520" cy="754380"/>
          </a:xfrm>
          <a:prstGeom prst="rect">
            <a:avLst/>
          </a:prstGeom>
          <a:noFill/>
          <a:ln/>
        </p:spPr>
        <p:txBody>
          <a:bodyPr wrap="square" lIns="0" tIns="0" rIns="0" bIns="0" rtlCol="0" anchor="ctr"/>
          <a:lstStyle/>
          <a:p>
            <a:pPr indent="0" marL="0">
              <a:buNone/>
            </a:pPr>
            <a:r>
              <a:rPr lang="en-US" sz="1400" b="1" dirty="0">
                <a:solidFill>
                  <a:schemeClr val="tx1"/>
                </a:solidFill>
              </a:rPr>
              <a:t>The report works out its days in the domain</a:t>
            </a:r>
            <a:endParaRPr lang="en-US" sz="1400" dirty="0"/>
          </a:p>
        </p:txBody>
      </p:sp>
      <p:sp>
        <p:nvSpPr>
          <p:cNvPr id="27" name="Text 619"/>
          <p:cNvSpPr txBox="1"/>
          <p:nvPr/>
        </p:nvSpPr>
        <p:spPr>
          <a:xfrm>
            <a:off x="7772400" y="5006340"/>
            <a:ext cx="3962095" cy="845820"/>
          </a:xfrm>
          <a:prstGeom prst="rect">
            <a:avLst/>
          </a:prstGeom>
          <a:noFill/>
          <a:ln/>
        </p:spPr>
        <p:txBody>
          <a:bodyPr wrap="square" lIns="0" tIns="0" rIns="0" bIns="0" rtlCol="0" anchor="ctr"/>
          <a:lstStyle/>
          <a:p>
            <a:pPr indent="0" marL="0">
              <a:buNone/>
            </a:pPr>
            <a:r>
              <a:rPr lang="en-US" sz="1400" dirty="0">
                <a:solidFill>
                  <a:schemeClr val="tx2"/>
                </a:solidFill>
              </a:rPr>
              <a:t>Each definition has one copy, tested with no database, and it takes a few milliseconds at 400 units.</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457200"/>
            <a:ext cx="11277295" cy="256032"/>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5  |  TESTING, DEVIATIONS AND WHAT IS NEXT</a:t>
            </a:r>
            <a:endParaRPr lang="en-US" sz="1200" dirty="0"/>
          </a:p>
        </p:txBody>
      </p:sp>
      <p:sp>
        <p:nvSpPr>
          <p:cNvPr id="3" name="Text 0"/>
          <p:cNvSpPr/>
          <p:nvPr>
            <p:ph idx="101" type="title" hasCustomPrompt="1"/>
          </p:nvPr>
        </p:nvSpPr>
        <p:spPr>
          <a:xfrm>
            <a:off x="457200" y="713232"/>
            <a:ext cx="11277295" cy="658368"/>
          </a:xfrm>
          <a:prstGeom prst="rect">
            <a:avLst/>
          </a:prstGeom>
          <a:noFill/>
          <a:ln/>
        </p:spPr>
        <p:txBody>
          <a:bodyPr wrap="square" lIns="0" tIns="0" rIns="0" bIns="0" rtlCol="0" anchor="ctr"/>
          <a:lstStyle/>
          <a:p>
            <a:pPr algn="l" indent="0" marL="0">
              <a:buNone/>
            </a:pPr>
            <a:r>
              <a:rPr lang="en-US" sz="3600" b="1" dirty="0">
                <a:solidFill>
                  <a:schemeClr val="tx1"/>
                </a:solidFill>
              </a:rPr>
              <a:t>What is left for Task 3</a:t>
            </a:r>
            <a:endParaRPr lang="en-US" sz="3600" dirty="0"/>
          </a:p>
        </p:txBody>
      </p:sp>
      <p:sp>
        <p:nvSpPr>
          <p:cNvPr id="5" name="Card 620"/>
          <p:cNvSpPr/>
          <p:nvPr/>
        </p:nvSpPr>
        <p:spPr>
          <a:xfrm>
            <a:off x="457200" y="1645920"/>
            <a:ext cx="11277295" cy="1371600"/>
          </a:xfrm>
          <a:prstGeom prst="roundRect">
            <a:avLst>
              <a:gd name="adj" fmla="val 6667"/>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 name="Text 621"/>
          <p:cNvSpPr txBox="1"/>
          <p:nvPr/>
        </p:nvSpPr>
        <p:spPr>
          <a:xfrm>
            <a:off x="731520" y="1828800"/>
            <a:ext cx="4206240" cy="365760"/>
          </a:xfrm>
          <a:prstGeom prst="rect">
            <a:avLst/>
          </a:prstGeom>
          <a:noFill/>
          <a:ln/>
        </p:spPr>
        <p:txBody>
          <a:bodyPr wrap="square" lIns="0" tIns="0" rIns="0" bIns="0" rtlCol="0" anchor="ctr"/>
          <a:lstStyle/>
          <a:p>
            <a:pPr indent="0" marL="0">
              <a:buNone/>
            </a:pPr>
            <a:r>
              <a:rPr lang="en-US" sz="2000" b="1" dirty="0">
                <a:solidFill>
                  <a:schemeClr val="tx1"/>
                </a:solidFill>
              </a:rPr>
              <a:t>All 22 planned branches merged</a:t>
            </a:r>
            <a:endParaRPr lang="en-US" sz="2000" dirty="0"/>
          </a:p>
        </p:txBody>
      </p:sp>
      <p:sp>
        <p:nvSpPr>
          <p:cNvPr id="7" name="Release v0.1.0 622"/>
          <p:cNvSpPr/>
          <p:nvPr/>
        </p:nvSpPr>
        <p:spPr>
          <a:xfrm>
            <a:off x="5013655" y="1865376"/>
            <a:ext cx="713232" cy="292608"/>
          </a:xfrm>
          <a:prstGeom prst="roundRect">
            <a:avLst>
              <a:gd name="adj" fmla="val 50000"/>
            </a:avLst>
          </a:prstGeom>
          <a:solidFill>
            <a:schemeClr val="tx1"/>
          </a:solidFill>
          <a:ln/>
        </p:spPr>
        <p:txBody>
          <a:bodyPr wrap="square" lIns="25400" tIns="25400" rIns="25400" bIns="2540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v0.1.0</a:t>
            </a:r>
            <a:endParaRPr lang="en-US" sz="1100" dirty="0"/>
          </a:p>
        </p:txBody>
      </p:sp>
      <p:sp>
        <p:nvSpPr>
          <p:cNvPr id="8" name="Release v0.2.0 623"/>
          <p:cNvSpPr/>
          <p:nvPr/>
        </p:nvSpPr>
        <p:spPr>
          <a:xfrm>
            <a:off x="5800039" y="1865376"/>
            <a:ext cx="713232" cy="292608"/>
          </a:xfrm>
          <a:prstGeom prst="roundRect">
            <a:avLst>
              <a:gd name="adj" fmla="val 50000"/>
            </a:avLst>
          </a:prstGeom>
          <a:solidFill>
            <a:schemeClr val="tx1"/>
          </a:solidFill>
          <a:ln/>
        </p:spPr>
        <p:txBody>
          <a:bodyPr wrap="square" lIns="25400" tIns="25400" rIns="25400" bIns="2540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v0.2.0</a:t>
            </a:r>
            <a:endParaRPr lang="en-US" sz="1100" dirty="0"/>
          </a:p>
        </p:txBody>
      </p:sp>
      <p:sp>
        <p:nvSpPr>
          <p:cNvPr id="9" name="Release v0.3.0 624"/>
          <p:cNvSpPr/>
          <p:nvPr/>
        </p:nvSpPr>
        <p:spPr>
          <a:xfrm>
            <a:off x="6586423" y="1865376"/>
            <a:ext cx="713232" cy="292608"/>
          </a:xfrm>
          <a:prstGeom prst="roundRect">
            <a:avLst>
              <a:gd name="adj" fmla="val 50000"/>
            </a:avLst>
          </a:prstGeom>
          <a:solidFill>
            <a:schemeClr val="tx1"/>
          </a:solidFill>
          <a:ln/>
        </p:spPr>
        <p:txBody>
          <a:bodyPr wrap="square" lIns="25400" tIns="25400" rIns="25400" bIns="2540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v0.3.0</a:t>
            </a:r>
            <a:endParaRPr lang="en-US" sz="1100" dirty="0"/>
          </a:p>
        </p:txBody>
      </p:sp>
      <p:sp>
        <p:nvSpPr>
          <p:cNvPr id="10" name="Release v0.4.0 625"/>
          <p:cNvSpPr/>
          <p:nvPr/>
        </p:nvSpPr>
        <p:spPr>
          <a:xfrm>
            <a:off x="7372807" y="1865376"/>
            <a:ext cx="713232" cy="292608"/>
          </a:xfrm>
          <a:prstGeom prst="roundRect">
            <a:avLst>
              <a:gd name="adj" fmla="val 50000"/>
            </a:avLst>
          </a:prstGeom>
          <a:solidFill>
            <a:schemeClr val="tx1"/>
          </a:solidFill>
          <a:ln/>
        </p:spPr>
        <p:txBody>
          <a:bodyPr wrap="square" lIns="25400" tIns="25400" rIns="25400" bIns="2540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v0.4.0</a:t>
            </a:r>
            <a:endParaRPr lang="en-US" sz="1100" dirty="0"/>
          </a:p>
        </p:txBody>
      </p:sp>
      <p:sp>
        <p:nvSpPr>
          <p:cNvPr id="11" name="Release v0.4.1 626"/>
          <p:cNvSpPr/>
          <p:nvPr/>
        </p:nvSpPr>
        <p:spPr>
          <a:xfrm>
            <a:off x="8159191" y="1865376"/>
            <a:ext cx="713232" cy="292608"/>
          </a:xfrm>
          <a:prstGeom prst="roundRect">
            <a:avLst>
              <a:gd name="adj" fmla="val 50000"/>
            </a:avLst>
          </a:prstGeom>
          <a:solidFill>
            <a:schemeClr val="tx1"/>
          </a:solidFill>
          <a:ln/>
        </p:spPr>
        <p:txBody>
          <a:bodyPr wrap="square" lIns="25400" tIns="25400" rIns="25400" bIns="2540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v0.4.1</a:t>
            </a:r>
            <a:endParaRPr lang="en-US" sz="1100" dirty="0"/>
          </a:p>
        </p:txBody>
      </p:sp>
      <p:sp>
        <p:nvSpPr>
          <p:cNvPr id="12" name="Release task2-v1.0 627"/>
          <p:cNvSpPr/>
          <p:nvPr/>
        </p:nvSpPr>
        <p:spPr>
          <a:xfrm>
            <a:off x="8945575" y="1865376"/>
            <a:ext cx="1024128" cy="292608"/>
          </a:xfrm>
          <a:prstGeom prst="roundRect">
            <a:avLst>
              <a:gd name="adj" fmla="val 50000"/>
            </a:avLst>
          </a:prstGeom>
          <a:solidFill>
            <a:schemeClr val="accent1"/>
          </a:solidFill>
          <a:ln/>
        </p:spPr>
        <p:txBody>
          <a:bodyPr wrap="square" lIns="25400" tIns="25400" rIns="25400" bIns="2540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task2-v1.0</a:t>
            </a:r>
            <a:endParaRPr lang="en-US" sz="1100" dirty="0"/>
          </a:p>
        </p:txBody>
      </p:sp>
      <p:sp>
        <p:nvSpPr>
          <p:cNvPr id="13" name="Release v1.0.0 in Task 3 628"/>
          <p:cNvSpPr/>
          <p:nvPr/>
        </p:nvSpPr>
        <p:spPr>
          <a:xfrm>
            <a:off x="10042855" y="1865376"/>
            <a:ext cx="1417320" cy="292608"/>
          </a:xfrm>
          <a:prstGeom prst="roundRect">
            <a:avLst>
              <a:gd name="adj" fmla="val 50000"/>
            </a:avLst>
          </a:prstGeom>
          <a:solidFill>
            <a:schemeClr val="bg1"/>
          </a:solidFill>
          <a:ln w="12700">
            <a:solidFill>
              <a:srgbClr val="5D6B7E"/>
            </a:solidFill>
            <a:prstDash val="dash"/>
          </a:ln>
        </p:spPr>
        <p:txBody>
          <a:bodyPr wrap="square" lIns="25400" tIns="25400" rIns="25400" bIns="25400" rtlCol="0" anchor="ctr"/>
          <a:lstStyle/>
          <a:p>
            <a:pPr algn="ctr" indent="0" marL="0">
              <a:buNone/>
            </a:pPr>
            <a:r>
              <a:rPr lang="en-US" sz="1100" dirty="0">
                <a:solidFill>
                  <a:schemeClr val="tx2"/>
                </a:solidFill>
                <a:latin typeface="Consolas" pitchFamily="34" charset="0"/>
                <a:ea typeface="Consolas" pitchFamily="34" charset="-122"/>
                <a:cs typeface="Consolas" pitchFamily="34" charset="-120"/>
              </a:rPr>
              <a:t>v1.0.0 in Task 3</a:t>
            </a:r>
            <a:endParaRPr lang="en-US" sz="1100" dirty="0"/>
          </a:p>
        </p:txBody>
      </p:sp>
      <p:sp>
        <p:nvSpPr>
          <p:cNvPr id="14" name="Branch 001 629"/>
          <p:cNvSpPr/>
          <p:nvPr/>
        </p:nvSpPr>
        <p:spPr>
          <a:xfrm>
            <a:off x="731520"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001</a:t>
            </a:r>
            <a:endParaRPr lang="en-US" sz="1000" dirty="0"/>
          </a:p>
        </p:txBody>
      </p:sp>
      <p:sp>
        <p:nvSpPr>
          <p:cNvPr id="15" name="Branch 002 630"/>
          <p:cNvSpPr/>
          <p:nvPr/>
        </p:nvSpPr>
        <p:spPr>
          <a:xfrm>
            <a:off x="1223343"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002</a:t>
            </a:r>
            <a:endParaRPr lang="en-US" sz="1000" dirty="0"/>
          </a:p>
        </p:txBody>
      </p:sp>
      <p:sp>
        <p:nvSpPr>
          <p:cNvPr id="16" name="Branch 003 631"/>
          <p:cNvSpPr/>
          <p:nvPr/>
        </p:nvSpPr>
        <p:spPr>
          <a:xfrm>
            <a:off x="1715165"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003</a:t>
            </a:r>
            <a:endParaRPr lang="en-US" sz="1000" dirty="0"/>
          </a:p>
        </p:txBody>
      </p:sp>
      <p:sp>
        <p:nvSpPr>
          <p:cNvPr id="17" name="Branch 004 632"/>
          <p:cNvSpPr/>
          <p:nvPr/>
        </p:nvSpPr>
        <p:spPr>
          <a:xfrm>
            <a:off x="2206988"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004</a:t>
            </a:r>
            <a:endParaRPr lang="en-US" sz="1000" dirty="0"/>
          </a:p>
        </p:txBody>
      </p:sp>
      <p:sp>
        <p:nvSpPr>
          <p:cNvPr id="18" name="Branch 005 633"/>
          <p:cNvSpPr/>
          <p:nvPr/>
        </p:nvSpPr>
        <p:spPr>
          <a:xfrm>
            <a:off x="2698810"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005</a:t>
            </a:r>
            <a:endParaRPr lang="en-US" sz="1000" dirty="0"/>
          </a:p>
        </p:txBody>
      </p:sp>
      <p:sp>
        <p:nvSpPr>
          <p:cNvPr id="19" name="Branch 006 634"/>
          <p:cNvSpPr/>
          <p:nvPr/>
        </p:nvSpPr>
        <p:spPr>
          <a:xfrm>
            <a:off x="3190633"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006</a:t>
            </a:r>
            <a:endParaRPr lang="en-US" sz="1000" dirty="0"/>
          </a:p>
        </p:txBody>
      </p:sp>
      <p:sp>
        <p:nvSpPr>
          <p:cNvPr id="20" name="Branch 007 635"/>
          <p:cNvSpPr/>
          <p:nvPr/>
        </p:nvSpPr>
        <p:spPr>
          <a:xfrm>
            <a:off x="3682455"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007</a:t>
            </a:r>
            <a:endParaRPr lang="en-US" sz="1000" dirty="0"/>
          </a:p>
        </p:txBody>
      </p:sp>
      <p:sp>
        <p:nvSpPr>
          <p:cNvPr id="21" name="Branch 008 636"/>
          <p:cNvSpPr/>
          <p:nvPr/>
        </p:nvSpPr>
        <p:spPr>
          <a:xfrm>
            <a:off x="4174278"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008</a:t>
            </a:r>
            <a:endParaRPr lang="en-US" sz="1000" dirty="0"/>
          </a:p>
        </p:txBody>
      </p:sp>
      <p:sp>
        <p:nvSpPr>
          <p:cNvPr id="22" name="Branch 009 637"/>
          <p:cNvSpPr/>
          <p:nvPr/>
        </p:nvSpPr>
        <p:spPr>
          <a:xfrm>
            <a:off x="4666100"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009</a:t>
            </a:r>
            <a:endParaRPr lang="en-US" sz="1000" dirty="0"/>
          </a:p>
        </p:txBody>
      </p:sp>
      <p:sp>
        <p:nvSpPr>
          <p:cNvPr id="23" name="Branch 010 638"/>
          <p:cNvSpPr/>
          <p:nvPr/>
        </p:nvSpPr>
        <p:spPr>
          <a:xfrm>
            <a:off x="5157923"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010</a:t>
            </a:r>
            <a:endParaRPr lang="en-US" sz="1000" dirty="0"/>
          </a:p>
        </p:txBody>
      </p:sp>
      <p:sp>
        <p:nvSpPr>
          <p:cNvPr id="24" name="Branch 011 639"/>
          <p:cNvSpPr/>
          <p:nvPr/>
        </p:nvSpPr>
        <p:spPr>
          <a:xfrm>
            <a:off x="5649745"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011</a:t>
            </a:r>
            <a:endParaRPr lang="en-US" sz="1000" dirty="0"/>
          </a:p>
        </p:txBody>
      </p:sp>
      <p:sp>
        <p:nvSpPr>
          <p:cNvPr id="25" name="Branch 012 640"/>
          <p:cNvSpPr/>
          <p:nvPr/>
        </p:nvSpPr>
        <p:spPr>
          <a:xfrm>
            <a:off x="6141568"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012</a:t>
            </a:r>
            <a:endParaRPr lang="en-US" sz="1000" dirty="0"/>
          </a:p>
        </p:txBody>
      </p:sp>
      <p:sp>
        <p:nvSpPr>
          <p:cNvPr id="26" name="Branch 013 641"/>
          <p:cNvSpPr/>
          <p:nvPr/>
        </p:nvSpPr>
        <p:spPr>
          <a:xfrm>
            <a:off x="6633390"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013</a:t>
            </a:r>
            <a:endParaRPr lang="en-US" sz="1000" dirty="0"/>
          </a:p>
        </p:txBody>
      </p:sp>
      <p:sp>
        <p:nvSpPr>
          <p:cNvPr id="27" name="Branch 014 642"/>
          <p:cNvSpPr/>
          <p:nvPr/>
        </p:nvSpPr>
        <p:spPr>
          <a:xfrm>
            <a:off x="7125213"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014</a:t>
            </a:r>
            <a:endParaRPr lang="en-US" sz="1000" dirty="0"/>
          </a:p>
        </p:txBody>
      </p:sp>
      <p:sp>
        <p:nvSpPr>
          <p:cNvPr id="28" name="Branch 015 643"/>
          <p:cNvSpPr/>
          <p:nvPr/>
        </p:nvSpPr>
        <p:spPr>
          <a:xfrm>
            <a:off x="7617035"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015</a:t>
            </a:r>
            <a:endParaRPr lang="en-US" sz="1000" dirty="0"/>
          </a:p>
        </p:txBody>
      </p:sp>
      <p:sp>
        <p:nvSpPr>
          <p:cNvPr id="29" name="Branch 016 644"/>
          <p:cNvSpPr/>
          <p:nvPr/>
        </p:nvSpPr>
        <p:spPr>
          <a:xfrm>
            <a:off x="8108858"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016</a:t>
            </a:r>
            <a:endParaRPr lang="en-US" sz="1000" dirty="0"/>
          </a:p>
        </p:txBody>
      </p:sp>
      <p:sp>
        <p:nvSpPr>
          <p:cNvPr id="30" name="Branch 017 645"/>
          <p:cNvSpPr/>
          <p:nvPr/>
        </p:nvSpPr>
        <p:spPr>
          <a:xfrm>
            <a:off x="8600680"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017</a:t>
            </a:r>
            <a:endParaRPr lang="en-US" sz="1000" dirty="0"/>
          </a:p>
        </p:txBody>
      </p:sp>
      <p:sp>
        <p:nvSpPr>
          <p:cNvPr id="31" name="Branch 018 646"/>
          <p:cNvSpPr/>
          <p:nvPr/>
        </p:nvSpPr>
        <p:spPr>
          <a:xfrm>
            <a:off x="9092503"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018</a:t>
            </a:r>
            <a:endParaRPr lang="en-US" sz="1000" dirty="0"/>
          </a:p>
        </p:txBody>
      </p:sp>
      <p:sp>
        <p:nvSpPr>
          <p:cNvPr id="32" name="Branch 019 647"/>
          <p:cNvSpPr/>
          <p:nvPr/>
        </p:nvSpPr>
        <p:spPr>
          <a:xfrm>
            <a:off x="9584325"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019</a:t>
            </a:r>
            <a:endParaRPr lang="en-US" sz="1000" dirty="0"/>
          </a:p>
        </p:txBody>
      </p:sp>
      <p:sp>
        <p:nvSpPr>
          <p:cNvPr id="33" name="Branch 020 648"/>
          <p:cNvSpPr/>
          <p:nvPr/>
        </p:nvSpPr>
        <p:spPr>
          <a:xfrm>
            <a:off x="10076148"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020</a:t>
            </a:r>
            <a:endParaRPr lang="en-US" sz="1000" dirty="0"/>
          </a:p>
        </p:txBody>
      </p:sp>
      <p:sp>
        <p:nvSpPr>
          <p:cNvPr id="34" name="Branch 021 649"/>
          <p:cNvSpPr/>
          <p:nvPr/>
        </p:nvSpPr>
        <p:spPr>
          <a:xfrm>
            <a:off x="10567970"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021</a:t>
            </a:r>
            <a:endParaRPr lang="en-US" sz="1000" dirty="0"/>
          </a:p>
        </p:txBody>
      </p:sp>
      <p:sp>
        <p:nvSpPr>
          <p:cNvPr id="35" name="Branch 022 650"/>
          <p:cNvSpPr/>
          <p:nvPr/>
        </p:nvSpPr>
        <p:spPr>
          <a:xfrm>
            <a:off x="11059793" y="2377440"/>
            <a:ext cx="400383" cy="411480"/>
          </a:xfrm>
          <a:prstGeom prst="roundRect">
            <a:avLst>
              <a:gd name="adj" fmla="val 11419"/>
            </a:avLst>
          </a:prstGeom>
          <a:solidFill>
            <a:schemeClr val="tx1"/>
          </a:solidFill>
          <a:ln/>
        </p:spPr>
        <p:txBody>
          <a:bodyPr wrap="square" lIns="0" tIns="0" rIns="0" bIns="0" rtlCol="0" anchor="ctr"/>
          <a:lstStyle/>
          <a:p>
            <a:pPr algn="ctr" indent="0" marL="0">
              <a:buNone/>
            </a:pPr>
            <a:r>
              <a:rPr lang="en-US" sz="1000" dirty="0">
                <a:solidFill>
                  <a:schemeClr val="bg1"/>
                </a:solidFill>
                <a:latin typeface="Consolas" pitchFamily="34" charset="0"/>
                <a:ea typeface="Consolas" pitchFamily="34" charset="-122"/>
                <a:cs typeface="Consolas" pitchFamily="34" charset="-120"/>
              </a:rPr>
              <a:t>022</a:t>
            </a:r>
            <a:endParaRPr lang="en-US" sz="1000" dirty="0"/>
          </a:p>
        </p:txBody>
      </p:sp>
      <p:sp>
        <p:nvSpPr>
          <p:cNvPr id="36" name="Card 651"/>
          <p:cNvSpPr/>
          <p:nvPr/>
        </p:nvSpPr>
        <p:spPr>
          <a:xfrm>
            <a:off x="457200" y="3291840"/>
            <a:ext cx="2072579" cy="2560320"/>
          </a:xfrm>
          <a:prstGeom prst="roundRect">
            <a:avLst>
              <a:gd name="adj" fmla="val 441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37" name="Icon doc 652"/>
          <p:cNvSpPr/>
          <p:nvPr/>
        </p:nvSpPr>
        <p:spPr>
          <a:xfrm>
            <a:off x="685800" y="3520440"/>
            <a:ext cx="512064" cy="512064"/>
          </a:xfrm>
          <a:prstGeom prst="ellipse">
            <a:avLst/>
          </a:prstGeom>
          <a:solidFill>
            <a:schemeClr val="accent1"/>
          </a:solidFill>
          <a:ln/>
        </p:spPr>
      </p:sp>
      <p:sp>
        <p:nvSpPr>
          <p:cNvPr id="38" name="Glyph part 654"/>
          <p:cNvSpPr/>
          <p:nvPr/>
        </p:nvSpPr>
        <p:spPr>
          <a:xfrm>
            <a:off x="849660" y="3648456"/>
            <a:ext cx="184343" cy="256032"/>
          </a:xfrm>
          <a:prstGeom prst="snip1Rect">
            <a:avLst/>
          </a:prstGeom>
          <a:solidFill>
            <a:schemeClr val="tx1"/>
          </a:solidFill>
          <a:ln/>
        </p:spPr>
      </p:sp>
      <p:sp>
        <p:nvSpPr>
          <p:cNvPr id="39" name="Glyph part 655"/>
          <p:cNvSpPr/>
          <p:nvPr/>
        </p:nvSpPr>
        <p:spPr>
          <a:xfrm>
            <a:off x="885505" y="3755989"/>
            <a:ext cx="112654" cy="17922"/>
          </a:xfrm>
          <a:prstGeom prst="rect">
            <a:avLst/>
          </a:prstGeom>
          <a:solidFill>
            <a:schemeClr val="accent1"/>
          </a:solidFill>
          <a:ln/>
        </p:spPr>
      </p:sp>
      <p:sp>
        <p:nvSpPr>
          <p:cNvPr id="40" name="Glyph part 656"/>
          <p:cNvSpPr/>
          <p:nvPr/>
        </p:nvSpPr>
        <p:spPr>
          <a:xfrm>
            <a:off x="885505" y="3807196"/>
            <a:ext cx="112654" cy="17922"/>
          </a:xfrm>
          <a:prstGeom prst="rect">
            <a:avLst/>
          </a:prstGeom>
          <a:solidFill>
            <a:schemeClr val="accent1"/>
          </a:solidFill>
          <a:ln/>
        </p:spPr>
      </p:sp>
      <p:sp>
        <p:nvSpPr>
          <p:cNvPr id="41" name="Text 657"/>
          <p:cNvSpPr txBox="1"/>
          <p:nvPr/>
        </p:nvSpPr>
        <p:spPr>
          <a:xfrm>
            <a:off x="685800" y="4151376"/>
            <a:ext cx="1615379" cy="548640"/>
          </a:xfrm>
          <a:prstGeom prst="rect">
            <a:avLst/>
          </a:prstGeom>
          <a:noFill/>
          <a:ln/>
        </p:spPr>
        <p:txBody>
          <a:bodyPr wrap="square" lIns="0" tIns="0" rIns="0" bIns="0" rtlCol="0" anchor="t"/>
          <a:lstStyle/>
          <a:p>
            <a:pPr indent="0" marL="0">
              <a:buNone/>
            </a:pPr>
            <a:r>
              <a:rPr lang="en-US" sz="1600" b="1" dirty="0">
                <a:solidFill>
                  <a:schemeClr val="tx1"/>
                </a:solidFill>
              </a:rPr>
              <a:t>A customer's own data</a:t>
            </a:r>
            <a:endParaRPr lang="en-US" sz="1600" dirty="0"/>
          </a:p>
        </p:txBody>
      </p:sp>
      <p:sp>
        <p:nvSpPr>
          <p:cNvPr id="42" name="Text 658"/>
          <p:cNvSpPr txBox="1"/>
          <p:nvPr/>
        </p:nvSpPr>
        <p:spPr>
          <a:xfrm>
            <a:off x="685800" y="4736592"/>
            <a:ext cx="1615379" cy="978408"/>
          </a:xfrm>
          <a:prstGeom prst="rect">
            <a:avLst/>
          </a:prstGeom>
          <a:noFill/>
          <a:ln/>
        </p:spPr>
        <p:txBody>
          <a:bodyPr wrap="square" lIns="0" tIns="0" rIns="0" bIns="0" rtlCol="0" anchor="t"/>
          <a:lstStyle/>
          <a:p>
            <a:pPr indent="0" marL="0">
              <a:buNone/>
            </a:pPr>
            <a:r>
              <a:rPr lang="en-US" sz="1400" dirty="0">
                <a:solidFill>
                  <a:schemeClr val="tx2"/>
                </a:solidFill>
              </a:rPr>
              <a:t>The statement download, data export and the retention period</a:t>
            </a:r>
            <a:endParaRPr lang="en-US" sz="1400" dirty="0"/>
          </a:p>
        </p:txBody>
      </p:sp>
      <p:sp>
        <p:nvSpPr>
          <p:cNvPr id="43" name="Card 659"/>
          <p:cNvSpPr/>
          <p:nvPr/>
        </p:nvSpPr>
        <p:spPr>
          <a:xfrm>
            <a:off x="2758379" y="3291840"/>
            <a:ext cx="2072579" cy="2560320"/>
          </a:xfrm>
          <a:prstGeom prst="roundRect">
            <a:avLst>
              <a:gd name="adj" fmla="val 441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44" name="Icon camera 660"/>
          <p:cNvSpPr/>
          <p:nvPr/>
        </p:nvSpPr>
        <p:spPr>
          <a:xfrm>
            <a:off x="2986979" y="3520440"/>
            <a:ext cx="512064" cy="512064"/>
          </a:xfrm>
          <a:prstGeom prst="ellipse">
            <a:avLst/>
          </a:prstGeom>
          <a:solidFill>
            <a:schemeClr val="accent1"/>
          </a:solidFill>
          <a:ln/>
        </p:spPr>
      </p:sp>
      <p:sp>
        <p:nvSpPr>
          <p:cNvPr id="45" name="Glyph part 662"/>
          <p:cNvSpPr/>
          <p:nvPr/>
        </p:nvSpPr>
        <p:spPr>
          <a:xfrm>
            <a:off x="3191805" y="3674059"/>
            <a:ext cx="102413" cy="51206"/>
          </a:xfrm>
          <a:prstGeom prst="rect">
            <a:avLst/>
          </a:prstGeom>
          <a:solidFill>
            <a:schemeClr val="tx1"/>
          </a:solidFill>
          <a:ln/>
        </p:spPr>
      </p:sp>
      <p:sp>
        <p:nvSpPr>
          <p:cNvPr id="46" name="Glyph part 663"/>
          <p:cNvSpPr/>
          <p:nvPr/>
        </p:nvSpPr>
        <p:spPr>
          <a:xfrm>
            <a:off x="3114995" y="3709904"/>
            <a:ext cx="256032" cy="163860"/>
          </a:xfrm>
          <a:prstGeom prst="roundRect">
            <a:avLst>
              <a:gd name="adj" fmla="val 15625"/>
            </a:avLst>
          </a:prstGeom>
          <a:solidFill>
            <a:schemeClr val="tx1"/>
          </a:solidFill>
          <a:ln/>
        </p:spPr>
      </p:sp>
      <p:sp>
        <p:nvSpPr>
          <p:cNvPr id="47" name="Glyph part 664"/>
          <p:cNvSpPr/>
          <p:nvPr/>
        </p:nvSpPr>
        <p:spPr>
          <a:xfrm>
            <a:off x="3189244" y="3738067"/>
            <a:ext cx="107533" cy="107533"/>
          </a:xfrm>
          <a:prstGeom prst="ellipse">
            <a:avLst/>
          </a:prstGeom>
          <a:solidFill>
            <a:schemeClr val="accent1"/>
          </a:solidFill>
          <a:ln/>
        </p:spPr>
      </p:sp>
      <p:sp>
        <p:nvSpPr>
          <p:cNvPr id="48" name="Glyph part 665"/>
          <p:cNvSpPr/>
          <p:nvPr/>
        </p:nvSpPr>
        <p:spPr>
          <a:xfrm>
            <a:off x="3217408" y="3766231"/>
            <a:ext cx="51206" cy="51206"/>
          </a:xfrm>
          <a:prstGeom prst="ellipse">
            <a:avLst/>
          </a:prstGeom>
          <a:solidFill>
            <a:schemeClr val="tx1"/>
          </a:solidFill>
          <a:ln/>
        </p:spPr>
      </p:sp>
      <p:sp>
        <p:nvSpPr>
          <p:cNvPr id="49" name="Text 666"/>
          <p:cNvSpPr txBox="1"/>
          <p:nvPr/>
        </p:nvSpPr>
        <p:spPr>
          <a:xfrm>
            <a:off x="2986979" y="4151376"/>
            <a:ext cx="1615379" cy="548640"/>
          </a:xfrm>
          <a:prstGeom prst="rect">
            <a:avLst/>
          </a:prstGeom>
          <a:noFill/>
          <a:ln/>
        </p:spPr>
        <p:txBody>
          <a:bodyPr wrap="square" lIns="0" tIns="0" rIns="0" bIns="0" rtlCol="0" anchor="t"/>
          <a:lstStyle/>
          <a:p>
            <a:pPr indent="0" marL="0">
              <a:buNone/>
            </a:pPr>
            <a:r>
              <a:rPr lang="en-US" sz="1600" b="1" dirty="0">
                <a:solidFill>
                  <a:schemeClr val="tx1"/>
                </a:solidFill>
              </a:rPr>
              <a:t>Damage photographs</a:t>
            </a:r>
            <a:endParaRPr lang="en-US" sz="1600" dirty="0"/>
          </a:p>
        </p:txBody>
      </p:sp>
      <p:sp>
        <p:nvSpPr>
          <p:cNvPr id="50" name="Text 667"/>
          <p:cNvSpPr txBox="1"/>
          <p:nvPr/>
        </p:nvSpPr>
        <p:spPr>
          <a:xfrm>
            <a:off x="2986979" y="4736592"/>
            <a:ext cx="1615379" cy="978408"/>
          </a:xfrm>
          <a:prstGeom prst="rect">
            <a:avLst/>
          </a:prstGeom>
          <a:noFill/>
          <a:ln/>
        </p:spPr>
        <p:txBody>
          <a:bodyPr wrap="square" lIns="0" tIns="0" rIns="0" bIns="0" rtlCol="0" anchor="t"/>
          <a:lstStyle/>
          <a:p>
            <a:pPr indent="0" marL="0">
              <a:buNone/>
            </a:pPr>
            <a:r>
              <a:rPr lang="en-US" sz="1400" dirty="0">
                <a:solidFill>
                  <a:schemeClr val="tx2"/>
                </a:solidFill>
              </a:rPr>
              <a:t>The upload with its controls, and edge filtering</a:t>
            </a:r>
            <a:endParaRPr lang="en-US" sz="1400" dirty="0"/>
          </a:p>
        </p:txBody>
      </p:sp>
      <p:sp>
        <p:nvSpPr>
          <p:cNvPr id="51" name="Card 668"/>
          <p:cNvSpPr/>
          <p:nvPr/>
        </p:nvSpPr>
        <p:spPr>
          <a:xfrm>
            <a:off x="5059558" y="3291840"/>
            <a:ext cx="2072579" cy="2560320"/>
          </a:xfrm>
          <a:prstGeom prst="roundRect">
            <a:avLst>
              <a:gd name="adj" fmla="val 441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2" name="Icon clock 669"/>
          <p:cNvSpPr/>
          <p:nvPr/>
        </p:nvSpPr>
        <p:spPr>
          <a:xfrm>
            <a:off x="5288158" y="3520440"/>
            <a:ext cx="512064" cy="512064"/>
          </a:xfrm>
          <a:prstGeom prst="ellipse">
            <a:avLst/>
          </a:prstGeom>
          <a:solidFill>
            <a:schemeClr val="accent1"/>
          </a:solidFill>
          <a:ln/>
        </p:spPr>
      </p:sp>
      <p:sp>
        <p:nvSpPr>
          <p:cNvPr id="53" name="Glyph part 671"/>
          <p:cNvSpPr/>
          <p:nvPr/>
        </p:nvSpPr>
        <p:spPr>
          <a:xfrm>
            <a:off x="5426415" y="3658697"/>
            <a:ext cx="235549" cy="235549"/>
          </a:xfrm>
          <a:prstGeom prst="ellipse">
            <a:avLst/>
          </a:prstGeom>
          <a:noFill/>
          <a:ln w="28575">
            <a:solidFill>
              <a:schemeClr val="tx1"/>
            </a:solidFill>
            <a:prstDash val="solid"/>
          </a:ln>
        </p:spPr>
      </p:sp>
      <p:sp>
        <p:nvSpPr>
          <p:cNvPr id="54" name="Glyph stroke 672"/>
          <p:cNvSpPr/>
          <p:nvPr/>
        </p:nvSpPr>
        <p:spPr>
          <a:xfrm flipV="1">
            <a:off x="5544190" y="3699662"/>
            <a:ext cx="0" cy="76810"/>
          </a:xfrm>
          <a:prstGeom prst="line">
            <a:avLst/>
          </a:prstGeom>
          <a:noFill/>
          <a:ln w="28575">
            <a:solidFill>
              <a:schemeClr val="tx1"/>
            </a:solidFill>
            <a:prstDash val="solid"/>
          </a:ln>
        </p:spPr>
      </p:sp>
      <p:sp>
        <p:nvSpPr>
          <p:cNvPr id="55" name="Glyph stroke 673"/>
          <p:cNvSpPr/>
          <p:nvPr/>
        </p:nvSpPr>
        <p:spPr>
          <a:xfrm>
            <a:off x="5544190" y="3776472"/>
            <a:ext cx="56327" cy="0"/>
          </a:xfrm>
          <a:prstGeom prst="line">
            <a:avLst/>
          </a:prstGeom>
          <a:noFill/>
          <a:ln w="28575">
            <a:solidFill>
              <a:schemeClr val="tx1"/>
            </a:solidFill>
            <a:prstDash val="solid"/>
          </a:ln>
        </p:spPr>
      </p:sp>
      <p:sp>
        <p:nvSpPr>
          <p:cNvPr id="56" name="Text 674"/>
          <p:cNvSpPr txBox="1"/>
          <p:nvPr/>
        </p:nvSpPr>
        <p:spPr>
          <a:xfrm>
            <a:off x="5288158" y="4151376"/>
            <a:ext cx="1615379" cy="548640"/>
          </a:xfrm>
          <a:prstGeom prst="rect">
            <a:avLst/>
          </a:prstGeom>
          <a:noFill/>
          <a:ln/>
        </p:spPr>
        <p:txBody>
          <a:bodyPr wrap="square" lIns="0" tIns="0" rIns="0" bIns="0" rtlCol="0" anchor="t"/>
          <a:lstStyle/>
          <a:p>
            <a:pPr indent="0" marL="0">
              <a:buNone/>
            </a:pPr>
            <a:r>
              <a:rPr lang="en-US" sz="1600" b="1" dirty="0">
                <a:solidFill>
                  <a:schemeClr val="tx1"/>
                </a:solidFill>
              </a:rPr>
              <a:t>Measurements and drills</a:t>
            </a:r>
            <a:endParaRPr lang="en-US" sz="1600" dirty="0"/>
          </a:p>
        </p:txBody>
      </p:sp>
      <p:sp>
        <p:nvSpPr>
          <p:cNvPr id="57" name="Text 675"/>
          <p:cNvSpPr txBox="1"/>
          <p:nvPr/>
        </p:nvSpPr>
        <p:spPr>
          <a:xfrm>
            <a:off x="5288158" y="4736592"/>
            <a:ext cx="1615379" cy="978408"/>
          </a:xfrm>
          <a:prstGeom prst="rect">
            <a:avLst/>
          </a:prstGeom>
          <a:noFill/>
          <a:ln/>
        </p:spPr>
        <p:txBody>
          <a:bodyPr wrap="square" lIns="0" tIns="0" rIns="0" bIns="0" rtlCol="0" anchor="t"/>
          <a:lstStyle/>
          <a:p>
            <a:pPr indent="0" marL="0">
              <a:buNone/>
            </a:pPr>
            <a:r>
              <a:rPr lang="en-US" sz="1400" dirty="0">
                <a:solidFill>
                  <a:schemeClr val="tx2"/>
                </a:solidFill>
              </a:rPr>
              <a:t>Load, volume and cold start, the restore drill, usability sessions</a:t>
            </a:r>
            <a:endParaRPr lang="en-US" sz="1400" dirty="0"/>
          </a:p>
        </p:txBody>
      </p:sp>
      <p:sp>
        <p:nvSpPr>
          <p:cNvPr id="58" name="Card 676"/>
          <p:cNvSpPr/>
          <p:nvPr/>
        </p:nvSpPr>
        <p:spPr>
          <a:xfrm>
            <a:off x="7360737" y="3291840"/>
            <a:ext cx="2072579" cy="2560320"/>
          </a:xfrm>
          <a:prstGeom prst="roundRect">
            <a:avLst>
              <a:gd name="adj" fmla="val 441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59" name="Icon bolt 677"/>
          <p:cNvSpPr/>
          <p:nvPr/>
        </p:nvSpPr>
        <p:spPr>
          <a:xfrm>
            <a:off x="7589337" y="3520440"/>
            <a:ext cx="512064" cy="512064"/>
          </a:xfrm>
          <a:prstGeom prst="ellipse">
            <a:avLst/>
          </a:prstGeom>
          <a:solidFill>
            <a:schemeClr val="accent1"/>
          </a:solidFill>
          <a:ln/>
        </p:spPr>
      </p:sp>
      <p:sp>
        <p:nvSpPr>
          <p:cNvPr id="60" name="Glyph part 679"/>
          <p:cNvSpPr/>
          <p:nvPr/>
        </p:nvSpPr>
        <p:spPr>
          <a:xfrm>
            <a:off x="7737836" y="3648456"/>
            <a:ext cx="215067" cy="256032"/>
          </a:xfrm>
          <a:prstGeom prst="lightningBolt">
            <a:avLst/>
          </a:prstGeom>
          <a:solidFill>
            <a:schemeClr val="tx1"/>
          </a:solidFill>
          <a:ln/>
        </p:spPr>
      </p:sp>
      <p:sp>
        <p:nvSpPr>
          <p:cNvPr id="61" name="Text 680"/>
          <p:cNvSpPr txBox="1"/>
          <p:nvPr/>
        </p:nvSpPr>
        <p:spPr>
          <a:xfrm>
            <a:off x="7589337" y="4151376"/>
            <a:ext cx="1615379" cy="548640"/>
          </a:xfrm>
          <a:prstGeom prst="rect">
            <a:avLst/>
          </a:prstGeom>
          <a:noFill/>
          <a:ln/>
        </p:spPr>
        <p:txBody>
          <a:bodyPr wrap="square" lIns="0" tIns="0" rIns="0" bIns="0" rtlCol="0" anchor="t"/>
          <a:lstStyle/>
          <a:p>
            <a:pPr indent="0" marL="0">
              <a:buNone/>
            </a:pPr>
            <a:r>
              <a:rPr lang="en-US" sz="1600" b="1" dirty="0">
                <a:solidFill>
                  <a:schemeClr val="tx1"/>
                </a:solidFill>
              </a:rPr>
              <a:t>Alerting and incidents</a:t>
            </a:r>
            <a:endParaRPr lang="en-US" sz="1600" dirty="0"/>
          </a:p>
        </p:txBody>
      </p:sp>
      <p:sp>
        <p:nvSpPr>
          <p:cNvPr id="62" name="Text 681"/>
          <p:cNvSpPr txBox="1"/>
          <p:nvPr/>
        </p:nvSpPr>
        <p:spPr>
          <a:xfrm>
            <a:off x="7589337" y="4736592"/>
            <a:ext cx="1615379" cy="978408"/>
          </a:xfrm>
          <a:prstGeom prst="rect">
            <a:avLst/>
          </a:prstGeom>
          <a:noFill/>
          <a:ln/>
        </p:spPr>
        <p:txBody>
          <a:bodyPr wrap="square" lIns="0" tIns="0" rIns="0" bIns="0" rtlCol="0" anchor="t"/>
          <a:lstStyle/>
          <a:p>
            <a:pPr indent="0" marL="0">
              <a:buNone/>
            </a:pPr>
            <a:r>
              <a:rPr lang="en-US" sz="1400" dirty="0">
                <a:solidFill>
                  <a:schemeClr val="tx2"/>
                </a:solidFill>
              </a:rPr>
              <a:t>Alerts on the logged events, and the incident procedure</a:t>
            </a:r>
            <a:endParaRPr lang="en-US" sz="1400" dirty="0"/>
          </a:p>
        </p:txBody>
      </p:sp>
      <p:sp>
        <p:nvSpPr>
          <p:cNvPr id="63" name="Card 682"/>
          <p:cNvSpPr/>
          <p:nvPr/>
        </p:nvSpPr>
        <p:spPr>
          <a:xfrm>
            <a:off x="9661916" y="3291840"/>
            <a:ext cx="2072579" cy="2560320"/>
          </a:xfrm>
          <a:prstGeom prst="roundRect">
            <a:avLst>
              <a:gd name="adj" fmla="val 4412"/>
            </a:avLst>
          </a:prstGeom>
          <a:solidFill>
            <a:schemeClr val="bg1"/>
          </a:solidFill>
          <a:ln w="9525">
            <a:solidFill>
              <a:srgbClr val="E2E5E9"/>
            </a:solidFill>
            <a:prstDash val="solid"/>
          </a:ln>
          <a:effectLst>
            <a:outerShdw sx="100000" sy="100000" kx="0" ky="0" algn="bl" rotWithShape="0" blurRad="101600" dist="25400" dir="5400000">
              <a:srgbClr val="141613">
                <a:alpha val="10000"/>
              </a:srgbClr>
            </a:outerShdw>
          </a:effectLst>
        </p:spPr>
      </p:sp>
      <p:sp>
        <p:nvSpPr>
          <p:cNvPr id="64" name="Icon tag 683"/>
          <p:cNvSpPr/>
          <p:nvPr/>
        </p:nvSpPr>
        <p:spPr>
          <a:xfrm>
            <a:off x="9890516" y="3520440"/>
            <a:ext cx="512064" cy="512064"/>
          </a:xfrm>
          <a:prstGeom prst="ellipse">
            <a:avLst/>
          </a:prstGeom>
          <a:solidFill>
            <a:schemeClr val="accent1"/>
          </a:solidFill>
          <a:ln/>
        </p:spPr>
      </p:sp>
      <p:sp>
        <p:nvSpPr>
          <p:cNvPr id="65" name="Glyph part 685"/>
          <p:cNvSpPr/>
          <p:nvPr/>
        </p:nvSpPr>
        <p:spPr>
          <a:xfrm>
            <a:off x="10018532" y="3699662"/>
            <a:ext cx="256032" cy="153619"/>
          </a:xfrm>
          <a:prstGeom prst="homePlate">
            <a:avLst/>
          </a:prstGeom>
          <a:solidFill>
            <a:schemeClr val="tx1"/>
          </a:solidFill>
          <a:ln/>
        </p:spPr>
      </p:sp>
      <p:sp>
        <p:nvSpPr>
          <p:cNvPr id="66" name="Glyph part 686"/>
          <p:cNvSpPr/>
          <p:nvPr/>
        </p:nvSpPr>
        <p:spPr>
          <a:xfrm>
            <a:off x="10187513" y="3755989"/>
            <a:ext cx="40965" cy="40965"/>
          </a:xfrm>
          <a:prstGeom prst="ellipse">
            <a:avLst/>
          </a:prstGeom>
          <a:solidFill>
            <a:schemeClr val="accent1"/>
          </a:solidFill>
          <a:ln/>
        </p:spPr>
      </p:sp>
      <p:sp>
        <p:nvSpPr>
          <p:cNvPr id="67" name="Text 687"/>
          <p:cNvSpPr txBox="1"/>
          <p:nvPr/>
        </p:nvSpPr>
        <p:spPr>
          <a:xfrm>
            <a:off x="9890516" y="4151376"/>
            <a:ext cx="1615379" cy="548640"/>
          </a:xfrm>
          <a:prstGeom prst="rect">
            <a:avLst/>
          </a:prstGeom>
          <a:noFill/>
          <a:ln/>
        </p:spPr>
        <p:txBody>
          <a:bodyPr wrap="square" lIns="0" tIns="0" rIns="0" bIns="0" rtlCol="0" anchor="t"/>
          <a:lstStyle/>
          <a:p>
            <a:pPr indent="0" marL="0">
              <a:buNone/>
            </a:pPr>
            <a:r>
              <a:rPr lang="en-US" sz="1600" b="1" dirty="0">
                <a:solidFill>
                  <a:schemeClr val="tx1"/>
                </a:solidFill>
              </a:rPr>
              <a:t>Release v1.0.0</a:t>
            </a:r>
            <a:endParaRPr lang="en-US" sz="1600" dirty="0"/>
          </a:p>
        </p:txBody>
      </p:sp>
      <p:sp>
        <p:nvSpPr>
          <p:cNvPr id="68" name="Text 688"/>
          <p:cNvSpPr txBox="1"/>
          <p:nvPr/>
        </p:nvSpPr>
        <p:spPr>
          <a:xfrm>
            <a:off x="9890516" y="4736592"/>
            <a:ext cx="1615379" cy="978408"/>
          </a:xfrm>
          <a:prstGeom prst="rect">
            <a:avLst/>
          </a:prstGeom>
          <a:noFill/>
          <a:ln/>
        </p:spPr>
        <p:txBody>
          <a:bodyPr wrap="square" lIns="0" tIns="0" rIns="0" bIns="0" rtlCol="0" anchor="t"/>
          <a:lstStyle/>
          <a:p>
            <a:pPr indent="0" marL="0">
              <a:buNone/>
            </a:pPr>
            <a:r>
              <a:rPr lang="en-US" sz="1400" dirty="0">
                <a:solidFill>
                  <a:schemeClr val="tx2"/>
                </a:solidFill>
              </a:rPr>
              <a:t>With the report and the user guide, once the system matches the whole design</a:t>
            </a:r>
            <a:endParaRPr lang="en-US" sz="1400" dirty="0"/>
          </a:p>
        </p:txBody>
      </p:sp>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D6B7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57200" y="1600200"/>
            <a:ext cx="6949440" cy="1005840"/>
          </a:xfrm>
          <a:prstGeom prst="rect">
            <a:avLst/>
          </a:prstGeom>
          <a:noFill/>
          <a:ln/>
        </p:spPr>
        <p:txBody>
          <a:bodyPr wrap="square" lIns="0" tIns="0" rIns="0" bIns="0" rtlCol="0" anchor="ctr"/>
          <a:lstStyle/>
          <a:p>
            <a:pPr algn="l" indent="0" marL="0">
              <a:buNone/>
            </a:pPr>
            <a:r>
              <a:rPr lang="en-US" sz="6000" b="1" dirty="0">
                <a:solidFill>
                  <a:schemeClr val="bg1"/>
                </a:solidFill>
              </a:rPr>
              <a:t>Thank you</a:t>
            </a:r>
            <a:endParaRPr lang="en-US" sz="6000" dirty="0"/>
          </a:p>
        </p:txBody>
      </p:sp>
      <p:sp>
        <p:nvSpPr>
          <p:cNvPr id="4" name="Icon browser 689"/>
          <p:cNvSpPr/>
          <p:nvPr/>
        </p:nvSpPr>
        <p:spPr>
          <a:xfrm>
            <a:off x="457200" y="2926080"/>
            <a:ext cx="512064" cy="512064"/>
          </a:xfrm>
          <a:prstGeom prst="ellipse">
            <a:avLst/>
          </a:prstGeom>
          <a:solidFill>
            <a:schemeClr val="accent1"/>
          </a:solidFill>
          <a:ln/>
        </p:spPr>
      </p:sp>
      <p:sp>
        <p:nvSpPr>
          <p:cNvPr id="5" name="Glyph part 691"/>
          <p:cNvSpPr/>
          <p:nvPr/>
        </p:nvSpPr>
        <p:spPr>
          <a:xfrm>
            <a:off x="585216" y="3079699"/>
            <a:ext cx="256032" cy="204826"/>
          </a:xfrm>
          <a:prstGeom prst="rect">
            <a:avLst/>
          </a:prstGeom>
          <a:noFill/>
          <a:ln w="28575">
            <a:solidFill>
              <a:schemeClr val="tx1"/>
            </a:solidFill>
            <a:prstDash val="solid"/>
          </a:ln>
        </p:spPr>
      </p:sp>
      <p:sp>
        <p:nvSpPr>
          <p:cNvPr id="6" name="Glyph part 692"/>
          <p:cNvSpPr/>
          <p:nvPr/>
        </p:nvSpPr>
        <p:spPr>
          <a:xfrm>
            <a:off x="585216" y="3079699"/>
            <a:ext cx="256032" cy="56327"/>
          </a:xfrm>
          <a:prstGeom prst="rect">
            <a:avLst/>
          </a:prstGeom>
          <a:solidFill>
            <a:schemeClr val="tx1"/>
          </a:solidFill>
          <a:ln/>
        </p:spPr>
      </p:sp>
      <p:sp>
        <p:nvSpPr>
          <p:cNvPr id="7" name="Text 693"/>
          <p:cNvSpPr txBox="1"/>
          <p:nvPr/>
        </p:nvSpPr>
        <p:spPr>
          <a:xfrm>
            <a:off x="1234440" y="2926080"/>
            <a:ext cx="6400800" cy="512064"/>
          </a:xfrm>
          <a:prstGeom prst="rect">
            <a:avLst/>
          </a:prstGeom>
          <a:noFill/>
          <a:ln/>
        </p:spPr>
        <p:txBody>
          <a:bodyPr wrap="square" lIns="0" tIns="0" rIns="0" bIns="0" rtlCol="0" anchor="ctr"/>
          <a:lstStyle/>
          <a:p>
            <a:pPr indent="0" marL="0">
              <a:buNone/>
            </a:pPr>
            <a:r>
              <a:rPr lang="en-US" sz="2000" dirty="0">
                <a:solidFill>
                  <a:schemeClr val="bg1"/>
                </a:solidFill>
              </a:rPr>
              <a:t>toolshed-hire.vercel.app</a:t>
            </a:r>
            <a:endParaRPr lang="en-US" sz="2000" dirty="0"/>
          </a:p>
        </p:txBody>
      </p:sp>
      <p:sp>
        <p:nvSpPr>
          <p:cNvPr id="8" name="Icon branch 694"/>
          <p:cNvSpPr/>
          <p:nvPr/>
        </p:nvSpPr>
        <p:spPr>
          <a:xfrm>
            <a:off x="457200" y="3639312"/>
            <a:ext cx="512064" cy="512064"/>
          </a:xfrm>
          <a:prstGeom prst="ellipse">
            <a:avLst/>
          </a:prstGeom>
          <a:solidFill>
            <a:schemeClr val="accent1"/>
          </a:solidFill>
          <a:ln/>
        </p:spPr>
      </p:sp>
      <p:sp>
        <p:nvSpPr>
          <p:cNvPr id="9" name="Glyph stroke 696"/>
          <p:cNvSpPr/>
          <p:nvPr/>
        </p:nvSpPr>
        <p:spPr>
          <a:xfrm>
            <a:off x="646664" y="3803172"/>
            <a:ext cx="0" cy="184343"/>
          </a:xfrm>
          <a:prstGeom prst="line">
            <a:avLst/>
          </a:prstGeom>
          <a:noFill/>
          <a:ln w="28575">
            <a:solidFill>
              <a:schemeClr val="tx1"/>
            </a:solidFill>
            <a:prstDash val="solid"/>
          </a:ln>
        </p:spPr>
      </p:sp>
      <p:sp>
        <p:nvSpPr>
          <p:cNvPr id="10" name="Glyph stroke 697"/>
          <p:cNvSpPr/>
          <p:nvPr/>
        </p:nvSpPr>
        <p:spPr>
          <a:xfrm flipH="1">
            <a:off x="646664" y="3839017"/>
            <a:ext cx="128016" cy="112654"/>
          </a:xfrm>
          <a:prstGeom prst="line">
            <a:avLst/>
          </a:prstGeom>
          <a:noFill/>
          <a:ln w="28575">
            <a:solidFill>
              <a:schemeClr val="tx1"/>
            </a:solidFill>
            <a:prstDash val="solid"/>
          </a:ln>
        </p:spPr>
      </p:sp>
      <p:sp>
        <p:nvSpPr>
          <p:cNvPr id="11" name="Glyph part 698"/>
          <p:cNvSpPr/>
          <p:nvPr/>
        </p:nvSpPr>
        <p:spPr>
          <a:xfrm>
            <a:off x="610819" y="3767328"/>
            <a:ext cx="71689" cy="71689"/>
          </a:xfrm>
          <a:prstGeom prst="ellipse">
            <a:avLst/>
          </a:prstGeom>
          <a:solidFill>
            <a:schemeClr val="tx1"/>
          </a:solidFill>
          <a:ln/>
        </p:spPr>
      </p:sp>
      <p:sp>
        <p:nvSpPr>
          <p:cNvPr id="12" name="Glyph part 699"/>
          <p:cNvSpPr/>
          <p:nvPr/>
        </p:nvSpPr>
        <p:spPr>
          <a:xfrm>
            <a:off x="610819" y="3951671"/>
            <a:ext cx="71689" cy="71689"/>
          </a:xfrm>
          <a:prstGeom prst="ellipse">
            <a:avLst/>
          </a:prstGeom>
          <a:solidFill>
            <a:schemeClr val="tx1"/>
          </a:solidFill>
          <a:ln/>
        </p:spPr>
      </p:sp>
      <p:sp>
        <p:nvSpPr>
          <p:cNvPr id="13" name="Glyph part 700"/>
          <p:cNvSpPr/>
          <p:nvPr/>
        </p:nvSpPr>
        <p:spPr>
          <a:xfrm>
            <a:off x="738835" y="3803172"/>
            <a:ext cx="71689" cy="71689"/>
          </a:xfrm>
          <a:prstGeom prst="ellipse">
            <a:avLst/>
          </a:prstGeom>
          <a:solidFill>
            <a:schemeClr val="tx1"/>
          </a:solidFill>
          <a:ln/>
        </p:spPr>
      </p:sp>
      <p:sp>
        <p:nvSpPr>
          <p:cNvPr id="14" name="Text 701"/>
          <p:cNvSpPr txBox="1"/>
          <p:nvPr/>
        </p:nvSpPr>
        <p:spPr>
          <a:xfrm>
            <a:off x="1234440" y="3639312"/>
            <a:ext cx="6400800" cy="512064"/>
          </a:xfrm>
          <a:prstGeom prst="rect">
            <a:avLst/>
          </a:prstGeom>
          <a:noFill/>
          <a:ln/>
        </p:spPr>
        <p:txBody>
          <a:bodyPr wrap="square" lIns="0" tIns="0" rIns="0" bIns="0" rtlCol="0" anchor="ctr"/>
          <a:lstStyle/>
          <a:p>
            <a:pPr indent="0" marL="0">
              <a:buNone/>
            </a:pPr>
            <a:r>
              <a:rPr lang="en-US" sz="2000" dirty="0">
                <a:solidFill>
                  <a:schemeClr val="bg1"/>
                </a:solidFill>
              </a:rPr>
              <a:t>github.com/teon-artilionAI/toolshed-hire</a:t>
            </a:r>
            <a:endParaRPr lang="en-US" sz="2000" dirty="0"/>
          </a:p>
        </p:txBody>
      </p:sp>
      <p:sp>
        <p:nvSpPr>
          <p:cNvPr id="15" name="Icon person 702"/>
          <p:cNvSpPr/>
          <p:nvPr/>
        </p:nvSpPr>
        <p:spPr>
          <a:xfrm>
            <a:off x="457200" y="4352544"/>
            <a:ext cx="512064" cy="512064"/>
          </a:xfrm>
          <a:prstGeom prst="ellipse">
            <a:avLst/>
          </a:prstGeom>
          <a:solidFill>
            <a:schemeClr val="accent1"/>
          </a:solidFill>
          <a:ln/>
        </p:spPr>
      </p:sp>
      <p:sp>
        <p:nvSpPr>
          <p:cNvPr id="16" name="Glyph part 704"/>
          <p:cNvSpPr/>
          <p:nvPr/>
        </p:nvSpPr>
        <p:spPr>
          <a:xfrm>
            <a:off x="664586" y="4480560"/>
            <a:ext cx="97292" cy="97292"/>
          </a:xfrm>
          <a:prstGeom prst="ellipse">
            <a:avLst/>
          </a:prstGeom>
          <a:solidFill>
            <a:schemeClr val="tx1"/>
          </a:solidFill>
          <a:ln/>
        </p:spPr>
      </p:sp>
      <p:sp>
        <p:nvSpPr>
          <p:cNvPr id="17" name="Glyph part 705"/>
          <p:cNvSpPr/>
          <p:nvPr/>
        </p:nvSpPr>
        <p:spPr>
          <a:xfrm rot="16200000">
            <a:off x="631302" y="4588093"/>
            <a:ext cx="163860" cy="163860"/>
          </a:xfrm>
          <a:prstGeom prst="flowChartDelay">
            <a:avLst/>
          </a:prstGeom>
          <a:solidFill>
            <a:schemeClr val="tx1"/>
          </a:solidFill>
          <a:ln/>
        </p:spPr>
      </p:sp>
      <p:sp>
        <p:nvSpPr>
          <p:cNvPr id="18" name="Text 706"/>
          <p:cNvSpPr txBox="1"/>
          <p:nvPr/>
        </p:nvSpPr>
        <p:spPr>
          <a:xfrm>
            <a:off x="1234440" y="4352544"/>
            <a:ext cx="6400800" cy="512064"/>
          </a:xfrm>
          <a:prstGeom prst="rect">
            <a:avLst/>
          </a:prstGeom>
          <a:noFill/>
          <a:ln/>
        </p:spPr>
        <p:txBody>
          <a:bodyPr wrap="square" lIns="0" tIns="0" rIns="0" bIns="0" rtlCol="0" anchor="ctr"/>
          <a:lstStyle/>
          <a:p>
            <a:pPr indent="0" marL="0">
              <a:buNone/>
            </a:pPr>
            <a:r>
              <a:rPr lang="en-US" sz="2000" dirty="0">
                <a:solidFill>
                  <a:schemeClr val="bg1"/>
                </a:solidFill>
              </a:rPr>
              <a:t>Teon Kleynhans, ST10434209</a:t>
            </a:r>
            <a:endParaRPr lang="en-US" sz="2000" dirty="0"/>
          </a:p>
        </p:txBody>
      </p:sp>
      <p:sp>
        <p:nvSpPr>
          <p:cNvPr id="19" name="Text 707"/>
          <p:cNvSpPr txBox="1"/>
          <p:nvPr/>
        </p:nvSpPr>
        <p:spPr>
          <a:xfrm>
            <a:off x="457200" y="5166360"/>
            <a:ext cx="6400800" cy="365760"/>
          </a:xfrm>
          <a:prstGeom prst="rect">
            <a:avLst/>
          </a:prstGeom>
          <a:noFill/>
          <a:ln/>
        </p:spPr>
        <p:txBody>
          <a:bodyPr wrap="square" lIns="0" tIns="0" rIns="0" bIns="0" rtlCol="0" anchor="ctr"/>
          <a:lstStyle/>
          <a:p>
            <a:pPr indent="0" marL="0">
              <a:buNone/>
            </a:pPr>
            <a:r>
              <a:rPr lang="en-US" sz="1600" dirty="0">
                <a:solidFill>
                  <a:srgbClr val="CBD5E1"/>
                </a:solidFill>
              </a:rPr>
              <a:t>The README is the place to start</a:t>
            </a:r>
            <a:endParaRPr lang="en-US" sz="1600" dirty="0"/>
          </a:p>
        </p:txBody>
      </p:sp>
      <p:pic>
        <p:nvPicPr>
          <p:cNvPr id="20" name="Toolshed Hire mark" descr="Toolshed Hire">    </p:cNvPr>
          <p:cNvPicPr>
            <a:picLocks noChangeAspect="1"/>
          </p:cNvPicPr>
          <p:nvPr/>
        </p:nvPicPr>
        <p:blipFill>
          <a:blip r:embed="rId1"/>
          <a:stretch>
            <a:fillRect/>
          </a:stretch>
        </p:blipFill>
        <p:spPr>
          <a:xfrm>
            <a:off x="8092440" y="1965960"/>
            <a:ext cx="3200400" cy="3200400"/>
          </a:xfrm>
          <a:prstGeom prst="rect">
            <a:avLst/>
          </a:prstGeom>
        </p:spPr>
      </p:pic>
      <p:sp>
        <p:nvSpPr>
          <p:cNvPr id="25" name="Slide Number Placeholder 0"/>
          <p:cNvSpPr>
            <a:spLocks noGrp="1"/>
          </p:cNvSpPr>
          <p:nvPr>
            <p:ph type="sldNum" sz="quarter" idx="4294967295"/>
          </p:nvPr>
        </p:nvSpPr>
        <p:spPr>
          <a:xfrm>
            <a:off x="10820095" y="6144768"/>
            <a:ext cx="9144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CBD5E1"/>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oolshed Hire">
  <a:themeElements>
    <a:clrScheme name="Toolshed Hire">
      <a:dk1>
        <a:srgbClr val="141613"/>
      </a:dk1>
      <a:lt1>
        <a:srgbClr val="FFFFFF"/>
      </a:lt1>
      <a:dk2>
        <a:srgbClr val="334155"/>
      </a:dk2>
      <a:lt2>
        <a:srgbClr val="F8FAFC"/>
      </a:lt2>
      <a:accent1>
        <a:srgbClr val="F0A600"/>
      </a:accent1>
      <a:accent2>
        <a:srgbClr val="475569"/>
      </a:accent2>
      <a:accent3>
        <a:srgbClr val="047857"/>
      </a:accent3>
      <a:accent4>
        <a:srgbClr val="0369A1"/>
      </a:accent4>
      <a:accent5>
        <a:srgbClr val="B45309"/>
      </a:accent5>
      <a:accent6>
        <a:srgbClr val="B91C1C"/>
      </a:accent6>
      <a:hlink>
        <a:srgbClr val="0369A1"/>
      </a:hlink>
      <a:folHlink>
        <a:srgbClr val="4E5B6F"/>
      </a:folHlink>
    </a:clrScheme>
    <a:fontScheme name="Toolshed Hi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Teon Kleynhans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Toolshed Hire, Task 2</dc:title>
  <dc:subject>INSY7315 Task 2 presentation</dc:subject>
  <dc:creator>Teon Kleynhans</dc:creator>
  <cp:lastModifiedBy>Teon Kleynhans</cp:lastModifiedBy>
  <cp:revision>1</cp:revision>
  <dcterms:created xsi:type="dcterms:W3CDTF">2026-10-04T11:59:18Z</dcterms:created>
  <dcterms:modified xsi:type="dcterms:W3CDTF">2026-10-04T11:59:18Z</dcterms:modified>
</cp:coreProperties>
</file>
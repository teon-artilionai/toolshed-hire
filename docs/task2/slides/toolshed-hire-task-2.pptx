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6b5a5ea-5206-0aac-e6ee-64131226919e}">
          <p14:sldIdLst>
            <p14:sldId id="256"/>
          </p14:sldIdLst>
        </p14:section>
        <p14:section name="The problem and the requirements" id="{3f62e818-58c9-85df-6275-87f7cba96ce7}">
          <p14:sldIdLst>
            <p14:sldId id="257"/>
            <p14:sldId id="258"/>
            <p14:sldId id="259"/>
          </p14:sldIdLst>
        </p14:section>
        <p14:section name="How it is built" id="{57a29071-0855-ab3c-6162-43648e8dd25f}">
          <p14:sldIdLst>
            <p14:sldId id="260"/>
            <p14:sldId id="261"/>
            <p14:sldId id="262"/>
            <p14:sldId id="263"/>
          </p14:sldIdLst>
        </p14:section>
        <p14:section name="How it is delivered" id="{250f443d-5228-94c9-0d23-938796766003}">
          <p14:sldIdLst>
            <p14:sldId id="264"/>
            <p14:sldId id="265"/>
          </p14:sldIdLst>
        </p14:section>
        <p14:section name="Live demonstration" id="{1c5b03cb-340d-38b5-5e3a-f86001e42d9d}">
          <p14:sldIdLst>
            <p14:sldId id="266"/>
          </p14:sldIdLst>
        </p14:section>
        <p14:section name="Testing, deviations and what is next" id="{5d59dd39-bead-d211-685f-3517c41cea75}">
          <p14:sldIdLst>
            <p14:sldId id="267"/>
            <p14:sldId id="268"/>
            <p14:sldId id="269"/>
          </p14:sldIdLst>
        </p14:section>
        <p14:section name="Close" id="{533b2487-63c2-fff0-86bc-8da896bd33c7}">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introduce myself and say that this is the built system I designed in Task 1. Everything I show today runs on the production site, and the code, the pipeline and the evidence are all in the public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keep this short, because Task 1 covered it. The three problems drive everything that follows, and the first one, double booking, is the one the database itself now prevents.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say plainly what is built and what is still on sample data. Every screen that is not on the API yet says so on the screen itself, so nothing pretends to work.
To finish on Sunday: the admin and reporting screens if 017 to 021 are in. The slide shows today's figure, 18 of 24 screens on the API and the 6 admin screens on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README on GitHub and scroll the traceability table. I pick FR-07, no unit with two overlapping bookings, and follow it to the pull request and to the test that proves it. I mention that the non-functional requirements are mapped to how I verify each one in the test plan, honestly, including the ones I have not verified yet.
To finish on Sunday: the counts of built, partly built and planned. The slide shows the counts in the README today, 20 built, 1 in progress, 6 partly built and 1 planned. The README still lists FR-20 as in progress on 015, and 015 merged in v0.3.0.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request path diagram. The browser only talks to the site's own address, and Vercel passes /api to Cloud Run on the server side, which keeps the refresh cookie on one origin and lets the Content Security Policy allow this origin alone. The rules sit in the domain layer, and a contract fails the build if anything there imports a database or a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pattern I show the file and say the problem it solves here. I point out that a test reads every module to prove that only the policy works out a price or a late fee, so the rule cannot leak into other code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constraint in the backend README. Periods are half open, so a return on the twelfth frees the twelfth. I explain that the lock with SKIP LOCKED lets concurrent bookings take different units, and the constraint has the last word if anything gets past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security controls file and say how many are in place, partly in place and planned, and that I only marked a control in place where I can point at the code or the test. I name the ones still open, which are the photograph upload, reporting export, alerting and the incident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switch to GitHub and show the branch list, a merged pull request with its checks and its "Manual verification" section, the Actions history, and the rulesets. I say that I am the only person on the project, so the checks are the review gate and I do not claim a second reviewer.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a production deployment run with its approval step and its summary. I explain why the API sits in London beside the database, and that the cold start is the price of scaling to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follow the demonstration script in presentation.md.
Customer, about one and a half minutes. Search from tomorrow, choose Bellville, open a model, add it to the basket, review, sign in as the demo customer, hold, confirm, open the booking in My Hires, cancel it, show the hire history on Account, sign out.
Counter, about two minutes. Sign in as the Cape Town CBD counter assistant, the dashboard and this week's diary, register a walk-in, a new booking for today, check out, take it back, the locator for TSH-DR-0042, the return screen for TSH-H-26-000098, the overdue list, sign out.
Owner, about half a minute. Sign in as the administrator, the admin screens, a branch dashboard, sign out.
To finish on Sunday: the owner's part of the script once branches 017 to 021 are decided, what the admin screens show, a check on production that the return screen shows the settlement of TSH-H-26-000098, and whether to show one cold start on purpose and time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show the test plan table and one concurrency test. I say what is not verified yet, which is the load test, the volume test and the restore drill on the deployment.
To finish on Sunday: the latest test counts. The slide shows the figures after v0.3.0.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open the deviations file and give the reason for two or three of them. I want it clear that each change was a decision with a reason and not something that drifted.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close the technical part by saying what Task 3 has to finish and that v1.0.0 is kept for the release where the built system matches the whole design.
To finish on Sunday: whatever of 015 to 022 is not in task2-v1.0. The slide shows today's figure, 15 of 22 planned branches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thank the viewer and point at the README as the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SH_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148840"/>
            <a:ext cx="6949440" cy="86868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457200" y="3090672"/>
            <a:ext cx="6766560" cy="502920"/>
          </a:xfrm>
          <a:prstGeom prst="rect">
            <a:avLst/>
          </a:prstGeom>
          <a:noFill/>
          <a:ln/>
        </p:spPr>
        <p:txBody>
          <a:bodyPr wrap="square" rtlCol="0"/>
          <a:lstStyle>
            <a:lvl1pPr algn="l" indent="0" marL="0">
              <a:buNone/>
              <a:defRPr lang="en-US" sz="2400" dirty="0">
                <a:solidFill>
                  <a:srgbClr val="CBD5E1"/>
                </a:solidFill>
              </a:defRPr>
            </a:lvl1pPr>
          </a:lstStyle>
          <a:p>
            <a:pPr algn="l"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SH_CONTEN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rtlCol="0"/>
          <a:lstStyle>
            <a:lvl1pPr algn="l" indent="0" marL="0">
              <a:buNone/>
              <a:defRPr lang="en-US" sz="1200" b="1"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pic>
        <p:nvPicPr>
          <p:cNvPr id="4" name="Image 0" descr="C:\Users\teon\OneDrive\Projects\ToolshedHire\docs\task1\assets\toolshed-hire-mark.png">    </p:cNvPr>
          <p:cNvPicPr>
            <a:picLocks noChangeAspect="1"/>
          </p:cNvPicPr>
          <p:nvPr/>
        </p:nvPicPr>
        <p:blipFill>
          <a:blip r:embed="rId1"/>
          <a:stretch>
            <a:fillRect/>
          </a:stretch>
        </p:blipFill>
        <p:spPr>
          <a:xfrm>
            <a:off x="457200" y="6144768"/>
            <a:ext cx="256032" cy="256032"/>
          </a:xfrm>
          <a:prstGeom prst="rect">
            <a:avLst/>
          </a:prstGeom>
        </p:spPr>
      </p:pic>
      <p:sp>
        <p:nvSpPr>
          <p:cNvPr id="5" name="Text 0"/>
          <p:cNvSpPr/>
          <p:nvPr/>
        </p:nvSpPr>
        <p:spPr>
          <a:xfrm>
            <a:off x="822960" y="6144768"/>
            <a:ext cx="841248" cy="256032"/>
          </a:xfrm>
          <a:prstGeom prst="rect">
            <a:avLst/>
          </a:prstGeom>
          <a:noFill/>
          <a:ln/>
        </p:spPr>
        <p:txBody>
          <a:bodyPr wrap="square" lIns="0" tIns="0" rIns="0" bIns="0" rtlCol="0" anchor="ctr"/>
          <a:lstStyle/>
          <a:p>
            <a:pPr indent="0" marL="0">
              <a:buNone/>
            </a:pPr>
            <a:r>
              <a:rPr lang="en-US" sz="1000" b="1" dirty="0">
                <a:solidFill>
                  <a:schemeClr val="tx1"/>
                </a:solidFill>
              </a:rPr>
              <a:t>Toolshed Hire</a:t>
            </a:r>
            <a:endParaRPr lang="en-US" sz="1000" dirty="0"/>
          </a:p>
        </p:txBody>
      </p:sp>
      <p:sp>
        <p:nvSpPr>
          <p:cNvPr id="6" name="Text 1"/>
          <p:cNvSpPr/>
          <p:nvPr/>
        </p:nvSpPr>
        <p:spPr>
          <a:xfrm>
            <a:off x="1709928" y="6144768"/>
            <a:ext cx="2743200" cy="256032"/>
          </a:xfrm>
          <a:prstGeom prst="rect">
            <a:avLst/>
          </a:prstGeom>
          <a:noFill/>
          <a:ln/>
        </p:spPr>
        <p:txBody>
          <a:bodyPr wrap="square" lIns="0" tIns="0" rIns="0" bIns="0" rtlCol="0" anchor="ctr"/>
          <a:lstStyle/>
          <a:p>
            <a:pPr indent="0" marL="0">
              <a:buNone/>
            </a:pPr>
            <a:r>
              <a:rPr lang="en-US" sz="1000" dirty="0">
                <a:solidFill>
                  <a:srgbClr val="5D6B7E"/>
                </a:solidFill>
              </a:rPr>
              <a:t>Task 2, INSY7315</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SH_CLOSING">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1600200"/>
            <a:ext cx="6949440" cy="100584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pic>
        <p:nvPicPr>
          <p:cNvPr id="3" name="Image 0" descr="C:\Users\teon\OneDrive\Projects\ToolshedHire\docs\task1\assets\toolshed-hire-mark.png">    </p:cNvPr>
          <p:cNvPicPr>
            <a:picLocks noChangeAspect="1"/>
          </p:cNvPicPr>
          <p:nvPr/>
        </p:nvPicPr>
        <p:blipFill>
          <a:blip r:embed="rId1"/>
          <a:stretch>
            <a:fillRect/>
          </a:stretch>
        </p:blipFill>
        <p:spPr>
          <a:xfrm>
            <a:off x="457200" y="6144768"/>
            <a:ext cx="256032" cy="256032"/>
          </a:xfrm>
          <a:prstGeom prst="rect">
            <a:avLst/>
          </a:prstGeom>
        </p:spPr>
      </p:pic>
      <p:sp>
        <p:nvSpPr>
          <p:cNvPr id="4" name="Text 0"/>
          <p:cNvSpPr/>
          <p:nvPr/>
        </p:nvSpPr>
        <p:spPr>
          <a:xfrm>
            <a:off x="822960" y="6144768"/>
            <a:ext cx="841248" cy="256032"/>
          </a:xfrm>
          <a:prstGeom prst="rect">
            <a:avLst/>
          </a:prstGeom>
          <a:noFill/>
          <a:ln/>
        </p:spPr>
        <p:txBody>
          <a:bodyPr wrap="square" lIns="0" tIns="0" rIns="0" bIns="0" rtlCol="0" anchor="ctr"/>
          <a:lstStyle/>
          <a:p>
            <a:pPr indent="0" marL="0">
              <a:buNone/>
            </a:pPr>
            <a:r>
              <a:rPr lang="en-US" sz="1000" b="1" dirty="0">
                <a:solidFill>
                  <a:schemeClr val="bg1"/>
                </a:solidFill>
              </a:rPr>
              <a:t>Toolshed Hire</a:t>
            </a:r>
            <a:endParaRPr lang="en-US" sz="1000" dirty="0"/>
          </a:p>
        </p:txBody>
      </p:sp>
      <p:sp>
        <p:nvSpPr>
          <p:cNvPr id="5" name="Text 1"/>
          <p:cNvSpPr/>
          <p:nvPr/>
        </p:nvSpPr>
        <p:spPr>
          <a:xfrm>
            <a:off x="1709928" y="6144768"/>
            <a:ext cx="2743200" cy="256032"/>
          </a:xfrm>
          <a:prstGeom prst="rect">
            <a:avLst/>
          </a:prstGeom>
          <a:noFill/>
          <a:ln/>
        </p:spPr>
        <p:txBody>
          <a:bodyPr wrap="square" lIns="0" tIns="0" rIns="0" bIns="0" rtlCol="0" anchor="ctr"/>
          <a:lstStyle/>
          <a:p>
            <a:pPr indent="0" marL="0">
              <a:buNone/>
            </a:pPr>
            <a:r>
              <a:rPr lang="en-US" sz="1000" dirty="0">
                <a:solidFill>
                  <a:srgbClr val="CBD5E1"/>
                </a:solidFill>
              </a:rPr>
              <a:t>Task 2, INSY7315</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CBD5E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1"/>
          <p:cNvSpPr txBox="1"/>
          <p:nvPr/>
        </p:nvSpPr>
        <p:spPr>
          <a:xfrm>
            <a:off x="457200" y="1783080"/>
            <a:ext cx="6766560" cy="292608"/>
          </a:xfrm>
          <a:prstGeom prst="rect">
            <a:avLst/>
          </a:prstGeom>
          <a:noFill/>
          <a:ln/>
        </p:spPr>
        <p:txBody>
          <a:bodyPr wrap="square" lIns="0" tIns="0" rIns="0" bIns="0" rtlCol="0" anchor="t"/>
          <a:lstStyle/>
          <a:p>
            <a:pPr indent="0" marL="0">
              <a:buNone/>
            </a:pPr>
            <a:r>
              <a:rPr lang="en-US" sz="1400" b="1" spc="200" kern="0" dirty="0">
                <a:solidFill>
                  <a:schemeClr val="accent1"/>
                </a:solidFill>
              </a:rPr>
              <a:t>WORK INTEGRATED LEARNING, OCTOBER 2026</a:t>
            </a:r>
            <a:endParaRPr lang="en-US" sz="1400" dirty="0"/>
          </a:p>
        </p:txBody>
      </p:sp>
      <p:sp>
        <p:nvSpPr>
          <p:cNvPr id="4" name="Text 0"/>
          <p:cNvSpPr/>
          <p:nvPr>
            <p:ph idx="100" type="title" hasCustomPrompt="1"/>
          </p:nvPr>
        </p:nvSpPr>
        <p:spPr>
          <a:xfrm>
            <a:off x="457200" y="2148840"/>
            <a:ext cx="6949440" cy="868680"/>
          </a:xfrm>
          <a:prstGeom prst="rect">
            <a:avLst/>
          </a:prstGeom>
          <a:noFill/>
          <a:ln/>
        </p:spPr>
        <p:txBody>
          <a:bodyPr wrap="square" lIns="0" tIns="0" rIns="0" bIns="0" rtlCol="0" anchor="ctr"/>
          <a:lstStyle/>
          <a:p>
            <a:pPr algn="l" indent="0" marL="0">
              <a:buNone/>
            </a:pPr>
            <a:r>
              <a:rPr lang="en-US" sz="4800" b="1" dirty="0">
                <a:solidFill>
                  <a:schemeClr val="bg1"/>
                </a:solidFill>
              </a:rPr>
              <a:t>Toolshed Hire, Task 2</a:t>
            </a:r>
            <a:endParaRPr lang="en-US" sz="4800" dirty="0"/>
          </a:p>
        </p:txBody>
      </p:sp>
      <p:sp>
        <p:nvSpPr>
          <p:cNvPr id="5" name="Text 0"/>
          <p:cNvSpPr/>
          <p:nvPr>
            <p:ph idx="101" type="body" hasCustomPrompt="1"/>
          </p:nvPr>
        </p:nvSpPr>
        <p:spPr>
          <a:xfrm>
            <a:off x="457200" y="3090672"/>
            <a:ext cx="6766560" cy="502920"/>
          </a:xfrm>
          <a:prstGeom prst="rect">
            <a:avLst/>
          </a:prstGeom>
          <a:noFill/>
          <a:ln/>
        </p:spPr>
        <p:txBody>
          <a:bodyPr wrap="square" lIns="0" tIns="0" rIns="0" bIns="0" rtlCol="0" anchor="t"/>
          <a:lstStyle/>
          <a:p>
            <a:pPr algn="l" indent="0" marL="0">
              <a:buNone/>
            </a:pPr>
            <a:r>
              <a:rPr lang="en-US" sz="2400" dirty="0">
                <a:solidFill>
                  <a:srgbClr val="CBD5E1"/>
                </a:solidFill>
              </a:rPr>
              <a:t>The built system for INSY7315</a:t>
            </a:r>
            <a:endParaRPr lang="en-US" sz="2400" dirty="0"/>
          </a:p>
        </p:txBody>
      </p:sp>
      <p:sp>
        <p:nvSpPr>
          <p:cNvPr id="6" name="Glyph part 2"/>
          <p:cNvSpPr/>
          <p:nvPr/>
        </p:nvSpPr>
        <p:spPr>
          <a:xfrm>
            <a:off x="475488" y="4187952"/>
            <a:ext cx="146304" cy="146304"/>
          </a:xfrm>
          <a:prstGeom prst="ellipse">
            <a:avLst/>
          </a:prstGeom>
          <a:solidFill>
            <a:schemeClr val="accent1"/>
          </a:solidFill>
          <a:ln/>
        </p:spPr>
      </p:sp>
      <p:sp>
        <p:nvSpPr>
          <p:cNvPr id="7" name="Text 3"/>
          <p:cNvSpPr txBox="1"/>
          <p:nvPr/>
        </p:nvSpPr>
        <p:spPr>
          <a:xfrm>
            <a:off x="804672" y="4069080"/>
            <a:ext cx="6400800" cy="384048"/>
          </a:xfrm>
          <a:prstGeom prst="rect">
            <a:avLst/>
          </a:prstGeom>
          <a:noFill/>
          <a:ln/>
        </p:spPr>
        <p:txBody>
          <a:bodyPr wrap="square" lIns="0" tIns="0" rIns="0" bIns="0" rtlCol="0" anchor="ctr"/>
          <a:lstStyle/>
          <a:p>
            <a:pPr indent="0" marL="0">
              <a:buNone/>
            </a:pPr>
            <a:r>
              <a:rPr lang="en-US" sz="1800" dirty="0">
                <a:solidFill>
                  <a:schemeClr val="bg1"/>
                </a:solidFill>
              </a:rPr>
              <a:t>Teon Kleynhans, ST10434209, working alone</a:t>
            </a:r>
            <a:endParaRPr lang="en-US" sz="1800" dirty="0"/>
          </a:p>
        </p:txBody>
      </p:sp>
      <p:sp>
        <p:nvSpPr>
          <p:cNvPr id="8" name="Glyph part 4"/>
          <p:cNvSpPr/>
          <p:nvPr/>
        </p:nvSpPr>
        <p:spPr>
          <a:xfrm>
            <a:off x="475488" y="4690872"/>
            <a:ext cx="146304" cy="146304"/>
          </a:xfrm>
          <a:prstGeom prst="ellipse">
            <a:avLst/>
          </a:prstGeom>
          <a:solidFill>
            <a:schemeClr val="accent1"/>
          </a:solidFill>
          <a:ln/>
        </p:spPr>
      </p:sp>
      <p:sp>
        <p:nvSpPr>
          <p:cNvPr id="9" name="Text 5"/>
          <p:cNvSpPr txBox="1"/>
          <p:nvPr/>
        </p:nvSpPr>
        <p:spPr>
          <a:xfrm>
            <a:off x="804672" y="4572000"/>
            <a:ext cx="6400800" cy="384048"/>
          </a:xfrm>
          <a:prstGeom prst="rect">
            <a:avLst/>
          </a:prstGeom>
          <a:noFill/>
          <a:ln/>
        </p:spPr>
        <p:txBody>
          <a:bodyPr wrap="square" lIns="0" tIns="0" rIns="0" bIns="0" rtlCol="0" anchor="ctr"/>
          <a:lstStyle/>
          <a:p>
            <a:pPr indent="0" marL="0">
              <a:buNone/>
            </a:pPr>
            <a:r>
              <a:rPr lang="en-US" sz="1800" dirty="0">
                <a:solidFill>
                  <a:schemeClr val="bg1"/>
                </a:solidFill>
              </a:rPr>
              <a:t>Live at toolshed-hire.vercel.app</a:t>
            </a:r>
            <a:endParaRPr lang="en-US" sz="1800" dirty="0"/>
          </a:p>
        </p:txBody>
      </p:sp>
      <p:sp>
        <p:nvSpPr>
          <p:cNvPr id="10" name="Card 6"/>
          <p:cNvSpPr/>
          <p:nvPr/>
        </p:nvSpPr>
        <p:spPr>
          <a:xfrm>
            <a:off x="7635240" y="1783080"/>
            <a:ext cx="4099255" cy="3200400"/>
          </a:xfrm>
          <a:prstGeom prst="roundRect">
            <a:avLst>
              <a:gd name="adj" fmla="val 4571"/>
            </a:avLst>
          </a:prstGeom>
          <a:solidFill>
            <a:schemeClr val="bg1"/>
          </a:solidFill>
          <a:ln/>
        </p:spPr>
      </p:sp>
      <p:pic>
        <p:nvPicPr>
          <p:cNvPr id="11" name="Toolshed Hire logo" descr="Toolshed Hire">    </p:cNvPr>
          <p:cNvPicPr>
            <a:picLocks noChangeAspect="1"/>
          </p:cNvPicPr>
          <p:nvPr/>
        </p:nvPicPr>
        <p:blipFill>
          <a:blip r:embed="rId1"/>
          <a:stretch>
            <a:fillRect/>
          </a:stretch>
        </p:blipFill>
        <p:spPr>
          <a:xfrm>
            <a:off x="8084668" y="2438781"/>
            <a:ext cx="3200400" cy="1020319"/>
          </a:xfrm>
          <a:prstGeom prst="rect">
            <a:avLst/>
          </a:prstGeom>
        </p:spPr>
      </p:pic>
      <p:sp>
        <p:nvSpPr>
          <p:cNvPr id="12" name="Text 7"/>
          <p:cNvSpPr txBox="1"/>
          <p:nvPr/>
        </p:nvSpPr>
        <p:spPr>
          <a:xfrm>
            <a:off x="8084668" y="3824859"/>
            <a:ext cx="3200400" cy="502920"/>
          </a:xfrm>
          <a:prstGeom prst="rect">
            <a:avLst/>
          </a:prstGeom>
          <a:noFill/>
          <a:ln/>
        </p:spPr>
        <p:txBody>
          <a:bodyPr wrap="square" lIns="0" tIns="0" rIns="0" bIns="0" rtlCol="0" anchor="t"/>
          <a:lstStyle/>
          <a:p>
            <a:pPr indent="0" marL="0">
              <a:buNone/>
            </a:pPr>
            <a:r>
              <a:rPr lang="en-US" sz="1400" dirty="0">
                <a:solidFill>
                  <a:schemeClr val="tx2"/>
                </a:solidFill>
              </a:rPr>
              <a:t>Rental management for a tool hire business with three branches in Cape Town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problem</a:t>
            </a:r>
            <a:endParaRPr lang="en-US" sz="3600" dirty="0"/>
          </a:p>
        </p:txBody>
      </p:sp>
      <p:sp>
        <p:nvSpPr>
          <p:cNvPr id="5" name="Card 8"/>
          <p:cNvSpPr/>
          <p:nvPr/>
        </p:nvSpPr>
        <p:spPr>
          <a:xfrm>
            <a:off x="4572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9"/>
          <p:cNvSpPr txBox="1"/>
          <p:nvPr/>
        </p:nvSpPr>
        <p:spPr>
          <a:xfrm>
            <a:off x="6858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3</a:t>
            </a:r>
            <a:endParaRPr lang="en-US" sz="4000" dirty="0"/>
          </a:p>
        </p:txBody>
      </p:sp>
      <p:sp>
        <p:nvSpPr>
          <p:cNvPr id="7" name="Text 10"/>
          <p:cNvSpPr txBox="1"/>
          <p:nvPr/>
        </p:nvSpPr>
        <p:spPr>
          <a:xfrm>
            <a:off x="6858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branches</a:t>
            </a:r>
            <a:endParaRPr lang="en-US" sz="1400" dirty="0"/>
          </a:p>
        </p:txBody>
      </p:sp>
      <p:sp>
        <p:nvSpPr>
          <p:cNvPr id="8" name="Card 11"/>
          <p:cNvSpPr/>
          <p:nvPr/>
        </p:nvSpPr>
        <p:spPr>
          <a:xfrm>
            <a:off x="22860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12"/>
          <p:cNvSpPr txBox="1"/>
          <p:nvPr/>
        </p:nvSpPr>
        <p:spPr>
          <a:xfrm>
            <a:off x="25146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400</a:t>
            </a:r>
            <a:endParaRPr lang="en-US" sz="4000" dirty="0"/>
          </a:p>
        </p:txBody>
      </p:sp>
      <p:sp>
        <p:nvSpPr>
          <p:cNvPr id="10" name="Text 13"/>
          <p:cNvSpPr txBox="1"/>
          <p:nvPr/>
        </p:nvSpPr>
        <p:spPr>
          <a:xfrm>
            <a:off x="25146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tagged units</a:t>
            </a:r>
            <a:endParaRPr lang="en-US" sz="1400" dirty="0"/>
          </a:p>
        </p:txBody>
      </p:sp>
      <p:sp>
        <p:nvSpPr>
          <p:cNvPr id="11" name="Card 14"/>
          <p:cNvSpPr/>
          <p:nvPr/>
        </p:nvSpPr>
        <p:spPr>
          <a:xfrm>
            <a:off x="4114800" y="1645920"/>
            <a:ext cx="155448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Text 15"/>
          <p:cNvSpPr txBox="1"/>
          <p:nvPr/>
        </p:nvSpPr>
        <p:spPr>
          <a:xfrm>
            <a:off x="4343400" y="1755648"/>
            <a:ext cx="1097280" cy="685800"/>
          </a:xfrm>
          <a:prstGeom prst="rect">
            <a:avLst/>
          </a:prstGeom>
          <a:noFill/>
          <a:ln/>
        </p:spPr>
        <p:txBody>
          <a:bodyPr wrap="square" lIns="0" tIns="0" rIns="0" bIns="0" rtlCol="0" anchor="b"/>
          <a:lstStyle/>
          <a:p>
            <a:pPr indent="0" marL="0">
              <a:buNone/>
            </a:pPr>
            <a:r>
              <a:rPr lang="en-US" sz="4000" b="1" dirty="0">
                <a:solidFill>
                  <a:schemeClr val="tx1"/>
                </a:solidFill>
              </a:rPr>
              <a:t>120</a:t>
            </a:r>
            <a:endParaRPr lang="en-US" sz="4000" dirty="0"/>
          </a:p>
        </p:txBody>
      </p:sp>
      <p:sp>
        <p:nvSpPr>
          <p:cNvPr id="13" name="Text 16"/>
          <p:cNvSpPr txBox="1"/>
          <p:nvPr/>
        </p:nvSpPr>
        <p:spPr>
          <a:xfrm>
            <a:off x="4343400" y="2496312"/>
            <a:ext cx="1097280" cy="320040"/>
          </a:xfrm>
          <a:prstGeom prst="rect">
            <a:avLst/>
          </a:prstGeom>
          <a:noFill/>
          <a:ln/>
        </p:spPr>
        <p:txBody>
          <a:bodyPr wrap="square" lIns="0" tIns="0" rIns="0" bIns="0" rtlCol="0" anchor="t"/>
          <a:lstStyle/>
          <a:p>
            <a:pPr indent="0" marL="0">
              <a:buNone/>
            </a:pPr>
            <a:r>
              <a:rPr lang="en-US" sz="1400" dirty="0">
                <a:solidFill>
                  <a:schemeClr val="tx2"/>
                </a:solidFill>
              </a:rPr>
              <a:t>models</a:t>
            </a:r>
            <a:endParaRPr lang="en-US" sz="1400" dirty="0"/>
          </a:p>
        </p:txBody>
      </p:sp>
      <p:sp>
        <p:nvSpPr>
          <p:cNvPr id="14" name="Card 17"/>
          <p:cNvSpPr/>
          <p:nvPr/>
        </p:nvSpPr>
        <p:spPr>
          <a:xfrm>
            <a:off x="457200" y="3337560"/>
            <a:ext cx="5212080" cy="2514600"/>
          </a:xfrm>
          <a:prstGeom prst="roundRect">
            <a:avLst>
              <a:gd name="adj" fmla="val 363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Icon doc 18"/>
          <p:cNvSpPr/>
          <p:nvPr/>
        </p:nvSpPr>
        <p:spPr>
          <a:xfrm>
            <a:off x="731520" y="3657600"/>
            <a:ext cx="640080" cy="640080"/>
          </a:xfrm>
          <a:prstGeom prst="ellipse">
            <a:avLst/>
          </a:prstGeom>
          <a:solidFill>
            <a:schemeClr val="accent1"/>
          </a:solidFill>
          <a:ln/>
        </p:spPr>
      </p:sp>
      <p:sp>
        <p:nvSpPr>
          <p:cNvPr id="16" name="Glyph part 20"/>
          <p:cNvSpPr/>
          <p:nvPr/>
        </p:nvSpPr>
        <p:spPr>
          <a:xfrm>
            <a:off x="936346" y="3817620"/>
            <a:ext cx="230429" cy="320040"/>
          </a:xfrm>
          <a:prstGeom prst="snip1Rect">
            <a:avLst/>
          </a:prstGeom>
          <a:solidFill>
            <a:schemeClr val="tx1"/>
          </a:solidFill>
          <a:ln/>
        </p:spPr>
      </p:sp>
      <p:sp>
        <p:nvSpPr>
          <p:cNvPr id="17" name="Glyph part 21"/>
          <p:cNvSpPr/>
          <p:nvPr/>
        </p:nvSpPr>
        <p:spPr>
          <a:xfrm>
            <a:off x="981151" y="3952037"/>
            <a:ext cx="140818" cy="22403"/>
          </a:xfrm>
          <a:prstGeom prst="rect">
            <a:avLst/>
          </a:prstGeom>
          <a:solidFill>
            <a:schemeClr val="accent1"/>
          </a:solidFill>
          <a:ln/>
        </p:spPr>
      </p:sp>
      <p:sp>
        <p:nvSpPr>
          <p:cNvPr id="18" name="Glyph part 22"/>
          <p:cNvSpPr/>
          <p:nvPr/>
        </p:nvSpPr>
        <p:spPr>
          <a:xfrm>
            <a:off x="981151" y="4016045"/>
            <a:ext cx="140818" cy="22403"/>
          </a:xfrm>
          <a:prstGeom prst="rect">
            <a:avLst/>
          </a:prstGeom>
          <a:solidFill>
            <a:schemeClr val="accent1"/>
          </a:solidFill>
          <a:ln/>
        </p:spPr>
      </p:sp>
      <p:sp>
        <p:nvSpPr>
          <p:cNvPr id="19" name="Icon chat 23"/>
          <p:cNvSpPr/>
          <p:nvPr/>
        </p:nvSpPr>
        <p:spPr>
          <a:xfrm>
            <a:off x="1554480" y="3657600"/>
            <a:ext cx="640080" cy="640080"/>
          </a:xfrm>
          <a:prstGeom prst="ellipse">
            <a:avLst/>
          </a:prstGeom>
          <a:solidFill>
            <a:schemeClr val="tx2"/>
          </a:solidFill>
          <a:ln/>
        </p:spPr>
      </p:sp>
      <p:sp>
        <p:nvSpPr>
          <p:cNvPr id="20" name="Glyph part 25"/>
          <p:cNvSpPr/>
          <p:nvPr/>
        </p:nvSpPr>
        <p:spPr>
          <a:xfrm>
            <a:off x="1714500" y="3843223"/>
            <a:ext cx="320040" cy="211226"/>
          </a:xfrm>
          <a:prstGeom prst="wedgeRoundRectCallout">
            <a:avLst/>
          </a:prstGeom>
          <a:solidFill>
            <a:schemeClr val="bg1"/>
          </a:solidFill>
          <a:ln/>
        </p:spPr>
      </p:sp>
      <p:sp>
        <p:nvSpPr>
          <p:cNvPr id="21" name="Text 26"/>
          <p:cNvSpPr txBox="1"/>
          <p:nvPr/>
        </p:nvSpPr>
        <p:spPr>
          <a:xfrm>
            <a:off x="731520" y="4526280"/>
            <a:ext cx="4663440" cy="685800"/>
          </a:xfrm>
          <a:prstGeom prst="rect">
            <a:avLst/>
          </a:prstGeom>
          <a:noFill/>
          <a:ln/>
        </p:spPr>
        <p:txBody>
          <a:bodyPr wrap="square" lIns="0" tIns="0" rIns="0" bIns="0" rtlCol="0" anchor="t"/>
          <a:lstStyle/>
          <a:p>
            <a:pPr indent="0" marL="0">
              <a:buNone/>
            </a:pPr>
            <a:r>
              <a:rPr lang="en-US" sz="2000" b="1" dirty="0">
                <a:solidFill>
                  <a:schemeClr val="tx1"/>
                </a:solidFill>
              </a:rPr>
              <a:t>Bookings live in a paper diary and a WhatsApp group</a:t>
            </a:r>
            <a:endParaRPr lang="en-US" sz="2000" dirty="0"/>
          </a:p>
        </p:txBody>
      </p:sp>
      <p:sp>
        <p:nvSpPr>
          <p:cNvPr id="22" name="Text 27"/>
          <p:cNvSpPr txBox="1"/>
          <p:nvPr/>
        </p:nvSpPr>
        <p:spPr>
          <a:xfrm>
            <a:off x="731520" y="5230368"/>
            <a:ext cx="4663440" cy="301752"/>
          </a:xfrm>
          <a:prstGeom prst="rect">
            <a:avLst/>
          </a:prstGeom>
          <a:noFill/>
          <a:ln/>
        </p:spPr>
        <p:txBody>
          <a:bodyPr wrap="square" lIns="0" tIns="0" rIns="0" bIns="0" rtlCol="0" anchor="t"/>
          <a:lstStyle/>
          <a:p>
            <a:pPr indent="0" marL="0">
              <a:buNone/>
            </a:pPr>
            <a:r>
              <a:rPr lang="en-US" sz="1400" dirty="0">
                <a:solidFill>
                  <a:schemeClr val="tx2"/>
                </a:solidFill>
              </a:rPr>
              <a:t>A tool hire business with three branches in Cape Town</a:t>
            </a:r>
            <a:endParaRPr lang="en-US" sz="1400" dirty="0"/>
          </a:p>
        </p:txBody>
      </p:sp>
      <p:sp>
        <p:nvSpPr>
          <p:cNvPr id="23" name="Card 28"/>
          <p:cNvSpPr/>
          <p:nvPr/>
        </p:nvSpPr>
        <p:spPr>
          <a:xfrm>
            <a:off x="6035040" y="164592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4" name="Number badge 29"/>
          <p:cNvSpPr/>
          <p:nvPr/>
        </p:nvSpPr>
        <p:spPr>
          <a:xfrm>
            <a:off x="6309360" y="197205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25" name="Text 30"/>
          <p:cNvSpPr txBox="1"/>
          <p:nvPr/>
        </p:nvSpPr>
        <p:spPr>
          <a:xfrm>
            <a:off x="7132320" y="173736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The same unit is promised twice</a:t>
            </a:r>
            <a:endParaRPr lang="en-US" sz="1400" dirty="0"/>
          </a:p>
          <a:p>
            <a:pPr indent="0" marL="0">
              <a:spcBef>
                <a:spcPts val="300"/>
              </a:spcBef>
              <a:buNone/>
            </a:pPr>
            <a:r>
              <a:rPr lang="en-US" sz="1400" dirty="0">
                <a:solidFill>
                  <a:schemeClr val="tx2"/>
                </a:solidFill>
              </a:rPr>
              <a:t>Double booking, which the database itself now prevents</a:t>
            </a:r>
            <a:endParaRPr lang="en-US" sz="1400" dirty="0"/>
          </a:p>
        </p:txBody>
      </p:sp>
      <p:sp>
        <p:nvSpPr>
          <p:cNvPr id="26" name="Card 31"/>
          <p:cNvSpPr/>
          <p:nvPr/>
        </p:nvSpPr>
        <p:spPr>
          <a:xfrm>
            <a:off x="6035040" y="313944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7" name="Number badge 32"/>
          <p:cNvSpPr/>
          <p:nvPr/>
        </p:nvSpPr>
        <p:spPr>
          <a:xfrm>
            <a:off x="6309360" y="346557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28" name="Text 33"/>
          <p:cNvSpPr txBox="1"/>
          <p:nvPr/>
        </p:nvSpPr>
        <p:spPr>
          <a:xfrm>
            <a:off x="7132320" y="323088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Staff phone each other to find stock</a:t>
            </a:r>
            <a:endParaRPr lang="en-US" sz="1400" dirty="0"/>
          </a:p>
          <a:p>
            <a:pPr indent="0" marL="0">
              <a:spcBef>
                <a:spcPts val="300"/>
              </a:spcBef>
              <a:buNone/>
            </a:pPr>
            <a:r>
              <a:rPr lang="en-US" sz="1400" dirty="0">
                <a:solidFill>
                  <a:schemeClr val="tx2"/>
                </a:solidFill>
              </a:rPr>
              <a:t>One search now answers for all three branches</a:t>
            </a:r>
            <a:endParaRPr lang="en-US" sz="1400" dirty="0"/>
          </a:p>
        </p:txBody>
      </p:sp>
      <p:sp>
        <p:nvSpPr>
          <p:cNvPr id="29" name="Card 34"/>
          <p:cNvSpPr/>
          <p:nvPr/>
        </p:nvSpPr>
        <p:spPr>
          <a:xfrm>
            <a:off x="6035040" y="4632960"/>
            <a:ext cx="5699455"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0" name="Number badge 35"/>
          <p:cNvSpPr/>
          <p:nvPr/>
        </p:nvSpPr>
        <p:spPr>
          <a:xfrm>
            <a:off x="6309360" y="4959096"/>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31" name="Text 36"/>
          <p:cNvSpPr txBox="1"/>
          <p:nvPr/>
        </p:nvSpPr>
        <p:spPr>
          <a:xfrm>
            <a:off x="7132320" y="4724400"/>
            <a:ext cx="4327855" cy="1036320"/>
          </a:xfrm>
          <a:prstGeom prst="rect">
            <a:avLst/>
          </a:prstGeom>
          <a:noFill/>
          <a:ln/>
        </p:spPr>
        <p:txBody>
          <a:bodyPr wrap="square" lIns="0" tIns="0" rIns="0" bIns="0" rtlCol="0" anchor="ctr"/>
          <a:lstStyle/>
          <a:p>
            <a:pPr indent="0" marL="0">
              <a:buNone/>
            </a:pPr>
            <a:r>
              <a:rPr lang="en-US" sz="1800" b="1" dirty="0">
                <a:solidFill>
                  <a:schemeClr val="tx1"/>
                </a:solidFill>
              </a:rPr>
              <a:t>The owner cannot say which equipment earns its keep</a:t>
            </a:r>
            <a:endParaRPr lang="en-US" sz="1400" dirty="0"/>
          </a:p>
          <a:p>
            <a:pPr indent="0" marL="0">
              <a:spcBef>
                <a:spcPts val="300"/>
              </a:spcBef>
              <a:buNone/>
            </a:pPr>
            <a:r>
              <a:rPr lang="en-US" sz="1400" dirty="0">
                <a:solidFill>
                  <a:schemeClr val="tx2"/>
                </a:solidFill>
              </a:rPr>
              <a:t>The reporting that answers it comes in the final release</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What Task 2 delivers</a:t>
            </a:r>
            <a:endParaRPr lang="en-US" sz="3600" dirty="0"/>
          </a:p>
        </p:txBody>
      </p:sp>
      <p:sp>
        <p:nvSpPr>
          <p:cNvPr id="5" name="Card 37"/>
          <p:cNvSpPr/>
          <p:nvPr/>
        </p:nvSpPr>
        <p:spPr>
          <a:xfrm>
            <a:off x="457200" y="1645920"/>
            <a:ext cx="3383280" cy="1965960"/>
          </a:xfrm>
          <a:prstGeom prst="roundRect">
            <a:avLst>
              <a:gd name="adj" fmla="val 465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person 38"/>
          <p:cNvSpPr/>
          <p:nvPr/>
        </p:nvSpPr>
        <p:spPr>
          <a:xfrm>
            <a:off x="731520" y="1920240"/>
            <a:ext cx="603504" cy="603504"/>
          </a:xfrm>
          <a:prstGeom prst="ellipse">
            <a:avLst/>
          </a:prstGeom>
          <a:solidFill>
            <a:schemeClr val="accent1"/>
          </a:solidFill>
          <a:ln/>
        </p:spPr>
      </p:sp>
      <p:sp>
        <p:nvSpPr>
          <p:cNvPr id="7" name="Glyph part 40"/>
          <p:cNvSpPr/>
          <p:nvPr/>
        </p:nvSpPr>
        <p:spPr>
          <a:xfrm>
            <a:off x="975939" y="2071116"/>
            <a:ext cx="114666" cy="114666"/>
          </a:xfrm>
          <a:prstGeom prst="ellipse">
            <a:avLst/>
          </a:prstGeom>
          <a:solidFill>
            <a:schemeClr val="tx1"/>
          </a:solidFill>
          <a:ln/>
        </p:spPr>
      </p:sp>
      <p:sp>
        <p:nvSpPr>
          <p:cNvPr id="8" name="Glyph part 41"/>
          <p:cNvSpPr/>
          <p:nvPr/>
        </p:nvSpPr>
        <p:spPr>
          <a:xfrm rot="16200000">
            <a:off x="936711" y="2197852"/>
            <a:ext cx="193121" cy="193121"/>
          </a:xfrm>
          <a:prstGeom prst="flowChartDelay">
            <a:avLst/>
          </a:prstGeom>
          <a:solidFill>
            <a:schemeClr val="tx1"/>
          </a:solidFill>
          <a:ln/>
        </p:spPr>
      </p:sp>
      <p:sp>
        <p:nvSpPr>
          <p:cNvPr id="9" name="Text 42"/>
          <p:cNvSpPr txBox="1"/>
          <p:nvPr/>
        </p:nvSpPr>
        <p:spPr>
          <a:xfrm>
            <a:off x="731520" y="2651760"/>
            <a:ext cx="2834640" cy="822960"/>
          </a:xfrm>
          <a:prstGeom prst="rect">
            <a:avLst/>
          </a:prstGeom>
          <a:noFill/>
          <a:ln/>
        </p:spPr>
        <p:txBody>
          <a:bodyPr wrap="square" lIns="0" tIns="0" rIns="0" bIns="0" rtlCol="0" anchor="t"/>
          <a:lstStyle/>
          <a:p>
            <a:pPr indent="0" marL="0">
              <a:buNone/>
            </a:pPr>
            <a:r>
              <a:rPr lang="en-US" sz="1800" b="1" dirty="0">
                <a:solidFill>
                  <a:schemeClr val="tx1"/>
                </a:solidFill>
              </a:rPr>
              <a:t>Customer journey</a:t>
            </a:r>
            <a:endParaRPr lang="en-US" sz="1400" dirty="0"/>
          </a:p>
          <a:p>
            <a:pPr indent="0" marL="0">
              <a:spcBef>
                <a:spcPts val="300"/>
              </a:spcBef>
              <a:buNone/>
            </a:pPr>
            <a:r>
              <a:rPr lang="en-US" sz="1400" dirty="0">
                <a:solidFill>
                  <a:schemeClr val="tx2"/>
                </a:solidFill>
              </a:rPr>
              <a:t>From the catalogue to a confirmed booking</a:t>
            </a:r>
            <a:endParaRPr lang="en-US" sz="1400" dirty="0"/>
          </a:p>
        </p:txBody>
      </p:sp>
      <p:sp>
        <p:nvSpPr>
          <p:cNvPr id="10" name="Card 43"/>
          <p:cNvSpPr/>
          <p:nvPr/>
        </p:nvSpPr>
        <p:spPr>
          <a:xfrm>
            <a:off x="4114800" y="1645920"/>
            <a:ext cx="3383280" cy="1965960"/>
          </a:xfrm>
          <a:prstGeom prst="roundRect">
            <a:avLst>
              <a:gd name="adj" fmla="val 465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1" name="Icon house 44"/>
          <p:cNvSpPr/>
          <p:nvPr/>
        </p:nvSpPr>
        <p:spPr>
          <a:xfrm>
            <a:off x="4389120" y="1920240"/>
            <a:ext cx="603504" cy="603504"/>
          </a:xfrm>
          <a:prstGeom prst="ellipse">
            <a:avLst/>
          </a:prstGeom>
          <a:solidFill>
            <a:schemeClr val="accent1"/>
          </a:solidFill>
          <a:ln/>
        </p:spPr>
      </p:sp>
      <p:sp>
        <p:nvSpPr>
          <p:cNvPr id="12" name="Glyph part 46"/>
          <p:cNvSpPr/>
          <p:nvPr/>
        </p:nvSpPr>
        <p:spPr>
          <a:xfrm>
            <a:off x="4539996" y="2077151"/>
            <a:ext cx="301752" cy="132771"/>
          </a:xfrm>
          <a:prstGeom prst="triangle">
            <a:avLst/>
          </a:prstGeom>
          <a:solidFill>
            <a:schemeClr val="tx1"/>
          </a:solidFill>
          <a:ln/>
        </p:spPr>
      </p:sp>
      <p:sp>
        <p:nvSpPr>
          <p:cNvPr id="13" name="Glyph part 47"/>
          <p:cNvSpPr/>
          <p:nvPr/>
        </p:nvSpPr>
        <p:spPr>
          <a:xfrm>
            <a:off x="4591294" y="2209922"/>
            <a:ext cx="199156" cy="162946"/>
          </a:xfrm>
          <a:prstGeom prst="rect">
            <a:avLst/>
          </a:prstGeom>
          <a:solidFill>
            <a:schemeClr val="tx1"/>
          </a:solidFill>
          <a:ln/>
        </p:spPr>
      </p:sp>
      <p:sp>
        <p:nvSpPr>
          <p:cNvPr id="14" name="Glyph part 48"/>
          <p:cNvSpPr/>
          <p:nvPr/>
        </p:nvSpPr>
        <p:spPr>
          <a:xfrm>
            <a:off x="4660697" y="2270272"/>
            <a:ext cx="60350" cy="102596"/>
          </a:xfrm>
          <a:prstGeom prst="rect">
            <a:avLst/>
          </a:prstGeom>
          <a:solidFill>
            <a:schemeClr val="accent1"/>
          </a:solidFill>
          <a:ln/>
        </p:spPr>
      </p:sp>
      <p:sp>
        <p:nvSpPr>
          <p:cNvPr id="15" name="Text 49"/>
          <p:cNvSpPr txBox="1"/>
          <p:nvPr/>
        </p:nvSpPr>
        <p:spPr>
          <a:xfrm>
            <a:off x="4389120" y="2651760"/>
            <a:ext cx="2834640" cy="822960"/>
          </a:xfrm>
          <a:prstGeom prst="rect">
            <a:avLst/>
          </a:prstGeom>
          <a:noFill/>
          <a:ln/>
        </p:spPr>
        <p:txBody>
          <a:bodyPr wrap="square" lIns="0" tIns="0" rIns="0" bIns="0" rtlCol="0" anchor="t"/>
          <a:lstStyle/>
          <a:p>
            <a:pPr indent="0" marL="0">
              <a:buNone/>
            </a:pPr>
            <a:r>
              <a:rPr lang="en-US" sz="1800" b="1" dirty="0">
                <a:solidFill>
                  <a:schemeClr val="tx1"/>
                </a:solidFill>
              </a:rPr>
              <a:t>Counter journey</a:t>
            </a:r>
            <a:endParaRPr lang="en-US" sz="1400" dirty="0"/>
          </a:p>
          <a:p>
            <a:pPr indent="0" marL="0">
              <a:spcBef>
                <a:spcPts val="300"/>
              </a:spcBef>
              <a:buNone/>
            </a:pPr>
            <a:r>
              <a:rPr lang="en-US" sz="1400" dirty="0">
                <a:solidFill>
                  <a:schemeClr val="tx2"/>
                </a:solidFill>
              </a:rPr>
              <a:t>From a walk-in to checkout, return and deposit settlement</a:t>
            </a:r>
            <a:endParaRPr lang="en-US" sz="1400" dirty="0"/>
          </a:p>
        </p:txBody>
      </p:sp>
      <p:sp>
        <p:nvSpPr>
          <p:cNvPr id="16" name="Card 50"/>
          <p:cNvSpPr/>
          <p:nvPr/>
        </p:nvSpPr>
        <p:spPr>
          <a:xfrm>
            <a:off x="457200" y="3886200"/>
            <a:ext cx="3383280" cy="1965960"/>
          </a:xfrm>
          <a:prstGeom prst="roundRect">
            <a:avLst>
              <a:gd name="adj" fmla="val 465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7" name="Icon rand 51"/>
          <p:cNvSpPr/>
          <p:nvPr/>
        </p:nvSpPr>
        <p:spPr>
          <a:xfrm>
            <a:off x="731520" y="4160520"/>
            <a:ext cx="603504" cy="603504"/>
          </a:xfrm>
          <a:prstGeom prst="ellipse">
            <a:avLst/>
          </a:prstGeom>
          <a:solidFill>
            <a:schemeClr val="accent1"/>
          </a:solidFill>
          <a:ln/>
        </p:spPr>
      </p:sp>
      <p:sp>
        <p:nvSpPr>
          <p:cNvPr id="18" name="Glyph text 53"/>
          <p:cNvSpPr txBox="1"/>
          <p:nvPr/>
        </p:nvSpPr>
        <p:spPr>
          <a:xfrm>
            <a:off x="822046" y="4281221"/>
            <a:ext cx="422453" cy="362102"/>
          </a:xfrm>
          <a:prstGeom prst="rect">
            <a:avLst/>
          </a:prstGeom>
          <a:noFill/>
          <a:ln/>
        </p:spPr>
        <p:txBody>
          <a:bodyPr wrap="square" lIns="0" tIns="0" rIns="0" bIns="0" rtlCol="0" anchor="ctr"/>
          <a:lstStyle/>
          <a:p>
            <a:pPr algn="ctr" indent="0" marL="0">
              <a:buNone/>
            </a:pPr>
            <a:r>
              <a:rPr lang="en-US" sz="2300" b="1" dirty="0">
                <a:solidFill>
                  <a:schemeClr val="tx1"/>
                </a:solidFill>
              </a:rPr>
              <a:t>R</a:t>
            </a:r>
            <a:endParaRPr lang="en-US" sz="2300" dirty="0"/>
          </a:p>
        </p:txBody>
      </p:sp>
      <p:sp>
        <p:nvSpPr>
          <p:cNvPr id="19" name="Text 54"/>
          <p:cNvSpPr txBox="1"/>
          <p:nvPr/>
        </p:nvSpPr>
        <p:spPr>
          <a:xfrm>
            <a:off x="731520" y="4892040"/>
            <a:ext cx="2834640" cy="822960"/>
          </a:xfrm>
          <a:prstGeom prst="rect">
            <a:avLst/>
          </a:prstGeom>
          <a:noFill/>
          <a:ln/>
        </p:spPr>
        <p:txBody>
          <a:bodyPr wrap="square" lIns="0" tIns="0" rIns="0" bIns="0" rtlCol="0" anchor="t"/>
          <a:lstStyle/>
          <a:p>
            <a:pPr indent="0" marL="0">
              <a:buNone/>
            </a:pPr>
            <a:r>
              <a:rPr lang="en-US" sz="1800" b="1" dirty="0">
                <a:solidFill>
                  <a:schemeClr val="tx1"/>
                </a:solidFill>
              </a:rPr>
              <a:t>Late fees and deposits</a:t>
            </a:r>
            <a:endParaRPr lang="en-US" sz="1400" dirty="0"/>
          </a:p>
          <a:p>
            <a:pPr indent="0" marL="0">
              <a:spcBef>
                <a:spcPts val="300"/>
              </a:spcBef>
              <a:buNone/>
            </a:pPr>
            <a:r>
              <a:rPr lang="en-US" sz="1400" dirty="0">
                <a:solidFill>
                  <a:schemeClr val="tx2"/>
                </a:solidFill>
              </a:rPr>
              <a:t>One late fee policy, and the deposit settled at the counter</a:t>
            </a:r>
            <a:endParaRPr lang="en-US" sz="1400" dirty="0"/>
          </a:p>
        </p:txBody>
      </p:sp>
      <p:sp>
        <p:nvSpPr>
          <p:cNvPr id="20" name="Card 55"/>
          <p:cNvSpPr/>
          <p:nvPr/>
        </p:nvSpPr>
        <p:spPr>
          <a:xfrm>
            <a:off x="4114800" y="3886200"/>
            <a:ext cx="3383280" cy="1965960"/>
          </a:xfrm>
          <a:prstGeom prst="roundRect">
            <a:avLst>
              <a:gd name="adj" fmla="val 465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Icon servers 56"/>
          <p:cNvSpPr/>
          <p:nvPr/>
        </p:nvSpPr>
        <p:spPr>
          <a:xfrm>
            <a:off x="4389120" y="4160520"/>
            <a:ext cx="603504" cy="603504"/>
          </a:xfrm>
          <a:prstGeom prst="ellipse">
            <a:avLst/>
          </a:prstGeom>
          <a:solidFill>
            <a:schemeClr val="accent1"/>
          </a:solidFill>
          <a:ln/>
        </p:spPr>
      </p:sp>
      <p:sp>
        <p:nvSpPr>
          <p:cNvPr id="22" name="Glyph part 58"/>
          <p:cNvSpPr/>
          <p:nvPr/>
        </p:nvSpPr>
        <p:spPr>
          <a:xfrm>
            <a:off x="4539996" y="4335536"/>
            <a:ext cx="301752" cy="108631"/>
          </a:xfrm>
          <a:prstGeom prst="roundRect">
            <a:avLst>
              <a:gd name="adj" fmla="val 16667"/>
            </a:avLst>
          </a:prstGeom>
          <a:solidFill>
            <a:schemeClr val="tx1"/>
          </a:solidFill>
          <a:ln/>
        </p:spPr>
      </p:sp>
      <p:sp>
        <p:nvSpPr>
          <p:cNvPr id="23" name="Glyph part 59"/>
          <p:cNvSpPr/>
          <p:nvPr/>
        </p:nvSpPr>
        <p:spPr>
          <a:xfrm>
            <a:off x="4576206" y="4371746"/>
            <a:ext cx="36210" cy="36210"/>
          </a:xfrm>
          <a:prstGeom prst="ellipse">
            <a:avLst/>
          </a:prstGeom>
          <a:solidFill>
            <a:schemeClr val="accent1"/>
          </a:solidFill>
          <a:ln/>
        </p:spPr>
      </p:sp>
      <p:sp>
        <p:nvSpPr>
          <p:cNvPr id="24" name="Glyph part 60"/>
          <p:cNvSpPr/>
          <p:nvPr/>
        </p:nvSpPr>
        <p:spPr>
          <a:xfrm>
            <a:off x="4539996" y="4480377"/>
            <a:ext cx="301752" cy="108631"/>
          </a:xfrm>
          <a:prstGeom prst="roundRect">
            <a:avLst>
              <a:gd name="adj" fmla="val 16667"/>
            </a:avLst>
          </a:prstGeom>
          <a:solidFill>
            <a:schemeClr val="tx1"/>
          </a:solidFill>
          <a:ln/>
        </p:spPr>
      </p:sp>
      <p:sp>
        <p:nvSpPr>
          <p:cNvPr id="25" name="Glyph part 61"/>
          <p:cNvSpPr/>
          <p:nvPr/>
        </p:nvSpPr>
        <p:spPr>
          <a:xfrm>
            <a:off x="4576206" y="4516587"/>
            <a:ext cx="36210" cy="36210"/>
          </a:xfrm>
          <a:prstGeom prst="ellipse">
            <a:avLst/>
          </a:prstGeom>
          <a:solidFill>
            <a:schemeClr val="accent1"/>
          </a:solidFill>
          <a:ln/>
        </p:spPr>
      </p:sp>
      <p:sp>
        <p:nvSpPr>
          <p:cNvPr id="26" name="Text 62"/>
          <p:cNvSpPr txBox="1"/>
          <p:nvPr/>
        </p:nvSpPr>
        <p:spPr>
          <a:xfrm>
            <a:off x="4389120" y="4892040"/>
            <a:ext cx="2834640" cy="822960"/>
          </a:xfrm>
          <a:prstGeom prst="rect">
            <a:avLst/>
          </a:prstGeom>
          <a:noFill/>
          <a:ln/>
        </p:spPr>
        <p:txBody>
          <a:bodyPr wrap="square" lIns="0" tIns="0" rIns="0" bIns="0" rtlCol="0" anchor="t"/>
          <a:lstStyle/>
          <a:p>
            <a:pPr indent="0" marL="0">
              <a:buNone/>
            </a:pPr>
            <a:r>
              <a:rPr lang="en-US" sz="1800" b="1" dirty="0">
                <a:solidFill>
                  <a:schemeClr val="tx1"/>
                </a:solidFill>
              </a:rPr>
              <a:t>Two environments</a:t>
            </a:r>
            <a:endParaRPr lang="en-US" sz="1400" dirty="0"/>
          </a:p>
          <a:p>
            <a:pPr indent="0" marL="0">
              <a:spcBef>
                <a:spcPts val="300"/>
              </a:spcBef>
              <a:buNone/>
            </a:pPr>
            <a:r>
              <a:rPr lang="en-US" sz="1400" dirty="0">
                <a:solidFill>
                  <a:schemeClr val="tx2"/>
                </a:solidFill>
              </a:rPr>
              <a:t>Staging and production, deployed by the pipeline only</a:t>
            </a:r>
            <a:endParaRPr lang="en-US" sz="1400" dirty="0"/>
          </a:p>
        </p:txBody>
      </p:sp>
      <p:sp>
        <p:nvSpPr>
          <p:cNvPr id="27" name="Card 63"/>
          <p:cNvSpPr/>
          <p:nvPr/>
        </p:nvSpPr>
        <p:spPr>
          <a:xfrm>
            <a:off x="7863840" y="1645920"/>
            <a:ext cx="3870655" cy="4206240"/>
          </a:xfrm>
          <a:prstGeom prst="roundRect">
            <a:avLst>
              <a:gd name="adj" fmla="val 236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8" name="Text 64"/>
          <p:cNvSpPr txBox="1"/>
          <p:nvPr/>
        </p:nvSpPr>
        <p:spPr>
          <a:xfrm>
            <a:off x="8183880" y="1828800"/>
            <a:ext cx="3230575" cy="685800"/>
          </a:xfrm>
          <a:prstGeom prst="rect">
            <a:avLst/>
          </a:prstGeom>
          <a:noFill/>
          <a:ln/>
        </p:spPr>
        <p:txBody>
          <a:bodyPr wrap="square" lIns="0" tIns="0" rIns="0" bIns="0" rtlCol="0" anchor="b"/>
          <a:lstStyle/>
          <a:p>
            <a:pPr indent="0" marL="0">
              <a:buNone/>
            </a:pPr>
            <a:r>
              <a:rPr lang="en-US" sz="4400" b="1" dirty="0">
                <a:solidFill>
                  <a:schemeClr val="tx1"/>
                </a:solidFill>
              </a:rPr>
              <a:t>18 of 24</a:t>
            </a:r>
            <a:endParaRPr lang="en-US" sz="4400" dirty="0"/>
          </a:p>
        </p:txBody>
      </p:sp>
      <p:sp>
        <p:nvSpPr>
          <p:cNvPr id="29" name="Text 65"/>
          <p:cNvSpPr txBox="1"/>
          <p:nvPr/>
        </p:nvSpPr>
        <p:spPr>
          <a:xfrm>
            <a:off x="8183880" y="2560320"/>
            <a:ext cx="3230575" cy="320040"/>
          </a:xfrm>
          <a:prstGeom prst="rect">
            <a:avLst/>
          </a:prstGeom>
          <a:noFill/>
          <a:ln/>
        </p:spPr>
        <p:txBody>
          <a:bodyPr wrap="square" lIns="0" tIns="0" rIns="0" bIns="0" rtlCol="0" anchor="t"/>
          <a:lstStyle/>
          <a:p>
            <a:pPr indent="0" marL="0">
              <a:buNone/>
            </a:pPr>
            <a:r>
              <a:rPr lang="en-US" sz="1400" dirty="0">
                <a:solidFill>
                  <a:schemeClr val="tx2"/>
                </a:solidFill>
              </a:rPr>
              <a:t>screens run on the API</a:t>
            </a:r>
            <a:endParaRPr lang="en-US" sz="1400" dirty="0"/>
          </a:p>
        </p:txBody>
      </p:sp>
      <p:sp>
        <p:nvSpPr>
          <p:cNvPr id="30" name="Screen SC-01 66"/>
          <p:cNvSpPr/>
          <p:nvPr/>
        </p:nvSpPr>
        <p:spPr>
          <a:xfrm>
            <a:off x="8183880" y="297180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01</a:t>
            </a:r>
            <a:endParaRPr lang="en-US" sz="1000" dirty="0"/>
          </a:p>
        </p:txBody>
      </p:sp>
      <p:sp>
        <p:nvSpPr>
          <p:cNvPr id="31" name="Screen SC-02 67"/>
          <p:cNvSpPr/>
          <p:nvPr/>
        </p:nvSpPr>
        <p:spPr>
          <a:xfrm>
            <a:off x="8686800" y="297180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02</a:t>
            </a:r>
            <a:endParaRPr lang="en-US" sz="1000" dirty="0"/>
          </a:p>
        </p:txBody>
      </p:sp>
      <p:sp>
        <p:nvSpPr>
          <p:cNvPr id="32" name="Screen SC-03 68"/>
          <p:cNvSpPr/>
          <p:nvPr/>
        </p:nvSpPr>
        <p:spPr>
          <a:xfrm>
            <a:off x="9189720" y="297180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03</a:t>
            </a:r>
            <a:endParaRPr lang="en-US" sz="1000" dirty="0"/>
          </a:p>
        </p:txBody>
      </p:sp>
      <p:sp>
        <p:nvSpPr>
          <p:cNvPr id="33" name="Screen SC-04 69"/>
          <p:cNvSpPr/>
          <p:nvPr/>
        </p:nvSpPr>
        <p:spPr>
          <a:xfrm>
            <a:off x="9692640" y="297180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04</a:t>
            </a:r>
            <a:endParaRPr lang="en-US" sz="1000" dirty="0"/>
          </a:p>
        </p:txBody>
      </p:sp>
      <p:sp>
        <p:nvSpPr>
          <p:cNvPr id="34" name="Screen SC-05 70"/>
          <p:cNvSpPr/>
          <p:nvPr/>
        </p:nvSpPr>
        <p:spPr>
          <a:xfrm>
            <a:off x="10195560" y="297180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05</a:t>
            </a:r>
            <a:endParaRPr lang="en-US" sz="1000" dirty="0"/>
          </a:p>
        </p:txBody>
      </p:sp>
      <p:sp>
        <p:nvSpPr>
          <p:cNvPr id="35" name="Screen SC-06 71"/>
          <p:cNvSpPr/>
          <p:nvPr/>
        </p:nvSpPr>
        <p:spPr>
          <a:xfrm>
            <a:off x="10698480" y="297180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06</a:t>
            </a:r>
            <a:endParaRPr lang="en-US" sz="1000" dirty="0"/>
          </a:p>
        </p:txBody>
      </p:sp>
      <p:sp>
        <p:nvSpPr>
          <p:cNvPr id="36" name="Screen SC-07 72"/>
          <p:cNvSpPr/>
          <p:nvPr/>
        </p:nvSpPr>
        <p:spPr>
          <a:xfrm>
            <a:off x="8183880" y="347472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07</a:t>
            </a:r>
            <a:endParaRPr lang="en-US" sz="1000" dirty="0"/>
          </a:p>
        </p:txBody>
      </p:sp>
      <p:sp>
        <p:nvSpPr>
          <p:cNvPr id="37" name="Screen SC-08 73"/>
          <p:cNvSpPr/>
          <p:nvPr/>
        </p:nvSpPr>
        <p:spPr>
          <a:xfrm>
            <a:off x="8686800" y="347472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08</a:t>
            </a:r>
            <a:endParaRPr lang="en-US" sz="1000" dirty="0"/>
          </a:p>
        </p:txBody>
      </p:sp>
      <p:sp>
        <p:nvSpPr>
          <p:cNvPr id="38" name="Screen SC-09 74"/>
          <p:cNvSpPr/>
          <p:nvPr/>
        </p:nvSpPr>
        <p:spPr>
          <a:xfrm>
            <a:off x="9189720" y="347472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09</a:t>
            </a:r>
            <a:endParaRPr lang="en-US" sz="1000" dirty="0"/>
          </a:p>
        </p:txBody>
      </p:sp>
      <p:sp>
        <p:nvSpPr>
          <p:cNvPr id="39" name="Screen SC-10 75"/>
          <p:cNvSpPr/>
          <p:nvPr/>
        </p:nvSpPr>
        <p:spPr>
          <a:xfrm>
            <a:off x="9692640" y="347472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10</a:t>
            </a:r>
            <a:endParaRPr lang="en-US" sz="1000" dirty="0"/>
          </a:p>
        </p:txBody>
      </p:sp>
      <p:sp>
        <p:nvSpPr>
          <p:cNvPr id="40" name="Screen SC-11 76"/>
          <p:cNvSpPr/>
          <p:nvPr/>
        </p:nvSpPr>
        <p:spPr>
          <a:xfrm>
            <a:off x="10195560" y="347472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11</a:t>
            </a:r>
            <a:endParaRPr lang="en-US" sz="1000" dirty="0"/>
          </a:p>
        </p:txBody>
      </p:sp>
      <p:sp>
        <p:nvSpPr>
          <p:cNvPr id="41" name="Screen SC-12 77"/>
          <p:cNvSpPr/>
          <p:nvPr/>
        </p:nvSpPr>
        <p:spPr>
          <a:xfrm>
            <a:off x="10698480" y="347472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12</a:t>
            </a:r>
            <a:endParaRPr lang="en-US" sz="1000" dirty="0"/>
          </a:p>
        </p:txBody>
      </p:sp>
      <p:sp>
        <p:nvSpPr>
          <p:cNvPr id="42" name="Screen SC-13 78"/>
          <p:cNvSpPr/>
          <p:nvPr/>
        </p:nvSpPr>
        <p:spPr>
          <a:xfrm>
            <a:off x="8183880" y="397764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13</a:t>
            </a:r>
            <a:endParaRPr lang="en-US" sz="1000" dirty="0"/>
          </a:p>
        </p:txBody>
      </p:sp>
      <p:sp>
        <p:nvSpPr>
          <p:cNvPr id="43" name="Screen SC-14 79"/>
          <p:cNvSpPr/>
          <p:nvPr/>
        </p:nvSpPr>
        <p:spPr>
          <a:xfrm>
            <a:off x="8686800" y="397764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14</a:t>
            </a:r>
            <a:endParaRPr lang="en-US" sz="1000" dirty="0"/>
          </a:p>
        </p:txBody>
      </p:sp>
      <p:sp>
        <p:nvSpPr>
          <p:cNvPr id="44" name="Screen SC-15 80"/>
          <p:cNvSpPr/>
          <p:nvPr/>
        </p:nvSpPr>
        <p:spPr>
          <a:xfrm>
            <a:off x="9189720" y="397764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15</a:t>
            </a:r>
            <a:endParaRPr lang="en-US" sz="1000" dirty="0"/>
          </a:p>
        </p:txBody>
      </p:sp>
      <p:sp>
        <p:nvSpPr>
          <p:cNvPr id="45" name="Screen SC-16 81"/>
          <p:cNvSpPr/>
          <p:nvPr/>
        </p:nvSpPr>
        <p:spPr>
          <a:xfrm>
            <a:off x="9692640" y="397764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16</a:t>
            </a:r>
            <a:endParaRPr lang="en-US" sz="1000" dirty="0"/>
          </a:p>
        </p:txBody>
      </p:sp>
      <p:sp>
        <p:nvSpPr>
          <p:cNvPr id="46" name="Screen SC-17 82"/>
          <p:cNvSpPr/>
          <p:nvPr/>
        </p:nvSpPr>
        <p:spPr>
          <a:xfrm>
            <a:off x="10195560" y="397764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17</a:t>
            </a:r>
            <a:endParaRPr lang="en-US" sz="1000" dirty="0"/>
          </a:p>
        </p:txBody>
      </p:sp>
      <p:sp>
        <p:nvSpPr>
          <p:cNvPr id="47" name="Screen SC-18 83"/>
          <p:cNvSpPr/>
          <p:nvPr/>
        </p:nvSpPr>
        <p:spPr>
          <a:xfrm>
            <a:off x="10698480" y="3977640"/>
            <a:ext cx="420624" cy="420624"/>
          </a:xfrm>
          <a:prstGeom prst="roundRect">
            <a:avLst>
              <a:gd name="adj" fmla="val 13043"/>
            </a:avLst>
          </a:prstGeom>
          <a:solidFill>
            <a:schemeClr val="tx1"/>
          </a:solidFill>
          <a:ln/>
        </p:spPr>
        <p:txBody>
          <a:bodyPr wrap="square" lIns="25400" tIns="25400" rIns="25400" bIns="25400" rtlCol="0" anchor="ctr"/>
          <a:lstStyle/>
          <a:p>
            <a:pPr algn="ctr" indent="0" marL="0">
              <a:buNone/>
            </a:pPr>
            <a:r>
              <a:rPr lang="en-US" sz="1000" dirty="0">
                <a:solidFill>
                  <a:schemeClr val="bg1"/>
                </a:solidFill>
              </a:rPr>
              <a:t>18</a:t>
            </a:r>
            <a:endParaRPr lang="en-US" sz="1000" dirty="0"/>
          </a:p>
        </p:txBody>
      </p:sp>
      <p:sp>
        <p:nvSpPr>
          <p:cNvPr id="48" name="Screen SC-19 84"/>
          <p:cNvSpPr/>
          <p:nvPr/>
        </p:nvSpPr>
        <p:spPr>
          <a:xfrm>
            <a:off x="8183880" y="4480560"/>
            <a:ext cx="420624" cy="420624"/>
          </a:xfrm>
          <a:prstGeom prst="roundRect">
            <a:avLst>
              <a:gd name="adj" fmla="val 13043"/>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000" dirty="0">
                <a:solidFill>
                  <a:srgbClr val="5D6B7E"/>
                </a:solidFill>
              </a:rPr>
              <a:t>19</a:t>
            </a:r>
            <a:endParaRPr lang="en-US" sz="1000" dirty="0"/>
          </a:p>
        </p:txBody>
      </p:sp>
      <p:sp>
        <p:nvSpPr>
          <p:cNvPr id="49" name="Screen SC-20 85"/>
          <p:cNvSpPr/>
          <p:nvPr/>
        </p:nvSpPr>
        <p:spPr>
          <a:xfrm>
            <a:off x="8686800" y="4480560"/>
            <a:ext cx="420624" cy="420624"/>
          </a:xfrm>
          <a:prstGeom prst="roundRect">
            <a:avLst>
              <a:gd name="adj" fmla="val 13043"/>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000" dirty="0">
                <a:solidFill>
                  <a:srgbClr val="5D6B7E"/>
                </a:solidFill>
              </a:rPr>
              <a:t>20</a:t>
            </a:r>
            <a:endParaRPr lang="en-US" sz="1000" dirty="0"/>
          </a:p>
        </p:txBody>
      </p:sp>
      <p:sp>
        <p:nvSpPr>
          <p:cNvPr id="50" name="Screen SC-21 86"/>
          <p:cNvSpPr/>
          <p:nvPr/>
        </p:nvSpPr>
        <p:spPr>
          <a:xfrm>
            <a:off x="9189720" y="4480560"/>
            <a:ext cx="420624" cy="420624"/>
          </a:xfrm>
          <a:prstGeom prst="roundRect">
            <a:avLst>
              <a:gd name="adj" fmla="val 13043"/>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000" dirty="0">
                <a:solidFill>
                  <a:srgbClr val="5D6B7E"/>
                </a:solidFill>
              </a:rPr>
              <a:t>21</a:t>
            </a:r>
            <a:endParaRPr lang="en-US" sz="1000" dirty="0"/>
          </a:p>
        </p:txBody>
      </p:sp>
      <p:sp>
        <p:nvSpPr>
          <p:cNvPr id="51" name="Screen SC-22 87"/>
          <p:cNvSpPr/>
          <p:nvPr/>
        </p:nvSpPr>
        <p:spPr>
          <a:xfrm>
            <a:off x="9692640" y="4480560"/>
            <a:ext cx="420624" cy="420624"/>
          </a:xfrm>
          <a:prstGeom prst="roundRect">
            <a:avLst>
              <a:gd name="adj" fmla="val 13043"/>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000" dirty="0">
                <a:solidFill>
                  <a:srgbClr val="5D6B7E"/>
                </a:solidFill>
              </a:rPr>
              <a:t>22</a:t>
            </a:r>
            <a:endParaRPr lang="en-US" sz="1000" dirty="0"/>
          </a:p>
        </p:txBody>
      </p:sp>
      <p:sp>
        <p:nvSpPr>
          <p:cNvPr id="52" name="Screen SC-23 88"/>
          <p:cNvSpPr/>
          <p:nvPr/>
        </p:nvSpPr>
        <p:spPr>
          <a:xfrm>
            <a:off x="10195560" y="4480560"/>
            <a:ext cx="420624" cy="420624"/>
          </a:xfrm>
          <a:prstGeom prst="roundRect">
            <a:avLst>
              <a:gd name="adj" fmla="val 13043"/>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000" dirty="0">
                <a:solidFill>
                  <a:srgbClr val="5D6B7E"/>
                </a:solidFill>
              </a:rPr>
              <a:t>23</a:t>
            </a:r>
            <a:endParaRPr lang="en-US" sz="1000" dirty="0"/>
          </a:p>
        </p:txBody>
      </p:sp>
      <p:sp>
        <p:nvSpPr>
          <p:cNvPr id="53" name="Screen SC-24 89"/>
          <p:cNvSpPr/>
          <p:nvPr/>
        </p:nvSpPr>
        <p:spPr>
          <a:xfrm>
            <a:off x="10698480" y="4480560"/>
            <a:ext cx="420624" cy="420624"/>
          </a:xfrm>
          <a:prstGeom prst="roundRect">
            <a:avLst>
              <a:gd name="adj" fmla="val 13043"/>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000" dirty="0">
                <a:solidFill>
                  <a:srgbClr val="5D6B7E"/>
                </a:solidFill>
              </a:rPr>
              <a:t>24</a:t>
            </a:r>
            <a:endParaRPr lang="en-US" sz="1000" dirty="0"/>
          </a:p>
        </p:txBody>
      </p:sp>
      <p:sp>
        <p:nvSpPr>
          <p:cNvPr id="54" name="Chip 90"/>
          <p:cNvSpPr/>
          <p:nvPr/>
        </p:nvSpPr>
        <p:spPr>
          <a:xfrm>
            <a:off x="8183880" y="5166360"/>
            <a:ext cx="182880" cy="182880"/>
          </a:xfrm>
          <a:prstGeom prst="roundRect">
            <a:avLst>
              <a:gd name="adj" fmla="val 15000"/>
            </a:avLst>
          </a:prstGeom>
          <a:solidFill>
            <a:schemeClr val="tx1"/>
          </a:solidFill>
          <a:ln/>
        </p:spPr>
        <p:txBody>
          <a:bodyPr wrap="square" lIns="25400" tIns="25400" rIns="25400" bIns="25400" rtlCol="0" anchor="ctr"/>
          <a:lstStyle/>
          <a:p>
            <a:pPr algn="ctr" indent="0" marL="0">
              <a:buNone/>
            </a:pPr>
            <a:endParaRPr lang="en-US" sz="1100" dirty="0"/>
          </a:p>
        </p:txBody>
      </p:sp>
      <p:sp>
        <p:nvSpPr>
          <p:cNvPr id="55" name="Text 91"/>
          <p:cNvSpPr txBox="1"/>
          <p:nvPr/>
        </p:nvSpPr>
        <p:spPr>
          <a:xfrm>
            <a:off x="8476488" y="5129784"/>
            <a:ext cx="2926080" cy="256032"/>
          </a:xfrm>
          <a:prstGeom prst="rect">
            <a:avLst/>
          </a:prstGeom>
          <a:noFill/>
          <a:ln/>
        </p:spPr>
        <p:txBody>
          <a:bodyPr wrap="square" lIns="0" tIns="0" rIns="0" bIns="0" rtlCol="0" anchor="ctr"/>
          <a:lstStyle/>
          <a:p>
            <a:pPr indent="0" marL="0">
              <a:buNone/>
            </a:pPr>
            <a:r>
              <a:rPr lang="en-US" sz="1200" dirty="0">
                <a:solidFill>
                  <a:schemeClr val="tx2"/>
                </a:solidFill>
              </a:rPr>
              <a:t>Customer and counter, on the API</a:t>
            </a:r>
            <a:endParaRPr lang="en-US" sz="1200" dirty="0"/>
          </a:p>
        </p:txBody>
      </p:sp>
      <p:sp>
        <p:nvSpPr>
          <p:cNvPr id="56" name="Chip 92"/>
          <p:cNvSpPr/>
          <p:nvPr/>
        </p:nvSpPr>
        <p:spPr>
          <a:xfrm>
            <a:off x="8183880" y="5513832"/>
            <a:ext cx="182880" cy="182880"/>
          </a:xfrm>
          <a:prstGeom prst="roundRect">
            <a:avLst>
              <a:gd name="adj" fmla="val 15000"/>
            </a:avLst>
          </a:prstGeom>
          <a:solidFill>
            <a:schemeClr val="bg1"/>
          </a:solidFill>
          <a:ln w="12700">
            <a:solidFill>
              <a:srgbClr val="5D6B7E"/>
            </a:solidFill>
            <a:prstDash val="dash"/>
          </a:ln>
        </p:spPr>
        <p:txBody>
          <a:bodyPr wrap="square" lIns="25400" tIns="25400" rIns="25400" bIns="25400" rtlCol="0" anchor="ctr"/>
          <a:lstStyle/>
          <a:p>
            <a:pPr algn="ctr" indent="0" marL="0">
              <a:buNone/>
            </a:pPr>
            <a:endParaRPr lang="en-US" sz="1100" dirty="0"/>
          </a:p>
        </p:txBody>
      </p:sp>
      <p:sp>
        <p:nvSpPr>
          <p:cNvPr id="57" name="Text 93"/>
          <p:cNvSpPr txBox="1"/>
          <p:nvPr/>
        </p:nvSpPr>
        <p:spPr>
          <a:xfrm>
            <a:off x="8476488" y="5477256"/>
            <a:ext cx="2926080" cy="256032"/>
          </a:xfrm>
          <a:prstGeom prst="rect">
            <a:avLst/>
          </a:prstGeom>
          <a:noFill/>
          <a:ln/>
        </p:spPr>
        <p:txBody>
          <a:bodyPr wrap="square" lIns="0" tIns="0" rIns="0" bIns="0" rtlCol="0" anchor="ctr"/>
          <a:lstStyle/>
          <a:p>
            <a:pPr indent="0" marL="0">
              <a:buNone/>
            </a:pPr>
            <a:r>
              <a:rPr lang="en-US" sz="1200" dirty="0">
                <a:solidFill>
                  <a:schemeClr val="tx2"/>
                </a:solidFill>
              </a:rPr>
              <a:t>Admin, still sample data, and it says so</a:t>
            </a:r>
            <a:endParaRPr lang="en-US" sz="12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  THE PROBLEM AND THE REQUIREMENTS</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Requirements and how they are traced</a:t>
            </a:r>
            <a:endParaRPr lang="en-US" sz="3600" dirty="0"/>
          </a:p>
        </p:txBody>
      </p:sp>
      <p:sp>
        <p:nvSpPr>
          <p:cNvPr id="5" name="Card 94"/>
          <p:cNvSpPr/>
          <p:nvPr/>
        </p:nvSpPr>
        <p:spPr>
          <a:xfrm>
            <a:off x="457200"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doc 95"/>
          <p:cNvSpPr/>
          <p:nvPr/>
        </p:nvSpPr>
        <p:spPr>
          <a:xfrm>
            <a:off x="658368" y="1847088"/>
            <a:ext cx="502920" cy="502920"/>
          </a:xfrm>
          <a:prstGeom prst="ellipse">
            <a:avLst/>
          </a:prstGeom>
          <a:solidFill>
            <a:schemeClr val="accent1"/>
          </a:solidFill>
          <a:ln/>
        </p:spPr>
      </p:sp>
      <p:sp>
        <p:nvSpPr>
          <p:cNvPr id="7" name="Glyph part 97"/>
          <p:cNvSpPr/>
          <p:nvPr/>
        </p:nvSpPr>
        <p:spPr>
          <a:xfrm>
            <a:off x="819302" y="1972818"/>
            <a:ext cx="181051" cy="251460"/>
          </a:xfrm>
          <a:prstGeom prst="snip1Rect">
            <a:avLst/>
          </a:prstGeom>
          <a:solidFill>
            <a:schemeClr val="tx1"/>
          </a:solidFill>
          <a:ln/>
        </p:spPr>
      </p:sp>
      <p:sp>
        <p:nvSpPr>
          <p:cNvPr id="8" name="Glyph part 98"/>
          <p:cNvSpPr/>
          <p:nvPr/>
        </p:nvSpPr>
        <p:spPr>
          <a:xfrm>
            <a:off x="854507" y="2078431"/>
            <a:ext cx="110642" cy="17602"/>
          </a:xfrm>
          <a:prstGeom prst="rect">
            <a:avLst/>
          </a:prstGeom>
          <a:solidFill>
            <a:schemeClr val="accent1"/>
          </a:solidFill>
          <a:ln/>
        </p:spPr>
      </p:sp>
      <p:sp>
        <p:nvSpPr>
          <p:cNvPr id="9" name="Glyph part 99"/>
          <p:cNvSpPr/>
          <p:nvPr/>
        </p:nvSpPr>
        <p:spPr>
          <a:xfrm>
            <a:off x="854507" y="2128723"/>
            <a:ext cx="110642" cy="17602"/>
          </a:xfrm>
          <a:prstGeom prst="rect">
            <a:avLst/>
          </a:prstGeom>
          <a:solidFill>
            <a:schemeClr val="accent1"/>
          </a:solidFill>
          <a:ln/>
        </p:spPr>
      </p:sp>
      <p:sp>
        <p:nvSpPr>
          <p:cNvPr id="10" name="Text 100"/>
          <p:cNvSpPr txBox="1"/>
          <p:nvPr/>
        </p:nvSpPr>
        <p:spPr>
          <a:xfrm>
            <a:off x="1298448"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Issue</a:t>
            </a:r>
            <a:endParaRPr lang="en-US" sz="1600" dirty="0"/>
          </a:p>
        </p:txBody>
      </p:sp>
      <p:sp>
        <p:nvSpPr>
          <p:cNvPr id="11" name="Text 101"/>
          <p:cNvSpPr txBox="1"/>
          <p:nvPr/>
        </p:nvSpPr>
        <p:spPr>
          <a:xfrm>
            <a:off x="658368"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The outcome, the criteria and the requirement ids</a:t>
            </a:r>
            <a:endParaRPr lang="en-US" sz="1200" dirty="0"/>
          </a:p>
        </p:txBody>
      </p:sp>
      <p:sp>
        <p:nvSpPr>
          <p:cNvPr id="12" name="Connector 102"/>
          <p:cNvSpPr/>
          <p:nvPr/>
        </p:nvSpPr>
        <p:spPr>
          <a:xfrm>
            <a:off x="2880360" y="2286000"/>
            <a:ext cx="467258" cy="0"/>
          </a:xfrm>
          <a:prstGeom prst="line">
            <a:avLst/>
          </a:prstGeom>
          <a:noFill/>
          <a:ln w="25400">
            <a:solidFill>
              <a:schemeClr val="tx2"/>
            </a:solidFill>
            <a:prstDash val="solid"/>
            <a:tailEnd type="triangle"/>
          </a:ln>
        </p:spPr>
      </p:sp>
      <p:sp>
        <p:nvSpPr>
          <p:cNvPr id="13" name="Card 103"/>
          <p:cNvSpPr/>
          <p:nvPr/>
        </p:nvSpPr>
        <p:spPr>
          <a:xfrm>
            <a:off x="3439058"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4" name="Icon branch 104"/>
          <p:cNvSpPr/>
          <p:nvPr/>
        </p:nvSpPr>
        <p:spPr>
          <a:xfrm>
            <a:off x="3640226" y="1847088"/>
            <a:ext cx="502920" cy="502920"/>
          </a:xfrm>
          <a:prstGeom prst="ellipse">
            <a:avLst/>
          </a:prstGeom>
          <a:solidFill>
            <a:schemeClr val="accent1"/>
          </a:solidFill>
          <a:ln/>
        </p:spPr>
      </p:sp>
      <p:sp>
        <p:nvSpPr>
          <p:cNvPr id="15" name="Glyph stroke 106"/>
          <p:cNvSpPr/>
          <p:nvPr/>
        </p:nvSpPr>
        <p:spPr>
          <a:xfrm>
            <a:off x="3826307" y="2008022"/>
            <a:ext cx="0" cy="181051"/>
          </a:xfrm>
          <a:prstGeom prst="line">
            <a:avLst/>
          </a:prstGeom>
          <a:noFill/>
          <a:ln w="28575">
            <a:solidFill>
              <a:schemeClr val="tx1"/>
            </a:solidFill>
            <a:prstDash val="solid"/>
          </a:ln>
        </p:spPr>
      </p:sp>
      <p:sp>
        <p:nvSpPr>
          <p:cNvPr id="16" name="Glyph stroke 107"/>
          <p:cNvSpPr/>
          <p:nvPr/>
        </p:nvSpPr>
        <p:spPr>
          <a:xfrm flipH="1">
            <a:off x="3826307" y="2043227"/>
            <a:ext cx="125730" cy="110642"/>
          </a:xfrm>
          <a:prstGeom prst="line">
            <a:avLst/>
          </a:prstGeom>
          <a:noFill/>
          <a:ln w="28575">
            <a:solidFill>
              <a:schemeClr val="tx1"/>
            </a:solidFill>
            <a:prstDash val="solid"/>
          </a:ln>
        </p:spPr>
      </p:sp>
      <p:sp>
        <p:nvSpPr>
          <p:cNvPr id="17" name="Glyph part 108"/>
          <p:cNvSpPr/>
          <p:nvPr/>
        </p:nvSpPr>
        <p:spPr>
          <a:xfrm>
            <a:off x="3791102" y="1972818"/>
            <a:ext cx="70409" cy="70409"/>
          </a:xfrm>
          <a:prstGeom prst="ellipse">
            <a:avLst/>
          </a:prstGeom>
          <a:solidFill>
            <a:schemeClr val="tx1"/>
          </a:solidFill>
          <a:ln/>
        </p:spPr>
      </p:sp>
      <p:sp>
        <p:nvSpPr>
          <p:cNvPr id="18" name="Glyph part 109"/>
          <p:cNvSpPr/>
          <p:nvPr/>
        </p:nvSpPr>
        <p:spPr>
          <a:xfrm>
            <a:off x="3791102" y="2153869"/>
            <a:ext cx="70409" cy="70409"/>
          </a:xfrm>
          <a:prstGeom prst="ellipse">
            <a:avLst/>
          </a:prstGeom>
          <a:solidFill>
            <a:schemeClr val="tx1"/>
          </a:solidFill>
          <a:ln/>
        </p:spPr>
      </p:sp>
      <p:sp>
        <p:nvSpPr>
          <p:cNvPr id="19" name="Glyph part 110"/>
          <p:cNvSpPr/>
          <p:nvPr/>
        </p:nvSpPr>
        <p:spPr>
          <a:xfrm>
            <a:off x="3916832" y="2008022"/>
            <a:ext cx="70409" cy="70409"/>
          </a:xfrm>
          <a:prstGeom prst="ellipse">
            <a:avLst/>
          </a:prstGeom>
          <a:solidFill>
            <a:schemeClr val="tx1"/>
          </a:solidFill>
          <a:ln/>
        </p:spPr>
      </p:sp>
      <p:sp>
        <p:nvSpPr>
          <p:cNvPr id="20" name="Text 111"/>
          <p:cNvSpPr txBox="1"/>
          <p:nvPr/>
        </p:nvSpPr>
        <p:spPr>
          <a:xfrm>
            <a:off x="4280306"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Branch</a:t>
            </a:r>
            <a:endParaRPr lang="en-US" sz="1600" dirty="0"/>
          </a:p>
        </p:txBody>
      </p:sp>
      <p:sp>
        <p:nvSpPr>
          <p:cNvPr id="21" name="Text 112"/>
          <p:cNvSpPr txBox="1"/>
          <p:nvPr/>
        </p:nvSpPr>
        <p:spPr>
          <a:xfrm>
            <a:off x="3640226" y="2432304"/>
            <a:ext cx="1929384" cy="411480"/>
          </a:xfrm>
          <a:prstGeom prst="rect">
            <a:avLst/>
          </a:prstGeom>
          <a:noFill/>
          <a:ln/>
        </p:spPr>
        <p:txBody>
          <a:bodyPr wrap="square" lIns="0" tIns="0" rIns="0" bIns="0" rtlCol="0" anchor="t"/>
          <a:lstStyle/>
          <a:p>
            <a:pPr indent="0" marL="0">
              <a:buNone/>
            </a:pPr>
            <a:r>
              <a:rPr lang="en-US" sz="1300" dirty="0">
                <a:solidFill>
                  <a:schemeClr val="tx2"/>
                </a:solidFill>
                <a:latin typeface="Consolas" pitchFamily="34" charset="0"/>
                <a:ea typeface="Consolas" pitchFamily="34" charset="-122"/>
                <a:cs typeface="Consolas" pitchFamily="34" charset="-120"/>
              </a:rPr>
              <a:t>feature/nnn-slug</a:t>
            </a:r>
            <a:endParaRPr lang="en-US" sz="1300" dirty="0"/>
          </a:p>
        </p:txBody>
      </p:sp>
      <p:sp>
        <p:nvSpPr>
          <p:cNvPr id="22" name="Connector 113"/>
          <p:cNvSpPr/>
          <p:nvPr/>
        </p:nvSpPr>
        <p:spPr>
          <a:xfrm>
            <a:off x="5862218" y="2286000"/>
            <a:ext cx="467258" cy="0"/>
          </a:xfrm>
          <a:prstGeom prst="line">
            <a:avLst/>
          </a:prstGeom>
          <a:noFill/>
          <a:ln w="25400">
            <a:solidFill>
              <a:schemeClr val="tx2"/>
            </a:solidFill>
            <a:prstDash val="solid"/>
            <a:tailEnd type="triangle"/>
          </a:ln>
        </p:spPr>
      </p:sp>
      <p:sp>
        <p:nvSpPr>
          <p:cNvPr id="23" name="Card 114"/>
          <p:cNvSpPr/>
          <p:nvPr/>
        </p:nvSpPr>
        <p:spPr>
          <a:xfrm>
            <a:off x="6420917"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4" name="Icon check 115"/>
          <p:cNvSpPr/>
          <p:nvPr/>
        </p:nvSpPr>
        <p:spPr>
          <a:xfrm>
            <a:off x="6622085" y="1847088"/>
            <a:ext cx="502920" cy="502920"/>
          </a:xfrm>
          <a:prstGeom prst="ellipse">
            <a:avLst/>
          </a:prstGeom>
          <a:solidFill>
            <a:schemeClr val="accent1"/>
          </a:solidFill>
          <a:ln/>
        </p:spPr>
      </p:sp>
      <p:sp>
        <p:nvSpPr>
          <p:cNvPr id="25" name="Glyph stroke 117"/>
          <p:cNvSpPr/>
          <p:nvPr/>
        </p:nvSpPr>
        <p:spPr>
          <a:xfrm>
            <a:off x="6762902" y="2103577"/>
            <a:ext cx="80467" cy="80467"/>
          </a:xfrm>
          <a:prstGeom prst="line">
            <a:avLst/>
          </a:prstGeom>
          <a:noFill/>
          <a:ln w="44450">
            <a:solidFill>
              <a:schemeClr val="tx1"/>
            </a:solidFill>
            <a:prstDash val="solid"/>
          </a:ln>
        </p:spPr>
      </p:sp>
      <p:sp>
        <p:nvSpPr>
          <p:cNvPr id="26" name="Glyph stroke 118"/>
          <p:cNvSpPr/>
          <p:nvPr/>
        </p:nvSpPr>
        <p:spPr>
          <a:xfrm flipV="1">
            <a:off x="6843370" y="2018081"/>
            <a:ext cx="145847" cy="165964"/>
          </a:xfrm>
          <a:prstGeom prst="line">
            <a:avLst/>
          </a:prstGeom>
          <a:noFill/>
          <a:ln w="44450">
            <a:solidFill>
              <a:schemeClr val="tx1"/>
            </a:solidFill>
            <a:prstDash val="solid"/>
          </a:ln>
        </p:spPr>
      </p:sp>
      <p:sp>
        <p:nvSpPr>
          <p:cNvPr id="27" name="Text 119"/>
          <p:cNvSpPr txBox="1"/>
          <p:nvPr/>
        </p:nvSpPr>
        <p:spPr>
          <a:xfrm>
            <a:off x="7262165"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Pull request</a:t>
            </a:r>
            <a:endParaRPr lang="en-US" sz="1600" dirty="0"/>
          </a:p>
        </p:txBody>
      </p:sp>
      <p:sp>
        <p:nvSpPr>
          <p:cNvPr id="28" name="Text 120"/>
          <p:cNvSpPr txBox="1"/>
          <p:nvPr/>
        </p:nvSpPr>
        <p:spPr>
          <a:xfrm>
            <a:off x="6622085"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Both required checks pass first</a:t>
            </a:r>
            <a:endParaRPr lang="en-US" sz="1200" dirty="0"/>
          </a:p>
        </p:txBody>
      </p:sp>
      <p:sp>
        <p:nvSpPr>
          <p:cNvPr id="29" name="Connector 121"/>
          <p:cNvSpPr/>
          <p:nvPr/>
        </p:nvSpPr>
        <p:spPr>
          <a:xfrm>
            <a:off x="8844077" y="2286000"/>
            <a:ext cx="467258" cy="0"/>
          </a:xfrm>
          <a:prstGeom prst="line">
            <a:avLst/>
          </a:prstGeom>
          <a:noFill/>
          <a:ln w="25400">
            <a:solidFill>
              <a:schemeClr val="tx2"/>
            </a:solidFill>
            <a:prstDash val="solid"/>
            <a:tailEnd type="triangle"/>
          </a:ln>
        </p:spPr>
      </p:sp>
      <p:sp>
        <p:nvSpPr>
          <p:cNvPr id="30" name="Card 122"/>
          <p:cNvSpPr/>
          <p:nvPr/>
        </p:nvSpPr>
        <p:spPr>
          <a:xfrm>
            <a:off x="9402775" y="1645920"/>
            <a:ext cx="2331720" cy="1280160"/>
          </a:xfrm>
          <a:prstGeom prst="roundRect">
            <a:avLst>
              <a:gd name="adj" fmla="val 714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1" name="Icon gear 123"/>
          <p:cNvSpPr/>
          <p:nvPr/>
        </p:nvSpPr>
        <p:spPr>
          <a:xfrm>
            <a:off x="9603943" y="1847088"/>
            <a:ext cx="502920" cy="502920"/>
          </a:xfrm>
          <a:prstGeom prst="ellipse">
            <a:avLst/>
          </a:prstGeom>
          <a:solidFill>
            <a:schemeClr val="accent1"/>
          </a:solidFill>
          <a:ln/>
        </p:spPr>
      </p:sp>
      <p:sp>
        <p:nvSpPr>
          <p:cNvPr id="32" name="Glyph part 125"/>
          <p:cNvSpPr/>
          <p:nvPr/>
        </p:nvSpPr>
        <p:spPr>
          <a:xfrm>
            <a:off x="9729673" y="1972818"/>
            <a:ext cx="251460" cy="251460"/>
          </a:xfrm>
          <a:prstGeom prst="gear6">
            <a:avLst/>
          </a:prstGeom>
          <a:solidFill>
            <a:schemeClr val="tx1"/>
          </a:solidFill>
          <a:ln/>
        </p:spPr>
      </p:sp>
      <p:sp>
        <p:nvSpPr>
          <p:cNvPr id="33" name="Glyph part 126"/>
          <p:cNvSpPr/>
          <p:nvPr/>
        </p:nvSpPr>
        <p:spPr>
          <a:xfrm>
            <a:off x="9825228" y="2068373"/>
            <a:ext cx="60350" cy="60350"/>
          </a:xfrm>
          <a:prstGeom prst="ellipse">
            <a:avLst/>
          </a:prstGeom>
          <a:solidFill>
            <a:schemeClr val="accent1"/>
          </a:solidFill>
          <a:ln/>
        </p:spPr>
      </p:sp>
      <p:sp>
        <p:nvSpPr>
          <p:cNvPr id="34" name="Text 127"/>
          <p:cNvSpPr txBox="1"/>
          <p:nvPr/>
        </p:nvSpPr>
        <p:spPr>
          <a:xfrm>
            <a:off x="10244023" y="1847088"/>
            <a:ext cx="1325880" cy="502920"/>
          </a:xfrm>
          <a:prstGeom prst="rect">
            <a:avLst/>
          </a:prstGeom>
          <a:noFill/>
          <a:ln/>
        </p:spPr>
        <p:txBody>
          <a:bodyPr wrap="square" lIns="0" tIns="0" rIns="0" bIns="0" rtlCol="0" anchor="ctr"/>
          <a:lstStyle/>
          <a:p>
            <a:pPr indent="0" marL="0">
              <a:buNone/>
            </a:pPr>
            <a:r>
              <a:rPr lang="en-US" sz="1600" b="1" dirty="0">
                <a:solidFill>
                  <a:schemeClr val="tx1"/>
                </a:solidFill>
              </a:rPr>
              <a:t>Merge commit</a:t>
            </a:r>
            <a:endParaRPr lang="en-US" sz="1600" dirty="0"/>
          </a:p>
        </p:txBody>
      </p:sp>
      <p:sp>
        <p:nvSpPr>
          <p:cNvPr id="35" name="Text 128"/>
          <p:cNvSpPr txBox="1"/>
          <p:nvPr/>
        </p:nvSpPr>
        <p:spPr>
          <a:xfrm>
            <a:off x="9603943" y="2432304"/>
            <a:ext cx="1929384" cy="411480"/>
          </a:xfrm>
          <a:prstGeom prst="rect">
            <a:avLst/>
          </a:prstGeom>
          <a:noFill/>
          <a:ln/>
        </p:spPr>
        <p:txBody>
          <a:bodyPr wrap="square" lIns="0" tIns="0" rIns="0" bIns="0" rtlCol="0" anchor="t"/>
          <a:lstStyle/>
          <a:p>
            <a:pPr indent="0" marL="0">
              <a:buNone/>
            </a:pPr>
            <a:r>
              <a:rPr lang="en-US" sz="1200" dirty="0">
                <a:solidFill>
                  <a:schemeClr val="tx2"/>
                </a:solidFill>
              </a:rPr>
              <a:t>Into develop, then staging</a:t>
            </a:r>
            <a:endParaRPr lang="en-US" sz="1200" dirty="0"/>
          </a:p>
        </p:txBody>
      </p:sp>
      <p:sp>
        <p:nvSpPr>
          <p:cNvPr id="36" name="Card 129"/>
          <p:cNvSpPr/>
          <p:nvPr/>
        </p:nvSpPr>
        <p:spPr>
          <a:xfrm>
            <a:off x="457200" y="3246120"/>
            <a:ext cx="5486400" cy="2606040"/>
          </a:xfrm>
          <a:prstGeom prst="roundRect">
            <a:avLst>
              <a:gd name="adj" fmla="val 350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7" name="Text 130"/>
          <p:cNvSpPr txBox="1"/>
          <p:nvPr/>
        </p:nvSpPr>
        <p:spPr>
          <a:xfrm>
            <a:off x="731520" y="3447288"/>
            <a:ext cx="4937760" cy="365760"/>
          </a:xfrm>
          <a:prstGeom prst="rect">
            <a:avLst/>
          </a:prstGeom>
          <a:noFill/>
          <a:ln/>
        </p:spPr>
        <p:txBody>
          <a:bodyPr wrap="square" lIns="0" tIns="0" rIns="0" bIns="0" rtlCol="0" anchor="t"/>
          <a:lstStyle/>
          <a:p>
            <a:pPr indent="0" marL="0">
              <a:buNone/>
            </a:pPr>
            <a:r>
              <a:rPr lang="en-US" sz="2000" b="1" dirty="0">
                <a:solidFill>
                  <a:schemeClr val="tx1"/>
                </a:solidFill>
              </a:rPr>
              <a:t>28 functional requirements</a:t>
            </a:r>
            <a:endParaRPr lang="en-US" sz="2000" dirty="0"/>
          </a:p>
        </p:txBody>
      </p:sp>
      <p:sp>
        <p:nvSpPr>
          <p:cNvPr id="38" name="Glyph part 131"/>
          <p:cNvSpPr/>
          <p:nvPr/>
        </p:nvSpPr>
        <p:spPr>
          <a:xfrm>
            <a:off x="731520" y="3959352"/>
            <a:ext cx="145488" cy="457200"/>
          </a:xfrm>
          <a:prstGeom prst="rect">
            <a:avLst/>
          </a:prstGeom>
          <a:solidFill>
            <a:schemeClr val="accent3"/>
          </a:solidFill>
          <a:ln/>
        </p:spPr>
      </p:sp>
      <p:sp>
        <p:nvSpPr>
          <p:cNvPr id="39" name="Glyph part 132"/>
          <p:cNvSpPr/>
          <p:nvPr/>
        </p:nvSpPr>
        <p:spPr>
          <a:xfrm>
            <a:off x="909012" y="3959352"/>
            <a:ext cx="145488" cy="457200"/>
          </a:xfrm>
          <a:prstGeom prst="rect">
            <a:avLst/>
          </a:prstGeom>
          <a:solidFill>
            <a:schemeClr val="accent3"/>
          </a:solidFill>
          <a:ln/>
        </p:spPr>
      </p:sp>
      <p:sp>
        <p:nvSpPr>
          <p:cNvPr id="40" name="Glyph part 133"/>
          <p:cNvSpPr/>
          <p:nvPr/>
        </p:nvSpPr>
        <p:spPr>
          <a:xfrm>
            <a:off x="1086503" y="3959352"/>
            <a:ext cx="145488" cy="457200"/>
          </a:xfrm>
          <a:prstGeom prst="rect">
            <a:avLst/>
          </a:prstGeom>
          <a:solidFill>
            <a:schemeClr val="accent3"/>
          </a:solidFill>
          <a:ln/>
        </p:spPr>
      </p:sp>
      <p:sp>
        <p:nvSpPr>
          <p:cNvPr id="41" name="Glyph part 134"/>
          <p:cNvSpPr/>
          <p:nvPr/>
        </p:nvSpPr>
        <p:spPr>
          <a:xfrm>
            <a:off x="1263995" y="3959352"/>
            <a:ext cx="145488" cy="457200"/>
          </a:xfrm>
          <a:prstGeom prst="rect">
            <a:avLst/>
          </a:prstGeom>
          <a:solidFill>
            <a:schemeClr val="accent3"/>
          </a:solidFill>
          <a:ln/>
        </p:spPr>
      </p:sp>
      <p:sp>
        <p:nvSpPr>
          <p:cNvPr id="42" name="Glyph part 135"/>
          <p:cNvSpPr/>
          <p:nvPr/>
        </p:nvSpPr>
        <p:spPr>
          <a:xfrm>
            <a:off x="1441486" y="3959352"/>
            <a:ext cx="145488" cy="457200"/>
          </a:xfrm>
          <a:prstGeom prst="rect">
            <a:avLst/>
          </a:prstGeom>
          <a:solidFill>
            <a:schemeClr val="accent3"/>
          </a:solidFill>
          <a:ln/>
        </p:spPr>
      </p:sp>
      <p:sp>
        <p:nvSpPr>
          <p:cNvPr id="43" name="Glyph part 136"/>
          <p:cNvSpPr/>
          <p:nvPr/>
        </p:nvSpPr>
        <p:spPr>
          <a:xfrm>
            <a:off x="1618978" y="3959352"/>
            <a:ext cx="145488" cy="457200"/>
          </a:xfrm>
          <a:prstGeom prst="rect">
            <a:avLst/>
          </a:prstGeom>
          <a:solidFill>
            <a:schemeClr val="accent3"/>
          </a:solidFill>
          <a:ln/>
        </p:spPr>
      </p:sp>
      <p:sp>
        <p:nvSpPr>
          <p:cNvPr id="44" name="Glyph part 137"/>
          <p:cNvSpPr/>
          <p:nvPr/>
        </p:nvSpPr>
        <p:spPr>
          <a:xfrm>
            <a:off x="1796469" y="3959352"/>
            <a:ext cx="145488" cy="457200"/>
          </a:xfrm>
          <a:prstGeom prst="rect">
            <a:avLst/>
          </a:prstGeom>
          <a:solidFill>
            <a:schemeClr val="accent3"/>
          </a:solidFill>
          <a:ln/>
        </p:spPr>
      </p:sp>
      <p:sp>
        <p:nvSpPr>
          <p:cNvPr id="45" name="Glyph part 138"/>
          <p:cNvSpPr/>
          <p:nvPr/>
        </p:nvSpPr>
        <p:spPr>
          <a:xfrm>
            <a:off x="1973961" y="3959352"/>
            <a:ext cx="145488" cy="457200"/>
          </a:xfrm>
          <a:prstGeom prst="rect">
            <a:avLst/>
          </a:prstGeom>
          <a:solidFill>
            <a:schemeClr val="accent3"/>
          </a:solidFill>
          <a:ln/>
        </p:spPr>
      </p:sp>
      <p:sp>
        <p:nvSpPr>
          <p:cNvPr id="46" name="Glyph part 139"/>
          <p:cNvSpPr/>
          <p:nvPr/>
        </p:nvSpPr>
        <p:spPr>
          <a:xfrm>
            <a:off x="2151453" y="3959352"/>
            <a:ext cx="145488" cy="457200"/>
          </a:xfrm>
          <a:prstGeom prst="rect">
            <a:avLst/>
          </a:prstGeom>
          <a:solidFill>
            <a:schemeClr val="accent3"/>
          </a:solidFill>
          <a:ln/>
        </p:spPr>
      </p:sp>
      <p:sp>
        <p:nvSpPr>
          <p:cNvPr id="47" name="Glyph part 140"/>
          <p:cNvSpPr/>
          <p:nvPr/>
        </p:nvSpPr>
        <p:spPr>
          <a:xfrm>
            <a:off x="2328944" y="3959352"/>
            <a:ext cx="145488" cy="457200"/>
          </a:xfrm>
          <a:prstGeom prst="rect">
            <a:avLst/>
          </a:prstGeom>
          <a:solidFill>
            <a:schemeClr val="accent3"/>
          </a:solidFill>
          <a:ln/>
        </p:spPr>
      </p:sp>
      <p:sp>
        <p:nvSpPr>
          <p:cNvPr id="48" name="Glyph part 141"/>
          <p:cNvSpPr/>
          <p:nvPr/>
        </p:nvSpPr>
        <p:spPr>
          <a:xfrm>
            <a:off x="2506436" y="3959352"/>
            <a:ext cx="145488" cy="457200"/>
          </a:xfrm>
          <a:prstGeom prst="rect">
            <a:avLst/>
          </a:prstGeom>
          <a:solidFill>
            <a:schemeClr val="accent3"/>
          </a:solidFill>
          <a:ln/>
        </p:spPr>
      </p:sp>
      <p:sp>
        <p:nvSpPr>
          <p:cNvPr id="49" name="Glyph part 142"/>
          <p:cNvSpPr/>
          <p:nvPr/>
        </p:nvSpPr>
        <p:spPr>
          <a:xfrm>
            <a:off x="2683927" y="3959352"/>
            <a:ext cx="145488" cy="457200"/>
          </a:xfrm>
          <a:prstGeom prst="rect">
            <a:avLst/>
          </a:prstGeom>
          <a:solidFill>
            <a:schemeClr val="accent3"/>
          </a:solidFill>
          <a:ln/>
        </p:spPr>
      </p:sp>
      <p:sp>
        <p:nvSpPr>
          <p:cNvPr id="50" name="Glyph part 143"/>
          <p:cNvSpPr/>
          <p:nvPr/>
        </p:nvSpPr>
        <p:spPr>
          <a:xfrm>
            <a:off x="2861419" y="3959352"/>
            <a:ext cx="145488" cy="457200"/>
          </a:xfrm>
          <a:prstGeom prst="rect">
            <a:avLst/>
          </a:prstGeom>
          <a:solidFill>
            <a:schemeClr val="accent3"/>
          </a:solidFill>
          <a:ln/>
        </p:spPr>
      </p:sp>
      <p:sp>
        <p:nvSpPr>
          <p:cNvPr id="51" name="Glyph part 144"/>
          <p:cNvSpPr/>
          <p:nvPr/>
        </p:nvSpPr>
        <p:spPr>
          <a:xfrm>
            <a:off x="3038910" y="3959352"/>
            <a:ext cx="145488" cy="457200"/>
          </a:xfrm>
          <a:prstGeom prst="rect">
            <a:avLst/>
          </a:prstGeom>
          <a:solidFill>
            <a:schemeClr val="accent3"/>
          </a:solidFill>
          <a:ln/>
        </p:spPr>
      </p:sp>
      <p:sp>
        <p:nvSpPr>
          <p:cNvPr id="52" name="Glyph part 145"/>
          <p:cNvSpPr/>
          <p:nvPr/>
        </p:nvSpPr>
        <p:spPr>
          <a:xfrm>
            <a:off x="3216402" y="3959352"/>
            <a:ext cx="145488" cy="457200"/>
          </a:xfrm>
          <a:prstGeom prst="rect">
            <a:avLst/>
          </a:prstGeom>
          <a:solidFill>
            <a:schemeClr val="accent3"/>
          </a:solidFill>
          <a:ln/>
        </p:spPr>
      </p:sp>
      <p:sp>
        <p:nvSpPr>
          <p:cNvPr id="53" name="Glyph part 146"/>
          <p:cNvSpPr/>
          <p:nvPr/>
        </p:nvSpPr>
        <p:spPr>
          <a:xfrm>
            <a:off x="3393894" y="3959352"/>
            <a:ext cx="145488" cy="457200"/>
          </a:xfrm>
          <a:prstGeom prst="rect">
            <a:avLst/>
          </a:prstGeom>
          <a:solidFill>
            <a:schemeClr val="accent3"/>
          </a:solidFill>
          <a:ln/>
        </p:spPr>
      </p:sp>
      <p:sp>
        <p:nvSpPr>
          <p:cNvPr id="54" name="Glyph part 147"/>
          <p:cNvSpPr/>
          <p:nvPr/>
        </p:nvSpPr>
        <p:spPr>
          <a:xfrm>
            <a:off x="3571385" y="3959352"/>
            <a:ext cx="145488" cy="457200"/>
          </a:xfrm>
          <a:prstGeom prst="rect">
            <a:avLst/>
          </a:prstGeom>
          <a:solidFill>
            <a:schemeClr val="accent3"/>
          </a:solidFill>
          <a:ln/>
        </p:spPr>
      </p:sp>
      <p:sp>
        <p:nvSpPr>
          <p:cNvPr id="55" name="Glyph part 148"/>
          <p:cNvSpPr/>
          <p:nvPr/>
        </p:nvSpPr>
        <p:spPr>
          <a:xfrm>
            <a:off x="3748877" y="3959352"/>
            <a:ext cx="145488" cy="457200"/>
          </a:xfrm>
          <a:prstGeom prst="rect">
            <a:avLst/>
          </a:prstGeom>
          <a:solidFill>
            <a:schemeClr val="accent3"/>
          </a:solidFill>
          <a:ln/>
        </p:spPr>
      </p:sp>
      <p:sp>
        <p:nvSpPr>
          <p:cNvPr id="56" name="Glyph part 149"/>
          <p:cNvSpPr/>
          <p:nvPr/>
        </p:nvSpPr>
        <p:spPr>
          <a:xfrm>
            <a:off x="3926368" y="3959352"/>
            <a:ext cx="145488" cy="457200"/>
          </a:xfrm>
          <a:prstGeom prst="rect">
            <a:avLst/>
          </a:prstGeom>
          <a:solidFill>
            <a:schemeClr val="accent3"/>
          </a:solidFill>
          <a:ln/>
        </p:spPr>
      </p:sp>
      <p:sp>
        <p:nvSpPr>
          <p:cNvPr id="57" name="Glyph part 150"/>
          <p:cNvSpPr/>
          <p:nvPr/>
        </p:nvSpPr>
        <p:spPr>
          <a:xfrm>
            <a:off x="4103860" y="3959352"/>
            <a:ext cx="145488" cy="457200"/>
          </a:xfrm>
          <a:prstGeom prst="rect">
            <a:avLst/>
          </a:prstGeom>
          <a:solidFill>
            <a:schemeClr val="accent3"/>
          </a:solidFill>
          <a:ln/>
        </p:spPr>
      </p:sp>
      <p:sp>
        <p:nvSpPr>
          <p:cNvPr id="58" name="Glyph part 151"/>
          <p:cNvSpPr/>
          <p:nvPr/>
        </p:nvSpPr>
        <p:spPr>
          <a:xfrm>
            <a:off x="4281351" y="3959352"/>
            <a:ext cx="145488" cy="457200"/>
          </a:xfrm>
          <a:prstGeom prst="rect">
            <a:avLst/>
          </a:prstGeom>
          <a:solidFill>
            <a:schemeClr val="accent4"/>
          </a:solidFill>
          <a:ln/>
        </p:spPr>
      </p:sp>
      <p:sp>
        <p:nvSpPr>
          <p:cNvPr id="59" name="Glyph part 152"/>
          <p:cNvSpPr/>
          <p:nvPr/>
        </p:nvSpPr>
        <p:spPr>
          <a:xfrm>
            <a:off x="4458843" y="3959352"/>
            <a:ext cx="145488" cy="457200"/>
          </a:xfrm>
          <a:prstGeom prst="rect">
            <a:avLst/>
          </a:prstGeom>
          <a:solidFill>
            <a:schemeClr val="accent5"/>
          </a:solidFill>
          <a:ln/>
        </p:spPr>
      </p:sp>
      <p:sp>
        <p:nvSpPr>
          <p:cNvPr id="60" name="Glyph part 153"/>
          <p:cNvSpPr/>
          <p:nvPr/>
        </p:nvSpPr>
        <p:spPr>
          <a:xfrm>
            <a:off x="4636335" y="3959352"/>
            <a:ext cx="145488" cy="457200"/>
          </a:xfrm>
          <a:prstGeom prst="rect">
            <a:avLst/>
          </a:prstGeom>
          <a:solidFill>
            <a:schemeClr val="accent5"/>
          </a:solidFill>
          <a:ln/>
        </p:spPr>
      </p:sp>
      <p:sp>
        <p:nvSpPr>
          <p:cNvPr id="61" name="Glyph part 154"/>
          <p:cNvSpPr/>
          <p:nvPr/>
        </p:nvSpPr>
        <p:spPr>
          <a:xfrm>
            <a:off x="4813826" y="3959352"/>
            <a:ext cx="145488" cy="457200"/>
          </a:xfrm>
          <a:prstGeom prst="rect">
            <a:avLst/>
          </a:prstGeom>
          <a:solidFill>
            <a:schemeClr val="accent5"/>
          </a:solidFill>
          <a:ln/>
        </p:spPr>
      </p:sp>
      <p:sp>
        <p:nvSpPr>
          <p:cNvPr id="62" name="Glyph part 155"/>
          <p:cNvSpPr/>
          <p:nvPr/>
        </p:nvSpPr>
        <p:spPr>
          <a:xfrm>
            <a:off x="4991318" y="3959352"/>
            <a:ext cx="145488" cy="457200"/>
          </a:xfrm>
          <a:prstGeom prst="rect">
            <a:avLst/>
          </a:prstGeom>
          <a:solidFill>
            <a:schemeClr val="accent5"/>
          </a:solidFill>
          <a:ln/>
        </p:spPr>
      </p:sp>
      <p:sp>
        <p:nvSpPr>
          <p:cNvPr id="63" name="Glyph part 156"/>
          <p:cNvSpPr/>
          <p:nvPr/>
        </p:nvSpPr>
        <p:spPr>
          <a:xfrm>
            <a:off x="5168809" y="3959352"/>
            <a:ext cx="145488" cy="457200"/>
          </a:xfrm>
          <a:prstGeom prst="rect">
            <a:avLst/>
          </a:prstGeom>
          <a:solidFill>
            <a:schemeClr val="accent5"/>
          </a:solidFill>
          <a:ln/>
        </p:spPr>
      </p:sp>
      <p:sp>
        <p:nvSpPr>
          <p:cNvPr id="64" name="Glyph part 157"/>
          <p:cNvSpPr/>
          <p:nvPr/>
        </p:nvSpPr>
        <p:spPr>
          <a:xfrm>
            <a:off x="5346301" y="3959352"/>
            <a:ext cx="145488" cy="457200"/>
          </a:xfrm>
          <a:prstGeom prst="rect">
            <a:avLst/>
          </a:prstGeom>
          <a:solidFill>
            <a:schemeClr val="accent5"/>
          </a:solidFill>
          <a:ln/>
        </p:spPr>
      </p:sp>
      <p:sp>
        <p:nvSpPr>
          <p:cNvPr id="65" name="Glyph part 158"/>
          <p:cNvSpPr/>
          <p:nvPr/>
        </p:nvSpPr>
        <p:spPr>
          <a:xfrm>
            <a:off x="5523792" y="3959352"/>
            <a:ext cx="145488" cy="457200"/>
          </a:xfrm>
          <a:prstGeom prst="rect">
            <a:avLst/>
          </a:prstGeom>
          <a:solidFill>
            <a:srgbClr val="4E5B6F"/>
          </a:solidFill>
          <a:ln/>
        </p:spPr>
      </p:sp>
      <p:sp>
        <p:nvSpPr>
          <p:cNvPr id="66" name="Glyph part 159"/>
          <p:cNvSpPr/>
          <p:nvPr/>
        </p:nvSpPr>
        <p:spPr>
          <a:xfrm>
            <a:off x="731520" y="4654296"/>
            <a:ext cx="164592" cy="164592"/>
          </a:xfrm>
          <a:prstGeom prst="rect">
            <a:avLst/>
          </a:prstGeom>
          <a:solidFill>
            <a:schemeClr val="accent3"/>
          </a:solidFill>
          <a:ln/>
        </p:spPr>
      </p:sp>
      <p:sp>
        <p:nvSpPr>
          <p:cNvPr id="67" name="Text 160"/>
          <p:cNvSpPr txBox="1"/>
          <p:nvPr/>
        </p:nvSpPr>
        <p:spPr>
          <a:xfrm>
            <a:off x="1005840" y="4599432"/>
            <a:ext cx="1828800" cy="274320"/>
          </a:xfrm>
          <a:prstGeom prst="rect">
            <a:avLst/>
          </a:prstGeom>
          <a:noFill/>
          <a:ln/>
        </p:spPr>
        <p:txBody>
          <a:bodyPr wrap="square" lIns="0" tIns="0" rIns="0" bIns="0" rtlCol="0" anchor="ctr"/>
          <a:lstStyle/>
          <a:p>
            <a:pPr indent="0" marL="0">
              <a:buNone/>
            </a:pPr>
            <a:r>
              <a:rPr lang="en-US" sz="1300" dirty="0">
                <a:solidFill>
                  <a:schemeClr val="tx2"/>
                </a:solidFill>
              </a:rPr>
              <a:t>20 built</a:t>
            </a:r>
            <a:endParaRPr lang="en-US" sz="1300" dirty="0"/>
          </a:p>
        </p:txBody>
      </p:sp>
      <p:sp>
        <p:nvSpPr>
          <p:cNvPr id="68" name="Glyph part 161"/>
          <p:cNvSpPr/>
          <p:nvPr/>
        </p:nvSpPr>
        <p:spPr>
          <a:xfrm>
            <a:off x="2926080" y="4654296"/>
            <a:ext cx="164592" cy="164592"/>
          </a:xfrm>
          <a:prstGeom prst="rect">
            <a:avLst/>
          </a:prstGeom>
          <a:solidFill>
            <a:schemeClr val="accent4"/>
          </a:solidFill>
          <a:ln/>
        </p:spPr>
      </p:sp>
      <p:sp>
        <p:nvSpPr>
          <p:cNvPr id="69" name="Text 162"/>
          <p:cNvSpPr txBox="1"/>
          <p:nvPr/>
        </p:nvSpPr>
        <p:spPr>
          <a:xfrm>
            <a:off x="3200400" y="4599432"/>
            <a:ext cx="2651760" cy="274320"/>
          </a:xfrm>
          <a:prstGeom prst="rect">
            <a:avLst/>
          </a:prstGeom>
          <a:noFill/>
          <a:ln/>
        </p:spPr>
        <p:txBody>
          <a:bodyPr wrap="square" lIns="0" tIns="0" rIns="0" bIns="0" rtlCol="0" anchor="ctr"/>
          <a:lstStyle/>
          <a:p>
            <a:pPr indent="0" marL="0">
              <a:buNone/>
            </a:pPr>
            <a:r>
              <a:rPr lang="en-US" sz="1300" dirty="0">
                <a:solidFill>
                  <a:schemeClr val="tx2"/>
                </a:solidFill>
              </a:rPr>
              <a:t>1 in progress</a:t>
            </a:r>
            <a:endParaRPr lang="en-US" sz="1300" dirty="0"/>
          </a:p>
        </p:txBody>
      </p:sp>
      <p:sp>
        <p:nvSpPr>
          <p:cNvPr id="70" name="Glyph part 163"/>
          <p:cNvSpPr/>
          <p:nvPr/>
        </p:nvSpPr>
        <p:spPr>
          <a:xfrm>
            <a:off x="731520" y="4983480"/>
            <a:ext cx="164592" cy="164592"/>
          </a:xfrm>
          <a:prstGeom prst="rect">
            <a:avLst/>
          </a:prstGeom>
          <a:solidFill>
            <a:schemeClr val="accent5"/>
          </a:solidFill>
          <a:ln/>
        </p:spPr>
      </p:sp>
      <p:sp>
        <p:nvSpPr>
          <p:cNvPr id="71" name="Text 164"/>
          <p:cNvSpPr txBox="1"/>
          <p:nvPr/>
        </p:nvSpPr>
        <p:spPr>
          <a:xfrm>
            <a:off x="1005840" y="4928616"/>
            <a:ext cx="1828800" cy="274320"/>
          </a:xfrm>
          <a:prstGeom prst="rect">
            <a:avLst/>
          </a:prstGeom>
          <a:noFill/>
          <a:ln/>
        </p:spPr>
        <p:txBody>
          <a:bodyPr wrap="square" lIns="0" tIns="0" rIns="0" bIns="0" rtlCol="0" anchor="ctr"/>
          <a:lstStyle/>
          <a:p>
            <a:pPr indent="0" marL="0">
              <a:buNone/>
            </a:pPr>
            <a:r>
              <a:rPr lang="en-US" sz="1300" dirty="0">
                <a:solidFill>
                  <a:schemeClr val="tx2"/>
                </a:solidFill>
              </a:rPr>
              <a:t>6 partly built</a:t>
            </a:r>
            <a:endParaRPr lang="en-US" sz="1300" dirty="0"/>
          </a:p>
        </p:txBody>
      </p:sp>
      <p:sp>
        <p:nvSpPr>
          <p:cNvPr id="72" name="Glyph part 165"/>
          <p:cNvSpPr/>
          <p:nvPr/>
        </p:nvSpPr>
        <p:spPr>
          <a:xfrm>
            <a:off x="2926080" y="4983480"/>
            <a:ext cx="164592" cy="164592"/>
          </a:xfrm>
          <a:prstGeom prst="rect">
            <a:avLst/>
          </a:prstGeom>
          <a:solidFill>
            <a:srgbClr val="4E5B6F"/>
          </a:solidFill>
          <a:ln/>
        </p:spPr>
      </p:sp>
      <p:sp>
        <p:nvSpPr>
          <p:cNvPr id="73" name="Text 166"/>
          <p:cNvSpPr txBox="1"/>
          <p:nvPr/>
        </p:nvSpPr>
        <p:spPr>
          <a:xfrm>
            <a:off x="3200400" y="4928616"/>
            <a:ext cx="2651760" cy="274320"/>
          </a:xfrm>
          <a:prstGeom prst="rect">
            <a:avLst/>
          </a:prstGeom>
          <a:noFill/>
          <a:ln/>
        </p:spPr>
        <p:txBody>
          <a:bodyPr wrap="square" lIns="0" tIns="0" rIns="0" bIns="0" rtlCol="0" anchor="ctr"/>
          <a:lstStyle/>
          <a:p>
            <a:pPr indent="0" marL="0">
              <a:buNone/>
            </a:pPr>
            <a:r>
              <a:rPr lang="en-US" sz="1300" dirty="0">
                <a:solidFill>
                  <a:schemeClr val="tx2"/>
                </a:solidFill>
              </a:rPr>
              <a:t>1 planned for the final release</a:t>
            </a:r>
            <a:endParaRPr lang="en-US" sz="1300" dirty="0"/>
          </a:p>
        </p:txBody>
      </p:sp>
      <p:sp>
        <p:nvSpPr>
          <p:cNvPr id="74" name="Text 167"/>
          <p:cNvSpPr txBox="1"/>
          <p:nvPr/>
        </p:nvSpPr>
        <p:spPr>
          <a:xfrm>
            <a:off x="731520" y="5349240"/>
            <a:ext cx="4937760" cy="292608"/>
          </a:xfrm>
          <a:prstGeom prst="rect">
            <a:avLst/>
          </a:prstGeom>
          <a:noFill/>
          <a:ln/>
        </p:spPr>
        <p:txBody>
          <a:bodyPr wrap="square" lIns="0" tIns="0" rIns="0" bIns="0" rtlCol="0" anchor="ctr"/>
          <a:lstStyle/>
          <a:p>
            <a:pPr indent="0" marL="0">
              <a:buNone/>
            </a:pPr>
            <a:r>
              <a:rPr lang="en-US" sz="1400" b="1" dirty="0">
                <a:solidFill>
                  <a:schemeClr val="tx1"/>
                </a:solidFill>
              </a:rPr>
              <a:t>18 </a:t>
            </a:r>
            <a:pPr indent="0" marL="0">
              <a:buNone/>
            </a:pPr>
            <a:r>
              <a:rPr lang="en-US" sz="1400" dirty="0">
                <a:solidFill>
                  <a:schemeClr val="tx2"/>
                </a:solidFill>
              </a:rPr>
              <a:t>non-functional requirements, each mapped to how I verify it</a:t>
            </a:r>
            <a:endParaRPr lang="en-US" sz="1400" dirty="0"/>
          </a:p>
        </p:txBody>
      </p:sp>
      <p:sp>
        <p:nvSpPr>
          <p:cNvPr id="75" name="Card 168"/>
          <p:cNvSpPr/>
          <p:nvPr/>
        </p:nvSpPr>
        <p:spPr>
          <a:xfrm>
            <a:off x="6217920" y="3246120"/>
            <a:ext cx="5516575" cy="2606040"/>
          </a:xfrm>
          <a:prstGeom prst="roundRect">
            <a:avLst>
              <a:gd name="adj" fmla="val 350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76" name="Text 169"/>
          <p:cNvSpPr txBox="1"/>
          <p:nvPr/>
        </p:nvSpPr>
        <p:spPr>
          <a:xfrm>
            <a:off x="6492240" y="3447288"/>
            <a:ext cx="4967935" cy="365760"/>
          </a:xfrm>
          <a:prstGeom prst="rect">
            <a:avLst/>
          </a:prstGeom>
          <a:noFill/>
          <a:ln/>
        </p:spPr>
        <p:txBody>
          <a:bodyPr wrap="square" lIns="0" tIns="0" rIns="0" bIns="0" rtlCol="0" anchor="t"/>
          <a:lstStyle/>
          <a:p>
            <a:pPr indent="0" marL="0">
              <a:buNone/>
            </a:pPr>
            <a:r>
              <a:rPr lang="en-US" sz="2000" b="1" dirty="0">
                <a:solidFill>
                  <a:schemeClr val="tx1"/>
                </a:solidFill>
              </a:rPr>
              <a:t>FR-07, followed through</a:t>
            </a:r>
            <a:endParaRPr lang="en-US" sz="2000" dirty="0"/>
          </a:p>
        </p:txBody>
      </p:sp>
      <p:sp>
        <p:nvSpPr>
          <p:cNvPr id="77" name="Text 170"/>
          <p:cNvSpPr txBox="1"/>
          <p:nvPr/>
        </p:nvSpPr>
        <p:spPr>
          <a:xfrm>
            <a:off x="6492240" y="3831336"/>
            <a:ext cx="4967935" cy="292608"/>
          </a:xfrm>
          <a:prstGeom prst="rect">
            <a:avLst/>
          </a:prstGeom>
          <a:noFill/>
          <a:ln/>
        </p:spPr>
        <p:txBody>
          <a:bodyPr wrap="square" lIns="0" tIns="0" rIns="0" bIns="0" rtlCol="0" anchor="t"/>
          <a:lstStyle/>
          <a:p>
            <a:pPr indent="0" marL="0">
              <a:buNone/>
            </a:pPr>
            <a:r>
              <a:rPr lang="en-US" sz="1400" dirty="0">
                <a:solidFill>
                  <a:schemeClr val="tx2"/>
                </a:solidFill>
              </a:rPr>
              <a:t>No unit ever holds two overlapping bookings</a:t>
            </a:r>
            <a:endParaRPr lang="en-US" sz="1400" dirty="0"/>
          </a:p>
        </p:txBody>
      </p:sp>
      <p:sp>
        <p:nvSpPr>
          <p:cNvPr id="78" name="Glyph part 171"/>
          <p:cNvSpPr/>
          <p:nvPr/>
        </p:nvSpPr>
        <p:spPr>
          <a:xfrm>
            <a:off x="6492240" y="4242816"/>
            <a:ext cx="4967935" cy="9144"/>
          </a:xfrm>
          <a:prstGeom prst="rect">
            <a:avLst/>
          </a:prstGeom>
          <a:solidFill>
            <a:srgbClr val="E2E5E9"/>
          </a:solidFill>
          <a:ln/>
        </p:spPr>
      </p:sp>
      <p:sp>
        <p:nvSpPr>
          <p:cNvPr id="79" name="Text 172"/>
          <p:cNvSpPr txBox="1"/>
          <p:nvPr/>
        </p:nvSpPr>
        <p:spPr>
          <a:xfrm>
            <a:off x="6492240" y="42976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Status</a:t>
            </a:r>
            <a:endParaRPr lang="en-US" sz="1200" dirty="0"/>
          </a:p>
        </p:txBody>
      </p:sp>
      <p:sp>
        <p:nvSpPr>
          <p:cNvPr id="80" name="Chip 173"/>
          <p:cNvSpPr/>
          <p:nvPr/>
        </p:nvSpPr>
        <p:spPr>
          <a:xfrm>
            <a:off x="7818120" y="4315968"/>
            <a:ext cx="731520" cy="256032"/>
          </a:xfrm>
          <a:prstGeom prst="roundRect">
            <a:avLst>
              <a:gd name="adj" fmla="val 50000"/>
            </a:avLst>
          </a:prstGeom>
          <a:solidFill>
            <a:srgbClr val="ECFDF5"/>
          </a:solidFill>
          <a:ln/>
        </p:spPr>
        <p:txBody>
          <a:bodyPr wrap="square" lIns="25400" tIns="25400" rIns="25400" bIns="25400" rtlCol="0" anchor="ctr"/>
          <a:lstStyle/>
          <a:p>
            <a:pPr algn="ctr" indent="0" marL="0">
              <a:buNone/>
            </a:pPr>
            <a:r>
              <a:rPr lang="en-US" sz="1200" b="1" dirty="0">
                <a:solidFill>
                  <a:schemeClr val="accent3"/>
                </a:solidFill>
              </a:rPr>
              <a:t>Built</a:t>
            </a:r>
            <a:endParaRPr lang="en-US" sz="1200" dirty="0"/>
          </a:p>
        </p:txBody>
      </p:sp>
      <p:sp>
        <p:nvSpPr>
          <p:cNvPr id="81" name="Glyph part 174"/>
          <p:cNvSpPr/>
          <p:nvPr/>
        </p:nvSpPr>
        <p:spPr>
          <a:xfrm>
            <a:off x="6492240" y="4700016"/>
            <a:ext cx="4967935" cy="9144"/>
          </a:xfrm>
          <a:prstGeom prst="rect">
            <a:avLst/>
          </a:prstGeom>
          <a:solidFill>
            <a:srgbClr val="E2E5E9"/>
          </a:solidFill>
          <a:ln/>
        </p:spPr>
      </p:sp>
      <p:sp>
        <p:nvSpPr>
          <p:cNvPr id="82" name="Text 175"/>
          <p:cNvSpPr txBox="1"/>
          <p:nvPr/>
        </p:nvSpPr>
        <p:spPr>
          <a:xfrm>
            <a:off x="6492240" y="47548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Pull requests</a:t>
            </a:r>
            <a:endParaRPr lang="en-US" sz="1200" dirty="0"/>
          </a:p>
        </p:txBody>
      </p:sp>
      <p:sp>
        <p:nvSpPr>
          <p:cNvPr id="83" name="Text 176"/>
          <p:cNvSpPr txBox="1"/>
          <p:nvPr/>
        </p:nvSpPr>
        <p:spPr>
          <a:xfrm>
            <a:off x="7818120" y="4754880"/>
            <a:ext cx="3642055" cy="292608"/>
          </a:xfrm>
          <a:prstGeom prst="rect">
            <a:avLst/>
          </a:prstGeom>
          <a:noFill/>
          <a:ln/>
        </p:spPr>
        <p:txBody>
          <a:bodyPr wrap="square" lIns="0" tIns="0" rIns="0" bIns="0" rtlCol="0" anchor="ctr"/>
          <a:lstStyle/>
          <a:p>
            <a:pPr indent="0" marL="0">
              <a:buNone/>
            </a:pPr>
            <a:r>
              <a:rPr lang="en-US" sz="1400" dirty="0">
                <a:solidFill>
                  <a:schemeClr val="tx1"/>
                </a:solidFill>
              </a:rPr>
              <a:t>#24 on branch 002, #38 on branch 005</a:t>
            </a:r>
            <a:endParaRPr lang="en-US" sz="1400" dirty="0"/>
          </a:p>
        </p:txBody>
      </p:sp>
      <p:sp>
        <p:nvSpPr>
          <p:cNvPr id="84" name="Glyph part 177"/>
          <p:cNvSpPr/>
          <p:nvPr/>
        </p:nvSpPr>
        <p:spPr>
          <a:xfrm>
            <a:off x="6492240" y="5157216"/>
            <a:ext cx="4967935" cy="9144"/>
          </a:xfrm>
          <a:prstGeom prst="rect">
            <a:avLst/>
          </a:prstGeom>
          <a:solidFill>
            <a:srgbClr val="E2E5E9"/>
          </a:solidFill>
          <a:ln/>
        </p:spPr>
      </p:sp>
      <p:sp>
        <p:nvSpPr>
          <p:cNvPr id="85" name="Text 178"/>
          <p:cNvSpPr txBox="1"/>
          <p:nvPr/>
        </p:nvSpPr>
        <p:spPr>
          <a:xfrm>
            <a:off x="6492240" y="5212080"/>
            <a:ext cx="1325880" cy="292608"/>
          </a:xfrm>
          <a:prstGeom prst="rect">
            <a:avLst/>
          </a:prstGeom>
          <a:noFill/>
          <a:ln/>
        </p:spPr>
        <p:txBody>
          <a:bodyPr wrap="square" lIns="0" tIns="0" rIns="0" bIns="0" rtlCol="0" anchor="ctr"/>
          <a:lstStyle/>
          <a:p>
            <a:pPr indent="0" marL="0">
              <a:buNone/>
            </a:pPr>
            <a:r>
              <a:rPr lang="en-US" sz="1200" b="1" dirty="0">
                <a:solidFill>
                  <a:srgbClr val="5D6B7E"/>
                </a:solidFill>
              </a:rPr>
              <a:t>Tests</a:t>
            </a:r>
            <a:endParaRPr lang="en-US" sz="1200" dirty="0"/>
          </a:p>
        </p:txBody>
      </p:sp>
      <p:sp>
        <p:nvSpPr>
          <p:cNvPr id="86" name="Text 179"/>
          <p:cNvSpPr txBox="1"/>
          <p:nvPr/>
        </p:nvSpPr>
        <p:spPr>
          <a:xfrm>
            <a:off x="7818120" y="5212080"/>
            <a:ext cx="3642055" cy="548640"/>
          </a:xfrm>
          <a:prstGeom prst="rect">
            <a:avLst/>
          </a:prstGeom>
          <a:noFill/>
          <a:ln/>
        </p:spPr>
        <p:txBody>
          <a:bodyPr wrap="square" lIns="0" tIns="0" rIns="0" bIns="0" rtlCol="0" anchor="t"/>
          <a:lstStyle/>
          <a:p>
            <a:pPr indent="0" marL="0">
              <a:buNone/>
            </a:pPr>
            <a:r>
              <a:rPr lang="en-US" sz="1300" dirty="0">
                <a:solidFill>
                  <a:schemeClr val="tx1"/>
                </a:solidFill>
                <a:latin typeface="Consolas" pitchFamily="34" charset="0"/>
                <a:ea typeface="Consolas" pitchFamily="34" charset="-122"/>
                <a:cs typeface="Consolas" pitchFamily="34" charset="-120"/>
              </a:rPr>
              <a:t>test_exclusion_constraint.py</a:t>
            </a:r>
            <a:endParaRPr lang="en-US" sz="1300" dirty="0"/>
          </a:p>
          <a:p>
            <a:pPr indent="0" marL="0">
              <a:buNone/>
            </a:pPr>
            <a:r>
              <a:rPr lang="en-US" sz="1300" dirty="0">
                <a:solidFill>
                  <a:schemeClr val="tx1"/>
                </a:solidFill>
                <a:latin typeface="Consolas" pitchFamily="34" charset="0"/>
                <a:ea typeface="Consolas" pitchFamily="34" charset="-122"/>
                <a:cs typeface="Consolas" pitchFamily="34" charset="-120"/>
              </a:rPr>
              <a:t>test_concurrent_holds.py</a:t>
            </a:r>
            <a:endParaRPr lang="en-US" sz="13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Architecture</a:t>
            </a:r>
            <a:endParaRPr lang="en-US" sz="3600" dirty="0"/>
          </a:p>
        </p:txBody>
      </p:sp>
      <p:sp>
        <p:nvSpPr>
          <p:cNvPr id="5" name="Card 180"/>
          <p:cNvSpPr/>
          <p:nvPr/>
        </p:nvSpPr>
        <p:spPr>
          <a:xfrm>
            <a:off x="457200"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browser 181"/>
          <p:cNvSpPr/>
          <p:nvPr/>
        </p:nvSpPr>
        <p:spPr>
          <a:xfrm>
            <a:off x="621792" y="1911096"/>
            <a:ext cx="475488" cy="475488"/>
          </a:xfrm>
          <a:prstGeom prst="ellipse">
            <a:avLst/>
          </a:prstGeom>
          <a:solidFill>
            <a:schemeClr val="accent1"/>
          </a:solidFill>
          <a:ln/>
        </p:spPr>
      </p:sp>
      <p:sp>
        <p:nvSpPr>
          <p:cNvPr id="7" name="Glyph part 183"/>
          <p:cNvSpPr/>
          <p:nvPr/>
        </p:nvSpPr>
        <p:spPr>
          <a:xfrm>
            <a:off x="740664" y="2053742"/>
            <a:ext cx="237744" cy="190195"/>
          </a:xfrm>
          <a:prstGeom prst="rect">
            <a:avLst/>
          </a:prstGeom>
          <a:noFill/>
          <a:ln w="28575">
            <a:solidFill>
              <a:schemeClr val="tx1"/>
            </a:solidFill>
            <a:prstDash val="solid"/>
          </a:ln>
        </p:spPr>
      </p:sp>
      <p:sp>
        <p:nvSpPr>
          <p:cNvPr id="8" name="Glyph part 184"/>
          <p:cNvSpPr/>
          <p:nvPr/>
        </p:nvSpPr>
        <p:spPr>
          <a:xfrm>
            <a:off x="740664" y="2053742"/>
            <a:ext cx="237744" cy="52304"/>
          </a:xfrm>
          <a:prstGeom prst="rect">
            <a:avLst/>
          </a:prstGeom>
          <a:solidFill>
            <a:schemeClr val="tx1"/>
          </a:solidFill>
          <a:ln/>
        </p:spPr>
      </p:sp>
      <p:sp>
        <p:nvSpPr>
          <p:cNvPr id="9" name="Text 185"/>
          <p:cNvSpPr txBox="1"/>
          <p:nvPr/>
        </p:nvSpPr>
        <p:spPr>
          <a:xfrm>
            <a:off x="1207008"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Browser</a:t>
            </a:r>
            <a:endParaRPr lang="en-US" sz="1400" dirty="0"/>
          </a:p>
          <a:p>
            <a:pPr indent="0" marL="0">
              <a:spcBef>
                <a:spcPts val="300"/>
              </a:spcBef>
              <a:buNone/>
            </a:pPr>
            <a:r>
              <a:rPr lang="en-US" sz="1100" dirty="0">
                <a:solidFill>
                  <a:schemeClr val="tx2"/>
                </a:solidFill>
              </a:rPr>
              <a:t>The React app</a:t>
            </a:r>
            <a:endParaRPr lang="en-US" sz="1400" dirty="0"/>
          </a:p>
        </p:txBody>
      </p:sp>
      <p:sp>
        <p:nvSpPr>
          <p:cNvPr id="10" name="Card 186"/>
          <p:cNvSpPr/>
          <p:nvPr/>
        </p:nvSpPr>
        <p:spPr>
          <a:xfrm>
            <a:off x="3515258"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1" name="Icon cloud 187"/>
          <p:cNvSpPr/>
          <p:nvPr/>
        </p:nvSpPr>
        <p:spPr>
          <a:xfrm>
            <a:off x="3679850" y="1911096"/>
            <a:ext cx="475488" cy="475488"/>
          </a:xfrm>
          <a:prstGeom prst="ellipse">
            <a:avLst/>
          </a:prstGeom>
          <a:solidFill>
            <a:schemeClr val="accent1"/>
          </a:solidFill>
          <a:ln/>
        </p:spPr>
      </p:sp>
      <p:sp>
        <p:nvSpPr>
          <p:cNvPr id="12" name="Glyph part 189"/>
          <p:cNvSpPr/>
          <p:nvPr/>
        </p:nvSpPr>
        <p:spPr>
          <a:xfrm>
            <a:off x="3789213" y="2148840"/>
            <a:ext cx="256764" cy="90343"/>
          </a:xfrm>
          <a:prstGeom prst="roundRect">
            <a:avLst>
              <a:gd name="adj" fmla="val 50000"/>
            </a:avLst>
          </a:prstGeom>
          <a:solidFill>
            <a:schemeClr val="tx1"/>
          </a:solidFill>
          <a:ln/>
        </p:spPr>
      </p:sp>
      <p:sp>
        <p:nvSpPr>
          <p:cNvPr id="13" name="Glyph part 190"/>
          <p:cNvSpPr/>
          <p:nvPr/>
        </p:nvSpPr>
        <p:spPr>
          <a:xfrm>
            <a:off x="3808232" y="2115556"/>
            <a:ext cx="95098" cy="95098"/>
          </a:xfrm>
          <a:prstGeom prst="ellipse">
            <a:avLst/>
          </a:prstGeom>
          <a:solidFill>
            <a:schemeClr val="tx1"/>
          </a:solidFill>
          <a:ln/>
        </p:spPr>
      </p:sp>
      <p:sp>
        <p:nvSpPr>
          <p:cNvPr id="14" name="Glyph part 191"/>
          <p:cNvSpPr/>
          <p:nvPr/>
        </p:nvSpPr>
        <p:spPr>
          <a:xfrm>
            <a:off x="3855781" y="2053742"/>
            <a:ext cx="133137" cy="133137"/>
          </a:xfrm>
          <a:prstGeom prst="ellipse">
            <a:avLst/>
          </a:prstGeom>
          <a:solidFill>
            <a:schemeClr val="tx1"/>
          </a:solidFill>
          <a:ln/>
        </p:spPr>
      </p:sp>
      <p:sp>
        <p:nvSpPr>
          <p:cNvPr id="15" name="Glyph part 192"/>
          <p:cNvSpPr/>
          <p:nvPr/>
        </p:nvSpPr>
        <p:spPr>
          <a:xfrm>
            <a:off x="3936614" y="2106046"/>
            <a:ext cx="99852" cy="99852"/>
          </a:xfrm>
          <a:prstGeom prst="ellipse">
            <a:avLst/>
          </a:prstGeom>
          <a:solidFill>
            <a:schemeClr val="tx1"/>
          </a:solidFill>
          <a:ln/>
        </p:spPr>
      </p:sp>
      <p:sp>
        <p:nvSpPr>
          <p:cNvPr id="16" name="Text 193"/>
          <p:cNvSpPr txBox="1"/>
          <p:nvPr/>
        </p:nvSpPr>
        <p:spPr>
          <a:xfrm>
            <a:off x="4265066"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Vercel</a:t>
            </a:r>
            <a:endParaRPr lang="en-US" sz="1400" dirty="0"/>
          </a:p>
          <a:p>
            <a:pPr indent="0" marL="0">
              <a:spcBef>
                <a:spcPts val="300"/>
              </a:spcBef>
              <a:buNone/>
            </a:pPr>
            <a:r>
              <a:rPr lang="en-US" sz="1100" dirty="0">
                <a:solidFill>
                  <a:schemeClr val="tx2"/>
                </a:solidFill>
              </a:rPr>
              <a:t>The static bundle</a:t>
            </a:r>
            <a:endParaRPr lang="en-US" sz="1400" dirty="0"/>
          </a:p>
          <a:p>
            <a:pPr indent="0" marL="0">
              <a:spcBef>
                <a:spcPts val="300"/>
              </a:spcBef>
              <a:buNone/>
            </a:pPr>
            <a:r>
              <a:rPr lang="en-US" sz="1100" dirty="0">
                <a:solidFill>
                  <a:schemeClr val="tx2"/>
                </a:solidFill>
              </a:rPr>
              <a:t>and /api rewrite</a:t>
            </a:r>
            <a:endParaRPr lang="en-US" sz="1400" dirty="0"/>
          </a:p>
        </p:txBody>
      </p:sp>
      <p:sp>
        <p:nvSpPr>
          <p:cNvPr id="17" name="Card 194"/>
          <p:cNvSpPr/>
          <p:nvPr/>
        </p:nvSpPr>
        <p:spPr>
          <a:xfrm>
            <a:off x="6573317"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8" name="Icon gear 195"/>
          <p:cNvSpPr/>
          <p:nvPr/>
        </p:nvSpPr>
        <p:spPr>
          <a:xfrm>
            <a:off x="6737909" y="1911096"/>
            <a:ext cx="475488" cy="475488"/>
          </a:xfrm>
          <a:prstGeom prst="ellipse">
            <a:avLst/>
          </a:prstGeom>
          <a:solidFill>
            <a:schemeClr val="accent1"/>
          </a:solidFill>
          <a:ln/>
        </p:spPr>
      </p:sp>
      <p:sp>
        <p:nvSpPr>
          <p:cNvPr id="19" name="Glyph part 197"/>
          <p:cNvSpPr/>
          <p:nvPr/>
        </p:nvSpPr>
        <p:spPr>
          <a:xfrm>
            <a:off x="6856781" y="2029968"/>
            <a:ext cx="237744" cy="237744"/>
          </a:xfrm>
          <a:prstGeom prst="gear6">
            <a:avLst/>
          </a:prstGeom>
          <a:solidFill>
            <a:schemeClr val="tx1"/>
          </a:solidFill>
          <a:ln/>
        </p:spPr>
      </p:sp>
      <p:sp>
        <p:nvSpPr>
          <p:cNvPr id="20" name="Glyph part 198"/>
          <p:cNvSpPr/>
          <p:nvPr/>
        </p:nvSpPr>
        <p:spPr>
          <a:xfrm>
            <a:off x="6947124" y="2120311"/>
            <a:ext cx="57059" cy="57059"/>
          </a:xfrm>
          <a:prstGeom prst="ellipse">
            <a:avLst/>
          </a:prstGeom>
          <a:solidFill>
            <a:schemeClr val="accent1"/>
          </a:solidFill>
          <a:ln/>
        </p:spPr>
      </p:sp>
      <p:sp>
        <p:nvSpPr>
          <p:cNvPr id="21" name="Text 199"/>
          <p:cNvSpPr txBox="1"/>
          <p:nvPr/>
        </p:nvSpPr>
        <p:spPr>
          <a:xfrm>
            <a:off x="7323125"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Cloud Run</a:t>
            </a:r>
            <a:endParaRPr lang="en-US" sz="1400" dirty="0"/>
          </a:p>
          <a:p>
            <a:pPr indent="0" marL="0">
              <a:spcBef>
                <a:spcPts val="300"/>
              </a:spcBef>
              <a:buNone/>
            </a:pPr>
            <a:r>
              <a:rPr lang="en-US" sz="1100" dirty="0">
                <a:solidFill>
                  <a:schemeClr val="tx2"/>
                </a:solidFill>
              </a:rPr>
              <a:t>FastAPI</a:t>
            </a:r>
            <a:endParaRPr lang="en-US" sz="1400" dirty="0"/>
          </a:p>
          <a:p>
            <a:pPr indent="0" marL="0">
              <a:spcBef>
                <a:spcPts val="300"/>
              </a:spcBef>
              <a:buNone/>
            </a:pPr>
            <a:r>
              <a:rPr lang="en-US" sz="1100" dirty="0">
                <a:solidFill>
                  <a:schemeClr val="tx2"/>
                </a:solidFill>
              </a:rPr>
              <a:t>in London</a:t>
            </a:r>
            <a:endParaRPr lang="en-US" sz="1400" dirty="0"/>
          </a:p>
        </p:txBody>
      </p:sp>
      <p:sp>
        <p:nvSpPr>
          <p:cNvPr id="22" name="Card 200"/>
          <p:cNvSpPr/>
          <p:nvPr/>
        </p:nvSpPr>
        <p:spPr>
          <a:xfrm>
            <a:off x="9631375" y="1691640"/>
            <a:ext cx="2103120" cy="914400"/>
          </a:xfrm>
          <a:prstGeom prst="roundRect">
            <a:avLst>
              <a:gd name="adj" fmla="val 10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3" name="Icon db 201"/>
          <p:cNvSpPr/>
          <p:nvPr/>
        </p:nvSpPr>
        <p:spPr>
          <a:xfrm>
            <a:off x="9795967" y="1911096"/>
            <a:ext cx="475488" cy="475488"/>
          </a:xfrm>
          <a:prstGeom prst="ellipse">
            <a:avLst/>
          </a:prstGeom>
          <a:solidFill>
            <a:schemeClr val="accent1"/>
          </a:solidFill>
          <a:ln/>
        </p:spPr>
      </p:sp>
      <p:sp>
        <p:nvSpPr>
          <p:cNvPr id="24" name="Glyph part 203"/>
          <p:cNvSpPr/>
          <p:nvPr/>
        </p:nvSpPr>
        <p:spPr>
          <a:xfrm>
            <a:off x="9952878" y="2029968"/>
            <a:ext cx="161666" cy="237744"/>
          </a:xfrm>
          <a:prstGeom prst="can">
            <a:avLst/>
          </a:prstGeom>
          <a:solidFill>
            <a:schemeClr val="tx1"/>
          </a:solidFill>
          <a:ln/>
        </p:spPr>
      </p:sp>
      <p:sp>
        <p:nvSpPr>
          <p:cNvPr id="25" name="Text 204"/>
          <p:cNvSpPr txBox="1"/>
          <p:nvPr/>
        </p:nvSpPr>
        <p:spPr>
          <a:xfrm>
            <a:off x="10381183" y="1764792"/>
            <a:ext cx="1280160" cy="768096"/>
          </a:xfrm>
          <a:prstGeom prst="rect">
            <a:avLst/>
          </a:prstGeom>
          <a:noFill/>
          <a:ln/>
        </p:spPr>
        <p:txBody>
          <a:bodyPr wrap="square" lIns="0" tIns="0" rIns="0" bIns="0" rtlCol="0" anchor="ctr"/>
          <a:lstStyle/>
          <a:p>
            <a:pPr indent="0" marL="0">
              <a:buNone/>
            </a:pPr>
            <a:r>
              <a:rPr lang="en-US" sz="1600" b="1" dirty="0">
                <a:solidFill>
                  <a:schemeClr val="tx1"/>
                </a:solidFill>
              </a:rPr>
              <a:t>Neon</a:t>
            </a:r>
            <a:endParaRPr lang="en-US" sz="1400" dirty="0"/>
          </a:p>
          <a:p>
            <a:pPr indent="0" marL="0">
              <a:spcBef>
                <a:spcPts val="300"/>
              </a:spcBef>
              <a:buNone/>
            </a:pPr>
            <a:r>
              <a:rPr lang="en-US" sz="1100" dirty="0">
                <a:solidFill>
                  <a:schemeClr val="tx2"/>
                </a:solidFill>
              </a:rPr>
              <a:t>PostgreSQL 16</a:t>
            </a:r>
            <a:endParaRPr lang="en-US" sz="1400" dirty="0"/>
          </a:p>
          <a:p>
            <a:pPr indent="0" marL="0">
              <a:spcBef>
                <a:spcPts val="300"/>
              </a:spcBef>
              <a:buNone/>
            </a:pPr>
            <a:r>
              <a:rPr lang="en-US" sz="1100" dirty="0">
                <a:solidFill>
                  <a:schemeClr val="tx2"/>
                </a:solidFill>
              </a:rPr>
              <a:t>in London</a:t>
            </a:r>
            <a:endParaRPr lang="en-US" sz="1400" dirty="0"/>
          </a:p>
        </p:txBody>
      </p:sp>
      <p:sp>
        <p:nvSpPr>
          <p:cNvPr id="26" name="Connector 205"/>
          <p:cNvSpPr/>
          <p:nvPr/>
        </p:nvSpPr>
        <p:spPr>
          <a:xfrm>
            <a:off x="2633472" y="2148840"/>
            <a:ext cx="808634" cy="0"/>
          </a:xfrm>
          <a:prstGeom prst="line">
            <a:avLst/>
          </a:prstGeom>
          <a:noFill/>
          <a:ln w="25400">
            <a:solidFill>
              <a:schemeClr val="tx2"/>
            </a:solidFill>
            <a:prstDash val="solid"/>
            <a:tailEnd type="triangle"/>
          </a:ln>
        </p:spPr>
      </p:sp>
      <p:sp>
        <p:nvSpPr>
          <p:cNvPr id="27" name="Text 206"/>
          <p:cNvSpPr txBox="1"/>
          <p:nvPr/>
        </p:nvSpPr>
        <p:spPr>
          <a:xfrm>
            <a:off x="2633472"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HTTPS,</a:t>
            </a:r>
            <a:endParaRPr lang="en-US" sz="1100" dirty="0"/>
          </a:p>
          <a:p>
            <a:pPr algn="ctr" indent="0" marL="0">
              <a:buNone/>
            </a:pPr>
            <a:r>
              <a:rPr lang="en-US" sz="1100" dirty="0">
                <a:solidFill>
                  <a:schemeClr val="tx2"/>
                </a:solidFill>
              </a:rPr>
              <a:t>one origin</a:t>
            </a:r>
            <a:endParaRPr lang="en-US" sz="1100" dirty="0"/>
          </a:p>
        </p:txBody>
      </p:sp>
      <p:sp>
        <p:nvSpPr>
          <p:cNvPr id="28" name="Connector 207"/>
          <p:cNvSpPr/>
          <p:nvPr/>
        </p:nvSpPr>
        <p:spPr>
          <a:xfrm>
            <a:off x="5691530" y="2148840"/>
            <a:ext cx="808634" cy="0"/>
          </a:xfrm>
          <a:prstGeom prst="line">
            <a:avLst/>
          </a:prstGeom>
          <a:noFill/>
          <a:ln w="25400">
            <a:solidFill>
              <a:schemeClr val="tx2"/>
            </a:solidFill>
            <a:prstDash val="solid"/>
            <a:tailEnd type="triangle"/>
          </a:ln>
        </p:spPr>
      </p:sp>
      <p:sp>
        <p:nvSpPr>
          <p:cNvPr id="29" name="Text 208"/>
          <p:cNvSpPr txBox="1"/>
          <p:nvPr/>
        </p:nvSpPr>
        <p:spPr>
          <a:xfrm>
            <a:off x="5691530"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/api,</a:t>
            </a:r>
            <a:endParaRPr lang="en-US" sz="1100" dirty="0"/>
          </a:p>
          <a:p>
            <a:pPr algn="ctr" indent="0" marL="0">
              <a:buNone/>
            </a:pPr>
            <a:r>
              <a:rPr lang="en-US" sz="1100" dirty="0">
                <a:solidFill>
                  <a:schemeClr val="tx2"/>
                </a:solidFill>
              </a:rPr>
              <a:t>server side</a:t>
            </a:r>
            <a:endParaRPr lang="en-US" sz="1100" dirty="0"/>
          </a:p>
        </p:txBody>
      </p:sp>
      <p:sp>
        <p:nvSpPr>
          <p:cNvPr id="30" name="Connector 209"/>
          <p:cNvSpPr/>
          <p:nvPr/>
        </p:nvSpPr>
        <p:spPr>
          <a:xfrm>
            <a:off x="8749589" y="2148840"/>
            <a:ext cx="808634" cy="0"/>
          </a:xfrm>
          <a:prstGeom prst="line">
            <a:avLst/>
          </a:prstGeom>
          <a:noFill/>
          <a:ln w="25400">
            <a:solidFill>
              <a:schemeClr val="tx2"/>
            </a:solidFill>
            <a:prstDash val="solid"/>
            <a:tailEnd type="triangle"/>
          </a:ln>
        </p:spPr>
      </p:sp>
      <p:sp>
        <p:nvSpPr>
          <p:cNvPr id="31" name="Text 210"/>
          <p:cNvSpPr txBox="1"/>
          <p:nvPr/>
        </p:nvSpPr>
        <p:spPr>
          <a:xfrm>
            <a:off x="8749589" y="2221992"/>
            <a:ext cx="808634" cy="384048"/>
          </a:xfrm>
          <a:prstGeom prst="rect">
            <a:avLst/>
          </a:prstGeom>
          <a:noFill/>
          <a:ln/>
        </p:spPr>
        <p:txBody>
          <a:bodyPr wrap="square" lIns="0" tIns="0" rIns="0" bIns="0" rtlCol="0" anchor="t"/>
          <a:lstStyle/>
          <a:p>
            <a:pPr algn="ctr" indent="0" marL="0">
              <a:buNone/>
            </a:pPr>
            <a:r>
              <a:rPr lang="en-US" sz="1100" dirty="0">
                <a:solidFill>
                  <a:schemeClr val="tx2"/>
                </a:solidFill>
              </a:rPr>
              <a:t>pooled,</a:t>
            </a:r>
            <a:endParaRPr lang="en-US" sz="1100" dirty="0"/>
          </a:p>
          <a:p>
            <a:pPr algn="ctr" indent="0" marL="0">
              <a:buNone/>
            </a:pPr>
            <a:r>
              <a:rPr lang="en-US" sz="1100" dirty="0">
                <a:solidFill>
                  <a:schemeClr val="tx2"/>
                </a:solidFill>
              </a:rPr>
              <a:t>verified TLS</a:t>
            </a:r>
            <a:endParaRPr lang="en-US" sz="1100" dirty="0"/>
          </a:p>
        </p:txBody>
      </p:sp>
      <p:sp>
        <p:nvSpPr>
          <p:cNvPr id="32" name="Card 211"/>
          <p:cNvSpPr/>
          <p:nvPr/>
        </p:nvSpPr>
        <p:spPr>
          <a:xfrm>
            <a:off x="6573317" y="3063240"/>
            <a:ext cx="2103120" cy="777240"/>
          </a:xfrm>
          <a:prstGeom prst="roundRect">
            <a:avLst>
              <a:gd name="adj" fmla="val 1176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3" name="Icon mail 212"/>
          <p:cNvSpPr/>
          <p:nvPr/>
        </p:nvSpPr>
        <p:spPr>
          <a:xfrm>
            <a:off x="6737909" y="3214116"/>
            <a:ext cx="475488" cy="475488"/>
          </a:xfrm>
          <a:prstGeom prst="ellipse">
            <a:avLst/>
          </a:prstGeom>
          <a:solidFill>
            <a:schemeClr val="accent1"/>
          </a:solidFill>
          <a:ln/>
        </p:spPr>
      </p:sp>
      <p:sp>
        <p:nvSpPr>
          <p:cNvPr id="34" name="Glyph part 214"/>
          <p:cNvSpPr/>
          <p:nvPr/>
        </p:nvSpPr>
        <p:spPr>
          <a:xfrm>
            <a:off x="6856781" y="3375782"/>
            <a:ext cx="237744" cy="152156"/>
          </a:xfrm>
          <a:prstGeom prst="rect">
            <a:avLst/>
          </a:prstGeom>
          <a:noFill/>
          <a:ln w="28575">
            <a:solidFill>
              <a:schemeClr val="tx1"/>
            </a:solidFill>
            <a:prstDash val="solid"/>
          </a:ln>
        </p:spPr>
      </p:sp>
      <p:sp>
        <p:nvSpPr>
          <p:cNvPr id="35" name="Glyph stroke 215"/>
          <p:cNvSpPr/>
          <p:nvPr/>
        </p:nvSpPr>
        <p:spPr>
          <a:xfrm>
            <a:off x="6856781" y="3375782"/>
            <a:ext cx="118872" cy="80833"/>
          </a:xfrm>
          <a:prstGeom prst="line">
            <a:avLst/>
          </a:prstGeom>
          <a:noFill/>
          <a:ln w="28575">
            <a:solidFill>
              <a:schemeClr val="tx1"/>
            </a:solidFill>
            <a:prstDash val="solid"/>
          </a:ln>
        </p:spPr>
      </p:sp>
      <p:sp>
        <p:nvSpPr>
          <p:cNvPr id="36" name="Glyph stroke 216"/>
          <p:cNvSpPr/>
          <p:nvPr/>
        </p:nvSpPr>
        <p:spPr>
          <a:xfrm flipH="1">
            <a:off x="6975653" y="3375782"/>
            <a:ext cx="118872" cy="80833"/>
          </a:xfrm>
          <a:prstGeom prst="line">
            <a:avLst/>
          </a:prstGeom>
          <a:noFill/>
          <a:ln w="28575">
            <a:solidFill>
              <a:schemeClr val="tx1"/>
            </a:solidFill>
            <a:prstDash val="solid"/>
          </a:ln>
        </p:spPr>
      </p:sp>
      <p:sp>
        <p:nvSpPr>
          <p:cNvPr id="37" name="Text 217"/>
          <p:cNvSpPr txBox="1"/>
          <p:nvPr/>
        </p:nvSpPr>
        <p:spPr>
          <a:xfrm>
            <a:off x="7323125" y="3118104"/>
            <a:ext cx="1280160" cy="667512"/>
          </a:xfrm>
          <a:prstGeom prst="rect">
            <a:avLst/>
          </a:prstGeom>
          <a:noFill/>
          <a:ln/>
        </p:spPr>
        <p:txBody>
          <a:bodyPr wrap="square" lIns="0" tIns="0" rIns="0" bIns="0" rtlCol="0" anchor="ctr"/>
          <a:lstStyle/>
          <a:p>
            <a:pPr indent="0" marL="0">
              <a:buNone/>
            </a:pPr>
            <a:r>
              <a:rPr lang="en-US" sz="1600" b="1" dirty="0">
                <a:solidFill>
                  <a:schemeClr val="tx1"/>
                </a:solidFill>
              </a:rPr>
              <a:t>Resend</a:t>
            </a:r>
            <a:endParaRPr lang="en-US" sz="1400" dirty="0"/>
          </a:p>
          <a:p>
            <a:pPr indent="0" marL="0">
              <a:spcBef>
                <a:spcPts val="300"/>
              </a:spcBef>
              <a:buNone/>
            </a:pPr>
            <a:r>
              <a:rPr lang="en-US" sz="1100" dirty="0">
                <a:solidFill>
                  <a:schemeClr val="tx2"/>
                </a:solidFill>
              </a:rPr>
              <a:t>Email, sent after</a:t>
            </a:r>
            <a:endParaRPr lang="en-US" sz="1400" dirty="0"/>
          </a:p>
          <a:p>
            <a:pPr indent="0" marL="0">
              <a:spcBef>
                <a:spcPts val="300"/>
              </a:spcBef>
              <a:buNone/>
            </a:pPr>
            <a:r>
              <a:rPr lang="en-US" sz="1100" dirty="0">
                <a:solidFill>
                  <a:schemeClr val="tx2"/>
                </a:solidFill>
              </a:rPr>
              <a:t>the commit</a:t>
            </a:r>
            <a:endParaRPr lang="en-US" sz="1400" dirty="0"/>
          </a:p>
        </p:txBody>
      </p:sp>
      <p:sp>
        <p:nvSpPr>
          <p:cNvPr id="38" name="Connector 218"/>
          <p:cNvSpPr/>
          <p:nvPr/>
        </p:nvSpPr>
        <p:spPr>
          <a:xfrm>
            <a:off x="7624877" y="2660904"/>
            <a:ext cx="0" cy="347472"/>
          </a:xfrm>
          <a:prstGeom prst="line">
            <a:avLst/>
          </a:prstGeom>
          <a:noFill/>
          <a:ln w="25400">
            <a:solidFill>
              <a:schemeClr val="tx2"/>
            </a:solidFill>
            <a:prstDash val="solid"/>
            <a:tailEnd type="triangle"/>
          </a:ln>
        </p:spPr>
      </p:sp>
      <p:sp>
        <p:nvSpPr>
          <p:cNvPr id="39" name="Icon shield 219"/>
          <p:cNvSpPr/>
          <p:nvPr/>
        </p:nvSpPr>
        <p:spPr>
          <a:xfrm>
            <a:off x="621792" y="3214116"/>
            <a:ext cx="475488" cy="475488"/>
          </a:xfrm>
          <a:prstGeom prst="ellipse">
            <a:avLst/>
          </a:prstGeom>
          <a:solidFill>
            <a:schemeClr val="tx2"/>
          </a:solidFill>
          <a:ln/>
        </p:spPr>
      </p:sp>
      <p:sp>
        <p:nvSpPr>
          <p:cNvPr id="40" name="Glyph part 221"/>
          <p:cNvSpPr/>
          <p:nvPr/>
        </p:nvSpPr>
        <p:spPr>
          <a:xfrm>
            <a:off x="769193" y="3332988"/>
            <a:ext cx="180685" cy="237744"/>
          </a:xfrm>
          <a:prstGeom prst="flowChartOffpageConnector">
            <a:avLst/>
          </a:prstGeom>
          <a:solidFill>
            <a:schemeClr val="bg1"/>
          </a:solidFill>
          <a:ln/>
        </p:spPr>
      </p:sp>
      <p:sp>
        <p:nvSpPr>
          <p:cNvPr id="41" name="Text 222"/>
          <p:cNvSpPr txBox="1"/>
          <p:nvPr/>
        </p:nvSpPr>
        <p:spPr>
          <a:xfrm>
            <a:off x="1325880" y="3017520"/>
            <a:ext cx="4790237" cy="868680"/>
          </a:xfrm>
          <a:prstGeom prst="rect">
            <a:avLst/>
          </a:prstGeom>
          <a:noFill/>
          <a:ln/>
        </p:spPr>
        <p:txBody>
          <a:bodyPr wrap="square" lIns="0" tIns="0" rIns="0" bIns="0" rtlCol="0" anchor="ctr"/>
          <a:lstStyle/>
          <a:p>
            <a:pPr indent="0" marL="0">
              <a:buNone/>
            </a:pPr>
            <a:r>
              <a:rPr lang="en-US" sz="1600" b="1" dirty="0">
                <a:solidFill>
                  <a:schemeClr val="tx1"/>
                </a:solidFill>
              </a:rPr>
              <a:t>One origin</a:t>
            </a:r>
            <a:endParaRPr lang="en-US" sz="1400" dirty="0"/>
          </a:p>
          <a:p>
            <a:pPr indent="0" marL="0">
              <a:spcBef>
                <a:spcPts val="300"/>
              </a:spcBef>
              <a:buNone/>
            </a:pPr>
            <a:r>
              <a:rPr lang="en-US" sz="1400" dirty="0">
                <a:solidFill>
                  <a:schemeClr val="tx2"/>
                </a:solidFill>
              </a:rPr>
              <a:t>The browser only talks to the site's own address, and Vercel passes /api to Cloud Run on the server side</a:t>
            </a:r>
            <a:endParaRPr lang="en-US" sz="1400" dirty="0"/>
          </a:p>
        </p:txBody>
      </p:sp>
      <p:sp>
        <p:nvSpPr>
          <p:cNvPr id="42" name="Layer API"/>
          <p:cNvSpPr/>
          <p:nvPr/>
        </p:nvSpPr>
        <p:spPr>
          <a:xfrm>
            <a:off x="457200" y="4206240"/>
            <a:ext cx="6949440" cy="1645920"/>
          </a:xfrm>
          <a:prstGeom prst="roundRect">
            <a:avLst>
              <a:gd name="adj" fmla="val 5556"/>
            </a:avLst>
          </a:prstGeom>
          <a:solidFill>
            <a:srgbClr val="F1F2F4"/>
          </a:solidFill>
          <a:ln w="9525">
            <a:solidFill>
              <a:srgbClr val="E2E5E9"/>
            </a:solidFill>
            <a:prstDash val="solid"/>
          </a:ln>
        </p:spPr>
      </p:sp>
      <p:sp>
        <p:nvSpPr>
          <p:cNvPr id="43" name="Text 223"/>
          <p:cNvSpPr txBox="1"/>
          <p:nvPr/>
        </p:nvSpPr>
        <p:spPr>
          <a:xfrm>
            <a:off x="612648" y="4279392"/>
            <a:ext cx="1005840" cy="1499616"/>
          </a:xfrm>
          <a:prstGeom prst="rect">
            <a:avLst/>
          </a:prstGeom>
          <a:noFill/>
          <a:ln/>
        </p:spPr>
        <p:txBody>
          <a:bodyPr wrap="square" lIns="0" tIns="0" rIns="0" bIns="0" rtlCol="0" anchor="ctr"/>
          <a:lstStyle/>
          <a:p>
            <a:pPr indent="0" marL="0">
              <a:buNone/>
            </a:pPr>
            <a:r>
              <a:rPr lang="en-US" sz="1400" b="1" dirty="0">
                <a:solidFill>
                  <a:schemeClr val="tx1"/>
                </a:solidFill>
              </a:rPr>
              <a:t>API</a:t>
            </a:r>
            <a:endParaRPr lang="en-US" sz="1400" dirty="0"/>
          </a:p>
          <a:p>
            <a:pPr indent="0" marL="0">
              <a:spcBef>
                <a:spcPts val="300"/>
              </a:spcBef>
              <a:buNone/>
            </a:pPr>
            <a:r>
              <a:rPr lang="en-US" sz="1100" dirty="0">
                <a:solidFill>
                  <a:schemeClr val="tx2"/>
                </a:solidFill>
              </a:rPr>
              <a:t>Routers, policies, wiring</a:t>
            </a:r>
            <a:endParaRPr lang="en-US" sz="1400" dirty="0"/>
          </a:p>
        </p:txBody>
      </p:sp>
      <p:sp>
        <p:nvSpPr>
          <p:cNvPr id="44" name="Layer Infrastructure"/>
          <p:cNvSpPr/>
          <p:nvPr/>
        </p:nvSpPr>
        <p:spPr>
          <a:xfrm>
            <a:off x="1645920" y="4325112"/>
            <a:ext cx="5641848" cy="1408176"/>
          </a:xfrm>
          <a:prstGeom prst="roundRect">
            <a:avLst>
              <a:gd name="adj" fmla="val 6494"/>
            </a:avLst>
          </a:prstGeom>
          <a:solidFill>
            <a:srgbClr val="E2E5E9"/>
          </a:solidFill>
          <a:ln/>
        </p:spPr>
      </p:sp>
      <p:sp>
        <p:nvSpPr>
          <p:cNvPr id="45" name="Text 224"/>
          <p:cNvSpPr txBox="1"/>
          <p:nvPr/>
        </p:nvSpPr>
        <p:spPr>
          <a:xfrm>
            <a:off x="1801368" y="4398264"/>
            <a:ext cx="1325880" cy="1261872"/>
          </a:xfrm>
          <a:prstGeom prst="rect">
            <a:avLst/>
          </a:prstGeom>
          <a:noFill/>
          <a:ln/>
        </p:spPr>
        <p:txBody>
          <a:bodyPr wrap="square" lIns="0" tIns="0" rIns="0" bIns="0" rtlCol="0" anchor="ctr"/>
          <a:lstStyle/>
          <a:p>
            <a:pPr indent="0" marL="0">
              <a:buNone/>
            </a:pPr>
            <a:r>
              <a:rPr lang="en-US" sz="1400" b="1" dirty="0">
                <a:solidFill>
                  <a:schemeClr val="tx1"/>
                </a:solidFill>
              </a:rPr>
              <a:t>Infrastructure</a:t>
            </a:r>
            <a:endParaRPr lang="en-US" sz="1400" dirty="0"/>
          </a:p>
          <a:p>
            <a:pPr indent="0" marL="0">
              <a:spcBef>
                <a:spcPts val="300"/>
              </a:spcBef>
              <a:buNone/>
            </a:pPr>
            <a:r>
              <a:rPr lang="en-US" sz="1100" dirty="0">
                <a:solidFill>
                  <a:schemeClr val="tx2"/>
                </a:solidFill>
              </a:rPr>
              <a:t>SQL, the unit of work, email</a:t>
            </a:r>
            <a:endParaRPr lang="en-US" sz="1400" dirty="0"/>
          </a:p>
        </p:txBody>
      </p:sp>
      <p:sp>
        <p:nvSpPr>
          <p:cNvPr id="46" name="Layer Application"/>
          <p:cNvSpPr/>
          <p:nvPr/>
        </p:nvSpPr>
        <p:spPr>
          <a:xfrm>
            <a:off x="3154680" y="4443984"/>
            <a:ext cx="4014216" cy="1170432"/>
          </a:xfrm>
          <a:prstGeom prst="roundRect">
            <a:avLst>
              <a:gd name="adj" fmla="val 7813"/>
            </a:avLst>
          </a:prstGeom>
          <a:solidFill>
            <a:schemeClr val="accent2"/>
          </a:solidFill>
          <a:ln/>
        </p:spPr>
      </p:sp>
      <p:sp>
        <p:nvSpPr>
          <p:cNvPr id="47" name="Text 225"/>
          <p:cNvSpPr txBox="1"/>
          <p:nvPr/>
        </p:nvSpPr>
        <p:spPr>
          <a:xfrm>
            <a:off x="3310128" y="4517136"/>
            <a:ext cx="1234440" cy="1024128"/>
          </a:xfrm>
          <a:prstGeom prst="rect">
            <a:avLst/>
          </a:prstGeom>
          <a:noFill/>
          <a:ln/>
        </p:spPr>
        <p:txBody>
          <a:bodyPr wrap="square" lIns="0" tIns="0" rIns="0" bIns="0" rtlCol="0" anchor="ctr"/>
          <a:lstStyle/>
          <a:p>
            <a:pPr indent="0" marL="0">
              <a:buNone/>
            </a:pPr>
            <a:r>
              <a:rPr lang="en-US" sz="1400" b="1" dirty="0">
                <a:solidFill>
                  <a:schemeClr val="bg1"/>
                </a:solidFill>
              </a:rPr>
              <a:t>Application</a:t>
            </a:r>
            <a:endParaRPr lang="en-US" sz="1400" dirty="0"/>
          </a:p>
          <a:p>
            <a:pPr indent="0" marL="0">
              <a:spcBef>
                <a:spcPts val="300"/>
              </a:spcBef>
              <a:buNone/>
            </a:pPr>
            <a:r>
              <a:rPr lang="en-US" sz="1100" dirty="0">
                <a:solidFill>
                  <a:srgbClr val="CBD5E1"/>
                </a:solidFill>
              </a:rPr>
              <a:t>Use cases and their ports</a:t>
            </a:r>
            <a:endParaRPr lang="en-US" sz="1400" dirty="0"/>
          </a:p>
        </p:txBody>
      </p:sp>
      <p:sp>
        <p:nvSpPr>
          <p:cNvPr id="48" name="Layer Domain"/>
          <p:cNvSpPr/>
          <p:nvPr/>
        </p:nvSpPr>
        <p:spPr>
          <a:xfrm>
            <a:off x="4572000" y="4562856"/>
            <a:ext cx="2478024" cy="932688"/>
          </a:xfrm>
          <a:prstGeom prst="roundRect">
            <a:avLst>
              <a:gd name="adj" fmla="val 9804"/>
            </a:avLst>
          </a:prstGeom>
          <a:solidFill>
            <a:schemeClr val="tx1"/>
          </a:solidFill>
          <a:ln/>
        </p:spPr>
      </p:sp>
      <p:sp>
        <p:nvSpPr>
          <p:cNvPr id="49" name="Text 226"/>
          <p:cNvSpPr txBox="1"/>
          <p:nvPr/>
        </p:nvSpPr>
        <p:spPr>
          <a:xfrm>
            <a:off x="4727448" y="4636008"/>
            <a:ext cx="2112264" cy="786384"/>
          </a:xfrm>
          <a:prstGeom prst="rect">
            <a:avLst/>
          </a:prstGeom>
          <a:noFill/>
          <a:ln/>
        </p:spPr>
        <p:txBody>
          <a:bodyPr wrap="square" lIns="0" tIns="0" rIns="0" bIns="0" rtlCol="0" anchor="ctr"/>
          <a:lstStyle/>
          <a:p>
            <a:pPr indent="0" marL="0">
              <a:buNone/>
            </a:pPr>
            <a:r>
              <a:rPr lang="en-US" sz="1400" b="1" dirty="0">
                <a:solidFill>
                  <a:schemeClr val="bg1"/>
                </a:solidFill>
              </a:rPr>
              <a:t>Domain</a:t>
            </a:r>
            <a:endParaRPr lang="en-US" sz="1400" dirty="0"/>
          </a:p>
          <a:p>
            <a:pPr indent="0" marL="0">
              <a:spcBef>
                <a:spcPts val="300"/>
              </a:spcBef>
              <a:buNone/>
            </a:pPr>
            <a:r>
              <a:rPr lang="en-US" sz="1100" dirty="0">
                <a:solidFill>
                  <a:srgbClr val="CBD5E1"/>
                </a:solidFill>
              </a:rPr>
              <a:t>The rules, no framework, no SQL</a:t>
            </a:r>
            <a:endParaRPr lang="en-US" sz="1400" dirty="0"/>
          </a:p>
        </p:txBody>
      </p:sp>
      <p:sp>
        <p:nvSpPr>
          <p:cNvPr id="50" name="Card 227"/>
          <p:cNvSpPr/>
          <p:nvPr/>
        </p:nvSpPr>
        <p:spPr>
          <a:xfrm>
            <a:off x="7772400" y="4206240"/>
            <a:ext cx="1843888" cy="1645920"/>
          </a:xfrm>
          <a:prstGeom prst="roundRect">
            <a:avLst>
              <a:gd name="adj" fmla="val 555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1" name="Text 228"/>
          <p:cNvSpPr txBox="1"/>
          <p:nvPr/>
        </p:nvSpPr>
        <p:spPr>
          <a:xfrm>
            <a:off x="8001000" y="4279392"/>
            <a:ext cx="1386688" cy="640080"/>
          </a:xfrm>
          <a:prstGeom prst="rect">
            <a:avLst/>
          </a:prstGeom>
          <a:noFill/>
          <a:ln/>
        </p:spPr>
        <p:txBody>
          <a:bodyPr wrap="square" lIns="0" tIns="0" rIns="0" bIns="0" rtlCol="0" anchor="b"/>
          <a:lstStyle/>
          <a:p>
            <a:pPr indent="0" marL="0">
              <a:buNone/>
            </a:pPr>
            <a:r>
              <a:rPr lang="en-US" sz="4000" b="1" dirty="0">
                <a:solidFill>
                  <a:schemeClr val="tx1"/>
                </a:solidFill>
              </a:rPr>
              <a:t>8</a:t>
            </a:r>
            <a:endParaRPr lang="en-US" sz="4000" dirty="0"/>
          </a:p>
        </p:txBody>
      </p:sp>
      <p:sp>
        <p:nvSpPr>
          <p:cNvPr id="52" name="Text 229"/>
          <p:cNvSpPr txBox="1"/>
          <p:nvPr/>
        </p:nvSpPr>
        <p:spPr>
          <a:xfrm>
            <a:off x="8001000" y="4974336"/>
            <a:ext cx="1386688" cy="731520"/>
          </a:xfrm>
          <a:prstGeom prst="rect">
            <a:avLst/>
          </a:prstGeom>
          <a:noFill/>
          <a:ln/>
        </p:spPr>
        <p:txBody>
          <a:bodyPr wrap="square" lIns="0" tIns="0" rIns="0" bIns="0" rtlCol="0" anchor="t"/>
          <a:lstStyle/>
          <a:p>
            <a:pPr indent="0" marL="0">
              <a:buNone/>
            </a:pPr>
            <a:r>
              <a:rPr lang="en-US" sz="1400" dirty="0">
                <a:solidFill>
                  <a:schemeClr val="tx2"/>
                </a:solidFill>
              </a:rPr>
              <a:t>modules, with the same name in every layer</a:t>
            </a:r>
            <a:endParaRPr lang="en-US" sz="1400" dirty="0"/>
          </a:p>
        </p:txBody>
      </p:sp>
      <p:sp>
        <p:nvSpPr>
          <p:cNvPr id="53" name="Card 230"/>
          <p:cNvSpPr/>
          <p:nvPr/>
        </p:nvSpPr>
        <p:spPr>
          <a:xfrm>
            <a:off x="9890608" y="4206240"/>
            <a:ext cx="1843888" cy="1645920"/>
          </a:xfrm>
          <a:prstGeom prst="roundRect">
            <a:avLst>
              <a:gd name="adj" fmla="val 5556"/>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4" name="Text 231"/>
          <p:cNvSpPr txBox="1"/>
          <p:nvPr/>
        </p:nvSpPr>
        <p:spPr>
          <a:xfrm>
            <a:off x="10119208" y="4279392"/>
            <a:ext cx="1386688" cy="640080"/>
          </a:xfrm>
          <a:prstGeom prst="rect">
            <a:avLst/>
          </a:prstGeom>
          <a:noFill/>
          <a:ln/>
        </p:spPr>
        <p:txBody>
          <a:bodyPr wrap="square" lIns="0" tIns="0" rIns="0" bIns="0" rtlCol="0" anchor="b"/>
          <a:lstStyle/>
          <a:p>
            <a:pPr indent="0" marL="0">
              <a:buNone/>
            </a:pPr>
            <a:r>
              <a:rPr lang="en-US" sz="4000" b="1" dirty="0">
                <a:solidFill>
                  <a:schemeClr val="tx1"/>
                </a:solidFill>
              </a:rPr>
              <a:t>5</a:t>
            </a:r>
            <a:endParaRPr lang="en-US" sz="4000" dirty="0"/>
          </a:p>
        </p:txBody>
      </p:sp>
      <p:sp>
        <p:nvSpPr>
          <p:cNvPr id="55" name="Text 232"/>
          <p:cNvSpPr txBox="1"/>
          <p:nvPr/>
        </p:nvSpPr>
        <p:spPr>
          <a:xfrm>
            <a:off x="10119208" y="4974336"/>
            <a:ext cx="1386688" cy="731520"/>
          </a:xfrm>
          <a:prstGeom prst="rect">
            <a:avLst/>
          </a:prstGeom>
          <a:noFill/>
          <a:ln/>
        </p:spPr>
        <p:txBody>
          <a:bodyPr wrap="square" lIns="0" tIns="0" rIns="0" bIns="0" rtlCol="0" anchor="t"/>
          <a:lstStyle/>
          <a:p>
            <a:pPr indent="0" marL="0">
              <a:buNone/>
            </a:pPr>
            <a:r>
              <a:rPr lang="en-US" sz="1400" dirty="0">
                <a:solidFill>
                  <a:schemeClr val="tx2"/>
                </a:solidFill>
              </a:rPr>
              <a:t>import contracts, checked on every push</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four design patterns</a:t>
            </a:r>
            <a:endParaRPr lang="en-US" sz="3600" dirty="0"/>
          </a:p>
        </p:txBody>
      </p:sp>
      <p:sp>
        <p:nvSpPr>
          <p:cNvPr id="5" name="Card 233"/>
          <p:cNvSpPr/>
          <p:nvPr/>
        </p:nvSpPr>
        <p:spPr>
          <a:xfrm>
            <a:off x="457200"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db 234"/>
          <p:cNvSpPr/>
          <p:nvPr/>
        </p:nvSpPr>
        <p:spPr>
          <a:xfrm>
            <a:off x="685800" y="1874520"/>
            <a:ext cx="594360" cy="594360"/>
          </a:xfrm>
          <a:prstGeom prst="ellipse">
            <a:avLst/>
          </a:prstGeom>
          <a:solidFill>
            <a:schemeClr val="accent1"/>
          </a:solidFill>
          <a:ln/>
        </p:spPr>
      </p:sp>
      <p:sp>
        <p:nvSpPr>
          <p:cNvPr id="7" name="Glyph part 236"/>
          <p:cNvSpPr/>
          <p:nvPr/>
        </p:nvSpPr>
        <p:spPr>
          <a:xfrm>
            <a:off x="881939" y="2023110"/>
            <a:ext cx="202082" cy="297180"/>
          </a:xfrm>
          <a:prstGeom prst="can">
            <a:avLst/>
          </a:prstGeom>
          <a:solidFill>
            <a:schemeClr val="tx1"/>
          </a:solidFill>
          <a:ln/>
        </p:spPr>
      </p:sp>
      <p:sp>
        <p:nvSpPr>
          <p:cNvPr id="8" name="Text 237"/>
          <p:cNvSpPr txBox="1"/>
          <p:nvPr/>
        </p:nvSpPr>
        <p:spPr>
          <a:xfrm>
            <a:off x="685800"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Repository with Unit of Work</a:t>
            </a:r>
            <a:endParaRPr lang="en-US" sz="1800" dirty="0"/>
          </a:p>
        </p:txBody>
      </p:sp>
      <p:sp>
        <p:nvSpPr>
          <p:cNvPr id="9" name="Text 238"/>
          <p:cNvSpPr txBox="1"/>
          <p:nvPr/>
        </p:nvSpPr>
        <p:spPr>
          <a:xfrm>
            <a:off x="685800"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One transaction for a hold, its allocations and its audit event.</a:t>
            </a:r>
            <a:endParaRPr lang="en-US" sz="1400" dirty="0"/>
          </a:p>
        </p:txBody>
      </p:sp>
      <p:sp>
        <p:nvSpPr>
          <p:cNvPr id="10" name="Text 239"/>
          <p:cNvSpPr txBox="1"/>
          <p:nvPr/>
        </p:nvSpPr>
        <p:spPr>
          <a:xfrm>
            <a:off x="685800"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application/unit_of_work.py</a:t>
            </a:r>
            <a:endParaRPr lang="en-US" sz="1000" dirty="0"/>
          </a:p>
        </p:txBody>
      </p:sp>
      <p:sp>
        <p:nvSpPr>
          <p:cNvPr id="11" name="Card 240"/>
          <p:cNvSpPr/>
          <p:nvPr/>
        </p:nvSpPr>
        <p:spPr>
          <a:xfrm>
            <a:off x="3345104"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plug 241"/>
          <p:cNvSpPr/>
          <p:nvPr/>
        </p:nvSpPr>
        <p:spPr>
          <a:xfrm>
            <a:off x="3573704" y="1874520"/>
            <a:ext cx="594360" cy="594360"/>
          </a:xfrm>
          <a:prstGeom prst="ellipse">
            <a:avLst/>
          </a:prstGeom>
          <a:solidFill>
            <a:schemeClr val="accent1"/>
          </a:solidFill>
          <a:ln/>
        </p:spPr>
      </p:sp>
      <p:sp>
        <p:nvSpPr>
          <p:cNvPr id="13" name="Glyph part 243"/>
          <p:cNvSpPr/>
          <p:nvPr/>
        </p:nvSpPr>
        <p:spPr>
          <a:xfrm>
            <a:off x="3722294" y="2088490"/>
            <a:ext cx="118872" cy="166421"/>
          </a:xfrm>
          <a:prstGeom prst="roundRect">
            <a:avLst>
              <a:gd name="adj" fmla="val 15000"/>
            </a:avLst>
          </a:prstGeom>
          <a:solidFill>
            <a:schemeClr val="tx1"/>
          </a:solidFill>
          <a:ln/>
        </p:spPr>
      </p:sp>
      <p:sp>
        <p:nvSpPr>
          <p:cNvPr id="14" name="Glyph part 244"/>
          <p:cNvSpPr/>
          <p:nvPr/>
        </p:nvSpPr>
        <p:spPr>
          <a:xfrm>
            <a:off x="3906545" y="2088490"/>
            <a:ext cx="112928" cy="166421"/>
          </a:xfrm>
          <a:prstGeom prst="roundRect">
            <a:avLst>
              <a:gd name="adj" fmla="val 15790"/>
            </a:avLst>
          </a:prstGeom>
          <a:noFill/>
          <a:ln w="28575">
            <a:solidFill>
              <a:schemeClr val="tx1"/>
            </a:solidFill>
            <a:prstDash val="solid"/>
          </a:ln>
        </p:spPr>
      </p:sp>
      <p:sp>
        <p:nvSpPr>
          <p:cNvPr id="15" name="Glyph stroke 245"/>
          <p:cNvSpPr/>
          <p:nvPr/>
        </p:nvSpPr>
        <p:spPr>
          <a:xfrm>
            <a:off x="3841166" y="2136038"/>
            <a:ext cx="65380" cy="0"/>
          </a:xfrm>
          <a:prstGeom prst="line">
            <a:avLst/>
          </a:prstGeom>
          <a:noFill/>
          <a:ln w="28575">
            <a:solidFill>
              <a:schemeClr val="tx1"/>
            </a:solidFill>
            <a:prstDash val="solid"/>
          </a:ln>
        </p:spPr>
      </p:sp>
      <p:sp>
        <p:nvSpPr>
          <p:cNvPr id="16" name="Glyph stroke 246"/>
          <p:cNvSpPr/>
          <p:nvPr/>
        </p:nvSpPr>
        <p:spPr>
          <a:xfrm>
            <a:off x="3841166" y="2207362"/>
            <a:ext cx="65380" cy="0"/>
          </a:xfrm>
          <a:prstGeom prst="line">
            <a:avLst/>
          </a:prstGeom>
          <a:noFill/>
          <a:ln w="28575">
            <a:solidFill>
              <a:schemeClr val="tx1"/>
            </a:solidFill>
            <a:prstDash val="solid"/>
          </a:ln>
        </p:spPr>
      </p:sp>
      <p:sp>
        <p:nvSpPr>
          <p:cNvPr id="17" name="Text 247"/>
          <p:cNvSpPr txBox="1"/>
          <p:nvPr/>
        </p:nvSpPr>
        <p:spPr>
          <a:xfrm>
            <a:off x="3573704"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Adapter</a:t>
            </a:r>
            <a:endParaRPr lang="en-US" sz="1800" dirty="0"/>
          </a:p>
        </p:txBody>
      </p:sp>
      <p:sp>
        <p:nvSpPr>
          <p:cNvPr id="18" name="Text 248"/>
          <p:cNvSpPr txBox="1"/>
          <p:nvPr/>
        </p:nvSpPr>
        <p:spPr>
          <a:xfrm>
            <a:off x="3573704"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The email provider sits behind a port, with a transactional outbox.</a:t>
            </a:r>
            <a:endParaRPr lang="en-US" sz="1400" dirty="0"/>
          </a:p>
        </p:txBody>
      </p:sp>
      <p:sp>
        <p:nvSpPr>
          <p:cNvPr id="19" name="Text 249"/>
          <p:cNvSpPr txBox="1"/>
          <p:nvPr/>
        </p:nvSpPr>
        <p:spPr>
          <a:xfrm>
            <a:off x="3573704"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infrastructure/notification</a:t>
            </a:r>
            <a:endParaRPr lang="en-US" sz="1000" dirty="0"/>
          </a:p>
        </p:txBody>
      </p:sp>
      <p:sp>
        <p:nvSpPr>
          <p:cNvPr id="20" name="Card 250"/>
          <p:cNvSpPr/>
          <p:nvPr/>
        </p:nvSpPr>
        <p:spPr>
          <a:xfrm>
            <a:off x="6233008"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Icon diamond 251"/>
          <p:cNvSpPr/>
          <p:nvPr/>
        </p:nvSpPr>
        <p:spPr>
          <a:xfrm>
            <a:off x="6461608" y="1874520"/>
            <a:ext cx="594360" cy="594360"/>
          </a:xfrm>
          <a:prstGeom prst="ellipse">
            <a:avLst/>
          </a:prstGeom>
          <a:solidFill>
            <a:schemeClr val="accent1"/>
          </a:solidFill>
          <a:ln/>
        </p:spPr>
      </p:sp>
      <p:sp>
        <p:nvSpPr>
          <p:cNvPr id="22" name="Glyph part 253"/>
          <p:cNvSpPr/>
          <p:nvPr/>
        </p:nvSpPr>
        <p:spPr>
          <a:xfrm>
            <a:off x="6622085" y="2034997"/>
            <a:ext cx="273406" cy="273406"/>
          </a:xfrm>
          <a:prstGeom prst="diamond">
            <a:avLst/>
          </a:prstGeom>
          <a:solidFill>
            <a:schemeClr val="tx1"/>
          </a:solidFill>
          <a:ln/>
        </p:spPr>
      </p:sp>
      <p:sp>
        <p:nvSpPr>
          <p:cNvPr id="23" name="Text 254"/>
          <p:cNvSpPr txBox="1"/>
          <p:nvPr/>
        </p:nvSpPr>
        <p:spPr>
          <a:xfrm>
            <a:off x="6461608"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Strategy</a:t>
            </a:r>
            <a:endParaRPr lang="en-US" sz="1800" dirty="0"/>
          </a:p>
        </p:txBody>
      </p:sp>
      <p:sp>
        <p:nvSpPr>
          <p:cNvPr id="24" name="Text 255"/>
          <p:cNvSpPr txBox="1"/>
          <p:nvPr/>
        </p:nvSpPr>
        <p:spPr>
          <a:xfrm>
            <a:off x="6461608"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The pricing policy and the late fee policy, each in one place.</a:t>
            </a:r>
            <a:endParaRPr lang="en-US" sz="1400" dirty="0"/>
          </a:p>
        </p:txBody>
      </p:sp>
      <p:sp>
        <p:nvSpPr>
          <p:cNvPr id="25" name="Text 256"/>
          <p:cNvSpPr txBox="1"/>
          <p:nvPr/>
        </p:nvSpPr>
        <p:spPr>
          <a:xfrm>
            <a:off x="6461608"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domain/policies</a:t>
            </a:r>
            <a:endParaRPr lang="en-US" sz="1000" dirty="0"/>
          </a:p>
        </p:txBody>
      </p:sp>
      <p:sp>
        <p:nvSpPr>
          <p:cNvPr id="26" name="Card 257"/>
          <p:cNvSpPr/>
          <p:nvPr/>
        </p:nvSpPr>
        <p:spPr>
          <a:xfrm>
            <a:off x="9120911" y="1645920"/>
            <a:ext cx="2613584" cy="4206240"/>
          </a:xfrm>
          <a:prstGeom prst="roundRect">
            <a:avLst>
              <a:gd name="adj" fmla="val 3499"/>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7" name="Icon states 258"/>
          <p:cNvSpPr/>
          <p:nvPr/>
        </p:nvSpPr>
        <p:spPr>
          <a:xfrm>
            <a:off x="9349511" y="1874520"/>
            <a:ext cx="594360" cy="594360"/>
          </a:xfrm>
          <a:prstGeom prst="ellipse">
            <a:avLst/>
          </a:prstGeom>
          <a:solidFill>
            <a:schemeClr val="accent1"/>
          </a:solidFill>
          <a:ln/>
        </p:spPr>
      </p:sp>
      <p:sp>
        <p:nvSpPr>
          <p:cNvPr id="28" name="Glyph stroke 260"/>
          <p:cNvSpPr/>
          <p:nvPr/>
        </p:nvSpPr>
        <p:spPr>
          <a:xfrm flipH="1">
            <a:off x="9542678" y="2067687"/>
            <a:ext cx="104013" cy="208026"/>
          </a:xfrm>
          <a:prstGeom prst="line">
            <a:avLst/>
          </a:prstGeom>
          <a:noFill/>
          <a:ln w="25400">
            <a:solidFill>
              <a:schemeClr val="tx1"/>
            </a:solidFill>
            <a:prstDash val="solid"/>
          </a:ln>
        </p:spPr>
      </p:sp>
      <p:sp>
        <p:nvSpPr>
          <p:cNvPr id="29" name="Glyph stroke 261"/>
          <p:cNvSpPr/>
          <p:nvPr/>
        </p:nvSpPr>
        <p:spPr>
          <a:xfrm>
            <a:off x="9542678" y="2275713"/>
            <a:ext cx="208026" cy="0"/>
          </a:xfrm>
          <a:prstGeom prst="line">
            <a:avLst/>
          </a:prstGeom>
          <a:noFill/>
          <a:ln w="25400">
            <a:solidFill>
              <a:schemeClr val="tx1"/>
            </a:solidFill>
            <a:prstDash val="solid"/>
          </a:ln>
        </p:spPr>
      </p:sp>
      <p:sp>
        <p:nvSpPr>
          <p:cNvPr id="30" name="Glyph stroke 262"/>
          <p:cNvSpPr/>
          <p:nvPr/>
        </p:nvSpPr>
        <p:spPr>
          <a:xfrm flipH="1" flipV="1">
            <a:off x="9646691" y="2067687"/>
            <a:ext cx="104013" cy="208026"/>
          </a:xfrm>
          <a:prstGeom prst="line">
            <a:avLst/>
          </a:prstGeom>
          <a:noFill/>
          <a:ln w="25400">
            <a:solidFill>
              <a:schemeClr val="tx1"/>
            </a:solidFill>
            <a:prstDash val="solid"/>
          </a:ln>
        </p:spPr>
      </p:sp>
      <p:sp>
        <p:nvSpPr>
          <p:cNvPr id="31" name="Glyph part 263"/>
          <p:cNvSpPr/>
          <p:nvPr/>
        </p:nvSpPr>
        <p:spPr>
          <a:xfrm>
            <a:off x="9602114" y="2023110"/>
            <a:ext cx="89154" cy="89154"/>
          </a:xfrm>
          <a:prstGeom prst="ellipse">
            <a:avLst/>
          </a:prstGeom>
          <a:solidFill>
            <a:schemeClr val="tx1"/>
          </a:solidFill>
          <a:ln/>
        </p:spPr>
      </p:sp>
      <p:sp>
        <p:nvSpPr>
          <p:cNvPr id="32" name="Glyph part 264"/>
          <p:cNvSpPr/>
          <p:nvPr/>
        </p:nvSpPr>
        <p:spPr>
          <a:xfrm>
            <a:off x="9498101" y="2231136"/>
            <a:ext cx="89154" cy="89154"/>
          </a:xfrm>
          <a:prstGeom prst="ellipse">
            <a:avLst/>
          </a:prstGeom>
          <a:solidFill>
            <a:schemeClr val="tx1"/>
          </a:solidFill>
          <a:ln/>
        </p:spPr>
      </p:sp>
      <p:sp>
        <p:nvSpPr>
          <p:cNvPr id="33" name="Glyph part 265"/>
          <p:cNvSpPr/>
          <p:nvPr/>
        </p:nvSpPr>
        <p:spPr>
          <a:xfrm>
            <a:off x="9706127" y="2231136"/>
            <a:ext cx="89154" cy="89154"/>
          </a:xfrm>
          <a:prstGeom prst="ellipse">
            <a:avLst/>
          </a:prstGeom>
          <a:solidFill>
            <a:schemeClr val="tx1"/>
          </a:solidFill>
          <a:ln/>
        </p:spPr>
      </p:sp>
      <p:sp>
        <p:nvSpPr>
          <p:cNvPr id="34" name="Text 266"/>
          <p:cNvSpPr txBox="1"/>
          <p:nvPr/>
        </p:nvSpPr>
        <p:spPr>
          <a:xfrm>
            <a:off x="9349511" y="2606040"/>
            <a:ext cx="2156384" cy="640080"/>
          </a:xfrm>
          <a:prstGeom prst="rect">
            <a:avLst/>
          </a:prstGeom>
          <a:noFill/>
          <a:ln/>
        </p:spPr>
        <p:txBody>
          <a:bodyPr wrap="square" lIns="0" tIns="0" rIns="0" bIns="0" rtlCol="0" anchor="t"/>
          <a:lstStyle/>
          <a:p>
            <a:pPr indent="0" marL="0">
              <a:buNone/>
            </a:pPr>
            <a:r>
              <a:rPr lang="en-US" sz="1800" b="1" dirty="0">
                <a:solidFill>
                  <a:schemeClr val="tx1"/>
                </a:solidFill>
              </a:rPr>
              <a:t>State</a:t>
            </a:r>
            <a:endParaRPr lang="en-US" sz="1800" dirty="0"/>
          </a:p>
        </p:txBody>
      </p:sp>
      <p:sp>
        <p:nvSpPr>
          <p:cNvPr id="35" name="Text 267"/>
          <p:cNvSpPr txBox="1"/>
          <p:nvPr/>
        </p:nvSpPr>
        <p:spPr>
          <a:xfrm>
            <a:off x="9349511" y="3273552"/>
            <a:ext cx="2156384" cy="868680"/>
          </a:xfrm>
          <a:prstGeom prst="rect">
            <a:avLst/>
          </a:prstGeom>
          <a:noFill/>
          <a:ln/>
        </p:spPr>
        <p:txBody>
          <a:bodyPr wrap="square" lIns="0" tIns="0" rIns="0" bIns="0" rtlCol="0" anchor="t"/>
          <a:lstStyle/>
          <a:p>
            <a:pPr indent="0" marL="0">
              <a:buNone/>
            </a:pPr>
            <a:r>
              <a:rPr lang="en-US" sz="1400" dirty="0">
                <a:solidFill>
                  <a:schemeClr val="tx2"/>
                </a:solidFill>
              </a:rPr>
              <a:t>Eight reservation states. A move is refused unless the state allows it.</a:t>
            </a:r>
            <a:endParaRPr lang="en-US" sz="1400" dirty="0"/>
          </a:p>
        </p:txBody>
      </p:sp>
      <p:sp>
        <p:nvSpPr>
          <p:cNvPr id="36" name="Text 268"/>
          <p:cNvSpPr txBox="1"/>
          <p:nvPr/>
        </p:nvSpPr>
        <p:spPr>
          <a:xfrm>
            <a:off x="9349511" y="5486400"/>
            <a:ext cx="2156384" cy="228600"/>
          </a:xfrm>
          <a:prstGeom prst="rect">
            <a:avLst/>
          </a:prstGeom>
          <a:noFill/>
          <a:ln/>
        </p:spPr>
        <p:txBody>
          <a:bodyPr wrap="square" lIns="0" tIns="0" rIns="0" bIns="0" rtlCol="0" anchor="t"/>
          <a:lstStyle/>
          <a:p>
            <a:pPr indent="0" marL="0">
              <a:buNone/>
            </a:pPr>
            <a:r>
              <a:rPr lang="en-US" sz="1000" dirty="0">
                <a:solidFill>
                  <a:srgbClr val="5D6B7E"/>
                </a:solidFill>
                <a:latin typeface="Consolas" pitchFamily="34" charset="0"/>
                <a:ea typeface="Consolas" pitchFamily="34" charset="-122"/>
                <a:cs typeface="Consolas" pitchFamily="34" charset="-120"/>
              </a:rPr>
              <a:t>domain/states</a:t>
            </a:r>
            <a:endParaRPr lang="en-US" sz="1000" dirty="0"/>
          </a:p>
        </p:txBody>
      </p:sp>
      <p:sp>
        <p:nvSpPr>
          <p:cNvPr id="37" name="Card 269"/>
          <p:cNvSpPr/>
          <p:nvPr/>
        </p:nvSpPr>
        <p:spPr>
          <a:xfrm>
            <a:off x="685800" y="4187952"/>
            <a:ext cx="2156384" cy="1097280"/>
          </a:xfrm>
          <a:prstGeom prst="roundRect">
            <a:avLst>
              <a:gd name="adj" fmla="val 6667"/>
            </a:avLst>
          </a:prstGeom>
          <a:noFill/>
          <a:ln w="9525">
            <a:solidFill>
              <a:schemeClr val="accent2"/>
            </a:solidFill>
            <a:prstDash val="dash"/>
          </a:ln>
        </p:spPr>
      </p:sp>
      <p:sp>
        <p:nvSpPr>
          <p:cNvPr id="38" name="Chip 270"/>
          <p:cNvSpPr/>
          <p:nvPr/>
        </p:nvSpPr>
        <p:spPr>
          <a:xfrm>
            <a:off x="795528" y="4297680"/>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Reservation held</a:t>
            </a:r>
            <a:endParaRPr lang="en-US" sz="1100" dirty="0"/>
          </a:p>
        </p:txBody>
      </p:sp>
      <p:sp>
        <p:nvSpPr>
          <p:cNvPr id="39" name="Chip 271"/>
          <p:cNvSpPr/>
          <p:nvPr/>
        </p:nvSpPr>
        <p:spPr>
          <a:xfrm>
            <a:off x="795528" y="4599432"/>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Units allocated</a:t>
            </a:r>
            <a:endParaRPr lang="en-US" sz="1100" dirty="0"/>
          </a:p>
        </p:txBody>
      </p:sp>
      <p:sp>
        <p:nvSpPr>
          <p:cNvPr id="40" name="Chip 272"/>
          <p:cNvSpPr/>
          <p:nvPr/>
        </p:nvSpPr>
        <p:spPr>
          <a:xfrm>
            <a:off x="795528" y="4901184"/>
            <a:ext cx="1936928" cy="246888"/>
          </a:xfrm>
          <a:prstGeom prst="roundRect">
            <a:avLst>
              <a:gd name="adj" fmla="val 29630"/>
            </a:avLst>
          </a:prstGeom>
          <a:solidFill>
            <a:srgbClr val="F1F2F4"/>
          </a:solidFill>
          <a:ln/>
        </p:spPr>
        <p:txBody>
          <a:bodyPr wrap="square" lIns="25400" tIns="25400" rIns="25400" bIns="25400" rtlCol="0" anchor="ctr"/>
          <a:lstStyle/>
          <a:p>
            <a:pPr algn="ctr" indent="0" marL="0">
              <a:buNone/>
            </a:pPr>
            <a:r>
              <a:rPr lang="en-US" sz="1100" dirty="0">
                <a:solidFill>
                  <a:schemeClr val="tx1"/>
                </a:solidFill>
              </a:rPr>
              <a:t>Audit event written</a:t>
            </a:r>
            <a:endParaRPr lang="en-US" sz="1100" dirty="0"/>
          </a:p>
        </p:txBody>
      </p:sp>
      <p:sp>
        <p:nvSpPr>
          <p:cNvPr id="41" name="Chip 273"/>
          <p:cNvSpPr/>
          <p:nvPr/>
        </p:nvSpPr>
        <p:spPr>
          <a:xfrm>
            <a:off x="3573704" y="4233672"/>
            <a:ext cx="2156384" cy="310896"/>
          </a:xfrm>
          <a:prstGeom prst="roundRect">
            <a:avLst>
              <a:gd name="adj" fmla="val 23529"/>
            </a:avLst>
          </a:prstGeom>
          <a:solidFill>
            <a:schemeClr val="bg1"/>
          </a:solidFill>
          <a:ln w="12700">
            <a:solidFill>
              <a:schemeClr val="tx1"/>
            </a:solidFill>
            <a:prstDash val="dash"/>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NotificationGateway</a:t>
            </a:r>
            <a:endParaRPr lang="en-US" sz="1100" dirty="0"/>
          </a:p>
        </p:txBody>
      </p:sp>
      <p:sp>
        <p:nvSpPr>
          <p:cNvPr id="42" name="Connector 274"/>
          <p:cNvSpPr/>
          <p:nvPr/>
        </p:nvSpPr>
        <p:spPr>
          <a:xfrm>
            <a:off x="4651896" y="4581144"/>
            <a:ext cx="0" cy="310896"/>
          </a:xfrm>
          <a:prstGeom prst="line">
            <a:avLst/>
          </a:prstGeom>
          <a:noFill/>
          <a:ln w="22225">
            <a:solidFill>
              <a:schemeClr val="tx2"/>
            </a:solidFill>
            <a:prstDash val="solid"/>
            <a:tailEnd type="triangle"/>
          </a:ln>
        </p:spPr>
      </p:sp>
      <p:sp>
        <p:nvSpPr>
          <p:cNvPr id="43" name="Chip 275"/>
          <p:cNvSpPr/>
          <p:nvPr/>
        </p:nvSpPr>
        <p:spPr>
          <a:xfrm>
            <a:off x="3573704" y="4928616"/>
            <a:ext cx="2156384" cy="310896"/>
          </a:xfrm>
          <a:prstGeom prst="roundRect">
            <a:avLst>
              <a:gd name="adj" fmla="val 23529"/>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ResendEmailAdapter</a:t>
            </a:r>
            <a:endParaRPr lang="en-US" sz="1100" dirty="0"/>
          </a:p>
        </p:txBody>
      </p:sp>
      <p:sp>
        <p:nvSpPr>
          <p:cNvPr id="44" name="Chip 276"/>
          <p:cNvSpPr/>
          <p:nvPr/>
        </p:nvSpPr>
        <p:spPr>
          <a:xfrm>
            <a:off x="6461608" y="4233672"/>
            <a:ext cx="2156384" cy="310896"/>
          </a:xfrm>
          <a:prstGeom prst="roundRect">
            <a:avLst>
              <a:gd name="adj" fmla="val 23529"/>
            </a:avLst>
          </a:prstGeom>
          <a:solidFill>
            <a:schemeClr val="accent1"/>
          </a:solidFill>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PricingPolicy</a:t>
            </a:r>
            <a:endParaRPr lang="en-US" sz="1100" dirty="0"/>
          </a:p>
        </p:txBody>
      </p:sp>
      <p:sp>
        <p:nvSpPr>
          <p:cNvPr id="45" name="Chip 277"/>
          <p:cNvSpPr/>
          <p:nvPr/>
        </p:nvSpPr>
        <p:spPr>
          <a:xfrm>
            <a:off x="6461608" y="4617720"/>
            <a:ext cx="2156384" cy="310896"/>
          </a:xfrm>
          <a:prstGeom prst="roundRect">
            <a:avLst>
              <a:gd name="adj" fmla="val 23529"/>
            </a:avLst>
          </a:prstGeom>
          <a:solidFill>
            <a:schemeClr val="accent1"/>
          </a:solidFill>
          <a:ln/>
        </p:spPr>
        <p:txBody>
          <a:bodyPr wrap="square" lIns="25400" tIns="25400" rIns="25400" bIns="25400" rtlCol="0" anchor="ctr"/>
          <a:lstStyle/>
          <a:p>
            <a:pPr algn="ctr" indent="0" marL="0">
              <a:buNone/>
            </a:pPr>
            <a:r>
              <a:rPr lang="en-US" sz="1100" dirty="0">
                <a:solidFill>
                  <a:schemeClr val="tx1"/>
                </a:solidFill>
                <a:latin typeface="Consolas" pitchFamily="34" charset="0"/>
                <a:ea typeface="Consolas" pitchFamily="34" charset="-122"/>
                <a:cs typeface="Consolas" pitchFamily="34" charset="-120"/>
              </a:rPr>
              <a:t>LateFeePolicy</a:t>
            </a:r>
            <a:endParaRPr lang="en-US" sz="1100" dirty="0"/>
          </a:p>
        </p:txBody>
      </p:sp>
      <p:sp>
        <p:nvSpPr>
          <p:cNvPr id="46" name="Text 278"/>
          <p:cNvSpPr txBox="1"/>
          <p:nvPr/>
        </p:nvSpPr>
        <p:spPr>
          <a:xfrm>
            <a:off x="6461608" y="5001768"/>
            <a:ext cx="2156384" cy="237744"/>
          </a:xfrm>
          <a:prstGeom prst="rect">
            <a:avLst/>
          </a:prstGeom>
          <a:noFill/>
          <a:ln/>
        </p:spPr>
        <p:txBody>
          <a:bodyPr wrap="square" lIns="0" tIns="0" rIns="0" bIns="0" rtlCol="0" anchor="t"/>
          <a:lstStyle/>
          <a:p>
            <a:pPr indent="0" marL="0">
              <a:buNone/>
            </a:pPr>
            <a:r>
              <a:rPr lang="en-US" sz="1100" dirty="0">
                <a:solidFill>
                  <a:schemeClr val="tx2"/>
                </a:solidFill>
              </a:rPr>
              <a:t>Standard, and fixed for tests</a:t>
            </a:r>
            <a:endParaRPr lang="en-US" sz="1100" dirty="0"/>
          </a:p>
        </p:txBody>
      </p:sp>
      <p:sp>
        <p:nvSpPr>
          <p:cNvPr id="47" name="Chip 279"/>
          <p:cNvSpPr/>
          <p:nvPr/>
        </p:nvSpPr>
        <p:spPr>
          <a:xfrm>
            <a:off x="9349511" y="4233672"/>
            <a:ext cx="51389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DRAFT</a:t>
            </a:r>
            <a:endParaRPr lang="en-US" sz="1000" dirty="0"/>
          </a:p>
        </p:txBody>
      </p:sp>
      <p:sp>
        <p:nvSpPr>
          <p:cNvPr id="48" name="Chip 280"/>
          <p:cNvSpPr/>
          <p:nvPr/>
        </p:nvSpPr>
        <p:spPr>
          <a:xfrm>
            <a:off x="9927412" y="4233672"/>
            <a:ext cx="4440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HELD</a:t>
            </a:r>
            <a:endParaRPr lang="en-US" sz="1000" dirty="0"/>
          </a:p>
        </p:txBody>
      </p:sp>
      <p:sp>
        <p:nvSpPr>
          <p:cNvPr id="49" name="Chip 281"/>
          <p:cNvSpPr/>
          <p:nvPr/>
        </p:nvSpPr>
        <p:spPr>
          <a:xfrm>
            <a:off x="10435453" y="4233672"/>
            <a:ext cx="7933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CONFIRMED</a:t>
            </a:r>
            <a:endParaRPr lang="en-US" sz="1000" dirty="0"/>
          </a:p>
        </p:txBody>
      </p:sp>
      <p:sp>
        <p:nvSpPr>
          <p:cNvPr id="50" name="Chip 282"/>
          <p:cNvSpPr/>
          <p:nvPr/>
        </p:nvSpPr>
        <p:spPr>
          <a:xfrm>
            <a:off x="9349511" y="4581144"/>
            <a:ext cx="79333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COLLECTED</a:t>
            </a:r>
            <a:endParaRPr lang="en-US" sz="1000" dirty="0"/>
          </a:p>
        </p:txBody>
      </p:sp>
      <p:sp>
        <p:nvSpPr>
          <p:cNvPr id="51" name="Chip 283"/>
          <p:cNvSpPr/>
          <p:nvPr/>
        </p:nvSpPr>
        <p:spPr>
          <a:xfrm>
            <a:off x="10206853" y="4581144"/>
            <a:ext cx="723473" cy="265176"/>
          </a:xfrm>
          <a:prstGeom prst="roundRect">
            <a:avLst>
              <a:gd name="adj" fmla="val 27586"/>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RETURNED</a:t>
            </a:r>
            <a:endParaRPr lang="en-US" sz="1000" dirty="0"/>
          </a:p>
        </p:txBody>
      </p:sp>
      <p:sp>
        <p:nvSpPr>
          <p:cNvPr id="52" name="Chip 284"/>
          <p:cNvSpPr/>
          <p:nvPr/>
        </p:nvSpPr>
        <p:spPr>
          <a:xfrm>
            <a:off x="9349511" y="4928616"/>
            <a:ext cx="79333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CANCELLED</a:t>
            </a:r>
            <a:endParaRPr lang="en-US" sz="1000" dirty="0"/>
          </a:p>
        </p:txBody>
      </p:sp>
      <p:sp>
        <p:nvSpPr>
          <p:cNvPr id="53" name="Chip 285"/>
          <p:cNvSpPr/>
          <p:nvPr/>
        </p:nvSpPr>
        <p:spPr>
          <a:xfrm>
            <a:off x="10206853" y="4928616"/>
            <a:ext cx="65361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EXPIRED</a:t>
            </a:r>
            <a:endParaRPr lang="en-US" sz="1000" dirty="0"/>
          </a:p>
        </p:txBody>
      </p:sp>
      <p:sp>
        <p:nvSpPr>
          <p:cNvPr id="54" name="Chip 286"/>
          <p:cNvSpPr/>
          <p:nvPr/>
        </p:nvSpPr>
        <p:spPr>
          <a:xfrm>
            <a:off x="10924474" y="4928616"/>
            <a:ext cx="653613" cy="265176"/>
          </a:xfrm>
          <a:prstGeom prst="roundRect">
            <a:avLst>
              <a:gd name="adj" fmla="val 27586"/>
            </a:avLst>
          </a:prstGeom>
          <a:solidFill>
            <a:schemeClr val="bg1"/>
          </a:solidFill>
          <a:ln w="12700">
            <a:solidFill>
              <a:schemeClr val="accent2"/>
            </a:solidFill>
            <a:prstDash val="solid"/>
          </a:ln>
        </p:spPr>
        <p:txBody>
          <a:bodyPr wrap="square" lIns="0" tIns="0" rIns="0" bIns="0" rtlCol="0" anchor="ctr"/>
          <a:lstStyle/>
          <a:p>
            <a:pPr algn="ctr" indent="0" marL="0">
              <a:buNone/>
            </a:pPr>
            <a:r>
              <a:rPr lang="en-US" sz="1000" dirty="0">
                <a:solidFill>
                  <a:schemeClr val="tx2"/>
                </a:solidFill>
                <a:latin typeface="Consolas" pitchFamily="34" charset="0"/>
                <a:ea typeface="Consolas" pitchFamily="34" charset="-122"/>
                <a:cs typeface="Consolas" pitchFamily="34" charset="-120"/>
              </a:rPr>
              <a:t>NO_SHOW</a:t>
            </a:r>
            <a:endParaRPr lang="en-US" sz="10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The database</a:t>
            </a:r>
            <a:endParaRPr lang="en-US" sz="3600" dirty="0"/>
          </a:p>
        </p:txBody>
      </p:sp>
      <p:sp>
        <p:nvSpPr>
          <p:cNvPr id="5" name="Card 287"/>
          <p:cNvSpPr/>
          <p:nvPr/>
        </p:nvSpPr>
        <p:spPr>
          <a:xfrm>
            <a:off x="457200" y="1645920"/>
            <a:ext cx="256032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288"/>
          <p:cNvSpPr txBox="1"/>
          <p:nvPr/>
        </p:nvSpPr>
        <p:spPr>
          <a:xfrm>
            <a:off x="685800" y="1737360"/>
            <a:ext cx="2103120" cy="713232"/>
          </a:xfrm>
          <a:prstGeom prst="rect">
            <a:avLst/>
          </a:prstGeom>
          <a:noFill/>
          <a:ln/>
        </p:spPr>
        <p:txBody>
          <a:bodyPr wrap="square" lIns="0" tIns="0" rIns="0" bIns="0" rtlCol="0" anchor="b"/>
          <a:lstStyle/>
          <a:p>
            <a:pPr indent="0" marL="0">
              <a:buNone/>
            </a:pPr>
            <a:r>
              <a:rPr lang="en-US" sz="4400" b="1" dirty="0">
                <a:solidFill>
                  <a:schemeClr val="tx1"/>
                </a:solidFill>
              </a:rPr>
              <a:t>17</a:t>
            </a:r>
            <a:endParaRPr lang="en-US" sz="4400" dirty="0"/>
          </a:p>
        </p:txBody>
      </p:sp>
      <p:sp>
        <p:nvSpPr>
          <p:cNvPr id="7" name="Text 289"/>
          <p:cNvSpPr txBox="1"/>
          <p:nvPr/>
        </p:nvSpPr>
        <p:spPr>
          <a:xfrm>
            <a:off x="685800" y="2505456"/>
            <a:ext cx="2103120" cy="365760"/>
          </a:xfrm>
          <a:prstGeom prst="rect">
            <a:avLst/>
          </a:prstGeom>
          <a:noFill/>
          <a:ln/>
        </p:spPr>
        <p:txBody>
          <a:bodyPr wrap="square" lIns="0" tIns="0" rIns="0" bIns="0" rtlCol="0" anchor="t"/>
          <a:lstStyle/>
          <a:p>
            <a:pPr indent="0" marL="0">
              <a:buNone/>
            </a:pPr>
            <a:r>
              <a:rPr lang="en-US" sz="1400" dirty="0">
                <a:solidFill>
                  <a:schemeClr val="tx2"/>
                </a:solidFill>
              </a:rPr>
              <a:t>tables with singular names</a:t>
            </a:r>
            <a:endParaRPr lang="en-US" sz="1400" dirty="0"/>
          </a:p>
        </p:txBody>
      </p:sp>
      <p:sp>
        <p:nvSpPr>
          <p:cNvPr id="8" name="Card 290"/>
          <p:cNvSpPr/>
          <p:nvPr/>
        </p:nvSpPr>
        <p:spPr>
          <a:xfrm>
            <a:off x="3291840" y="1645920"/>
            <a:ext cx="2560320" cy="1417320"/>
          </a:xfrm>
          <a:prstGeom prst="roundRect">
            <a:avLst>
              <a:gd name="adj" fmla="val 645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291"/>
          <p:cNvSpPr txBox="1"/>
          <p:nvPr/>
        </p:nvSpPr>
        <p:spPr>
          <a:xfrm>
            <a:off x="3520440" y="1737360"/>
            <a:ext cx="2103120" cy="713232"/>
          </a:xfrm>
          <a:prstGeom prst="rect">
            <a:avLst/>
          </a:prstGeom>
          <a:noFill/>
          <a:ln/>
        </p:spPr>
        <p:txBody>
          <a:bodyPr wrap="square" lIns="0" tIns="0" rIns="0" bIns="0" rtlCol="0" anchor="b"/>
          <a:lstStyle/>
          <a:p>
            <a:pPr indent="0" marL="0">
              <a:buNone/>
            </a:pPr>
            <a:r>
              <a:rPr lang="en-US" sz="4400" b="1" dirty="0">
                <a:solidFill>
                  <a:schemeClr val="tx1"/>
                </a:solidFill>
              </a:rPr>
              <a:t>6</a:t>
            </a:r>
            <a:endParaRPr lang="en-US" sz="4400" dirty="0"/>
          </a:p>
        </p:txBody>
      </p:sp>
      <p:sp>
        <p:nvSpPr>
          <p:cNvPr id="10" name="Text 292"/>
          <p:cNvSpPr txBox="1"/>
          <p:nvPr/>
        </p:nvSpPr>
        <p:spPr>
          <a:xfrm>
            <a:off x="3520440" y="2505456"/>
            <a:ext cx="2103120" cy="365760"/>
          </a:xfrm>
          <a:prstGeom prst="rect">
            <a:avLst/>
          </a:prstGeom>
          <a:noFill/>
          <a:ln/>
        </p:spPr>
        <p:txBody>
          <a:bodyPr wrap="square" lIns="0" tIns="0" rIns="0" bIns="0" rtlCol="0" anchor="t"/>
          <a:lstStyle/>
          <a:p>
            <a:pPr indent="0" marL="0">
              <a:buNone/>
            </a:pPr>
            <a:r>
              <a:rPr lang="en-US" sz="1400" dirty="0">
                <a:solidFill>
                  <a:schemeClr val="tx2"/>
                </a:solidFill>
              </a:rPr>
              <a:t>hand written migrations</a:t>
            </a:r>
            <a:endParaRPr lang="en-US" sz="1400" dirty="0"/>
          </a:p>
        </p:txBody>
      </p:sp>
      <p:sp>
        <p:nvSpPr>
          <p:cNvPr id="11" name="Card 293"/>
          <p:cNvSpPr/>
          <p:nvPr/>
        </p:nvSpPr>
        <p:spPr>
          <a:xfrm>
            <a:off x="457200" y="3337560"/>
            <a:ext cx="5394960" cy="1120140"/>
          </a:xfrm>
          <a:prstGeom prst="roundRect">
            <a:avLst>
              <a:gd name="adj" fmla="val 816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check 294"/>
          <p:cNvSpPr/>
          <p:nvPr/>
        </p:nvSpPr>
        <p:spPr>
          <a:xfrm>
            <a:off x="731520" y="3614166"/>
            <a:ext cx="566928" cy="566928"/>
          </a:xfrm>
          <a:prstGeom prst="ellipse">
            <a:avLst/>
          </a:prstGeom>
          <a:solidFill>
            <a:schemeClr val="accent1"/>
          </a:solidFill>
          <a:ln/>
        </p:spPr>
      </p:sp>
      <p:sp>
        <p:nvSpPr>
          <p:cNvPr id="13" name="Glyph stroke 296"/>
          <p:cNvSpPr/>
          <p:nvPr/>
        </p:nvSpPr>
        <p:spPr>
          <a:xfrm>
            <a:off x="890260" y="3903299"/>
            <a:ext cx="90708" cy="90708"/>
          </a:xfrm>
          <a:prstGeom prst="line">
            <a:avLst/>
          </a:prstGeom>
          <a:noFill/>
          <a:ln w="44450">
            <a:solidFill>
              <a:schemeClr val="tx1"/>
            </a:solidFill>
            <a:prstDash val="solid"/>
          </a:ln>
        </p:spPr>
      </p:sp>
      <p:sp>
        <p:nvSpPr>
          <p:cNvPr id="14" name="Glyph stroke 297"/>
          <p:cNvSpPr/>
          <p:nvPr/>
        </p:nvSpPr>
        <p:spPr>
          <a:xfrm flipV="1">
            <a:off x="980968" y="3806922"/>
            <a:ext cx="164409" cy="187086"/>
          </a:xfrm>
          <a:prstGeom prst="line">
            <a:avLst/>
          </a:prstGeom>
          <a:noFill/>
          <a:ln w="44450">
            <a:solidFill>
              <a:schemeClr val="tx1"/>
            </a:solidFill>
            <a:prstDash val="solid"/>
          </a:ln>
        </p:spPr>
      </p:sp>
      <p:sp>
        <p:nvSpPr>
          <p:cNvPr id="15" name="Text 298"/>
          <p:cNvSpPr txBox="1"/>
          <p:nvPr/>
        </p:nvSpPr>
        <p:spPr>
          <a:xfrm>
            <a:off x="1527048" y="3429000"/>
            <a:ext cx="4050792" cy="937260"/>
          </a:xfrm>
          <a:prstGeom prst="rect">
            <a:avLst/>
          </a:prstGeom>
          <a:noFill/>
          <a:ln/>
        </p:spPr>
        <p:txBody>
          <a:bodyPr wrap="square" lIns="0" tIns="0" rIns="0" bIns="0" rtlCol="0" anchor="ctr"/>
          <a:lstStyle/>
          <a:p>
            <a:pPr indent="0" marL="0">
              <a:buNone/>
            </a:pPr>
            <a:r>
              <a:rPr lang="en-US" sz="1800" b="1" dirty="0">
                <a:solidFill>
                  <a:schemeClr val="tx1"/>
                </a:solidFill>
              </a:rPr>
              <a:t>Keys and indexes</a:t>
            </a:r>
            <a:endParaRPr lang="en-US" sz="1400" dirty="0"/>
          </a:p>
          <a:p>
            <a:pPr indent="0" marL="0">
              <a:spcBef>
                <a:spcPts val="300"/>
              </a:spcBef>
              <a:buNone/>
            </a:pPr>
            <a:r>
              <a:rPr lang="en-US" sz="1400" dirty="0">
                <a:solidFill>
                  <a:schemeClr val="tx2"/>
                </a:solidFill>
              </a:rPr>
              <a:t>Composite keys and partial indexes, and tests that prove each index is used</a:t>
            </a:r>
            <a:endParaRPr lang="en-US" sz="1400" dirty="0"/>
          </a:p>
        </p:txBody>
      </p:sp>
      <p:sp>
        <p:nvSpPr>
          <p:cNvPr id="16" name="Card 299"/>
          <p:cNvSpPr/>
          <p:nvPr/>
        </p:nvSpPr>
        <p:spPr>
          <a:xfrm>
            <a:off x="457200" y="4732020"/>
            <a:ext cx="5394960" cy="1120140"/>
          </a:xfrm>
          <a:prstGeom prst="roundRect">
            <a:avLst>
              <a:gd name="adj" fmla="val 8163"/>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7" name="Icon lock 300"/>
          <p:cNvSpPr/>
          <p:nvPr/>
        </p:nvSpPr>
        <p:spPr>
          <a:xfrm>
            <a:off x="731520" y="5008626"/>
            <a:ext cx="566928" cy="566928"/>
          </a:xfrm>
          <a:prstGeom prst="ellipse">
            <a:avLst/>
          </a:prstGeom>
          <a:solidFill>
            <a:schemeClr val="accent1"/>
          </a:solidFill>
          <a:ln/>
        </p:spPr>
      </p:sp>
      <p:sp>
        <p:nvSpPr>
          <p:cNvPr id="18" name="Glyph part 302"/>
          <p:cNvSpPr/>
          <p:nvPr/>
        </p:nvSpPr>
        <p:spPr>
          <a:xfrm>
            <a:off x="941283" y="5150358"/>
            <a:ext cx="147401" cy="204094"/>
          </a:xfrm>
          <a:prstGeom prst="ellipse">
            <a:avLst/>
          </a:prstGeom>
          <a:noFill/>
          <a:ln w="31750">
            <a:solidFill>
              <a:schemeClr val="tx1"/>
            </a:solidFill>
            <a:prstDash val="solid"/>
          </a:ln>
        </p:spPr>
      </p:sp>
      <p:sp>
        <p:nvSpPr>
          <p:cNvPr id="19" name="Glyph part 303"/>
          <p:cNvSpPr/>
          <p:nvPr/>
        </p:nvSpPr>
        <p:spPr>
          <a:xfrm>
            <a:off x="895929" y="5269413"/>
            <a:ext cx="238110" cy="164409"/>
          </a:xfrm>
          <a:prstGeom prst="roundRect">
            <a:avLst>
              <a:gd name="adj" fmla="val 13793"/>
            </a:avLst>
          </a:prstGeom>
          <a:solidFill>
            <a:schemeClr val="tx1"/>
          </a:solidFill>
          <a:ln/>
        </p:spPr>
      </p:sp>
      <p:sp>
        <p:nvSpPr>
          <p:cNvPr id="20" name="Glyph part 304"/>
          <p:cNvSpPr/>
          <p:nvPr/>
        </p:nvSpPr>
        <p:spPr>
          <a:xfrm>
            <a:off x="992307" y="5320436"/>
            <a:ext cx="45354" cy="45354"/>
          </a:xfrm>
          <a:prstGeom prst="ellipse">
            <a:avLst/>
          </a:prstGeom>
          <a:solidFill>
            <a:schemeClr val="accent1"/>
          </a:solidFill>
          <a:ln/>
        </p:spPr>
      </p:sp>
      <p:sp>
        <p:nvSpPr>
          <p:cNvPr id="21" name="Text 305"/>
          <p:cNvSpPr txBox="1"/>
          <p:nvPr/>
        </p:nvSpPr>
        <p:spPr>
          <a:xfrm>
            <a:off x="1527048" y="4823460"/>
            <a:ext cx="4050792" cy="937260"/>
          </a:xfrm>
          <a:prstGeom prst="rect">
            <a:avLst/>
          </a:prstGeom>
          <a:noFill/>
          <a:ln/>
        </p:spPr>
        <p:txBody>
          <a:bodyPr wrap="square" lIns="0" tIns="0" rIns="0" bIns="0" rtlCol="0" anchor="ctr"/>
          <a:lstStyle/>
          <a:p>
            <a:pPr indent="0" marL="0">
              <a:buNone/>
            </a:pPr>
            <a:r>
              <a:rPr lang="en-US" sz="1800" b="1" dirty="0">
                <a:solidFill>
                  <a:schemeClr val="tx1"/>
                </a:solidFill>
              </a:rPr>
              <a:t>Two database roles</a:t>
            </a:r>
            <a:endParaRPr lang="en-US" sz="1400" dirty="0"/>
          </a:p>
          <a:p>
            <a:pPr indent="0" marL="0">
              <a:spcBef>
                <a:spcPts val="300"/>
              </a:spcBef>
              <a:buNone/>
            </a:pPr>
            <a:r>
              <a:rPr lang="en-US" sz="1400" dirty="0">
                <a:solidFill>
                  <a:schemeClr val="tx2"/>
                </a:solidFill>
              </a:rPr>
              <a:t>The running application cannot change the schema or rewrite the audit trail</a:t>
            </a:r>
            <a:endParaRPr lang="en-US" sz="1400" dirty="0"/>
          </a:p>
        </p:txBody>
      </p:sp>
      <p:sp>
        <p:nvSpPr>
          <p:cNvPr id="22" name="Card 306"/>
          <p:cNvSpPr/>
          <p:nvPr/>
        </p:nvSpPr>
        <p:spPr>
          <a:xfrm>
            <a:off x="6217920" y="1645920"/>
            <a:ext cx="5516575" cy="1783080"/>
          </a:xfrm>
          <a:prstGeom prst="roundRect">
            <a:avLst>
              <a:gd name="adj" fmla="val 5128"/>
            </a:avLst>
          </a:prstGeom>
          <a:solidFill>
            <a:schemeClr val="tx1"/>
          </a:solidFill>
          <a:ln/>
          <a:effectLst>
            <a:outerShdw sx="100000" sy="100000" kx="0" ky="0" algn="bl" rotWithShape="0" blurRad="101600" dist="25400" dir="5400000">
              <a:srgbClr val="141613">
                <a:alpha val="10000"/>
              </a:srgbClr>
            </a:outerShdw>
          </a:effectLst>
        </p:spPr>
      </p:sp>
      <p:sp>
        <p:nvSpPr>
          <p:cNvPr id="23" name="Text 307"/>
          <p:cNvSpPr txBox="1"/>
          <p:nvPr/>
        </p:nvSpPr>
        <p:spPr>
          <a:xfrm>
            <a:off x="6492240" y="1783080"/>
            <a:ext cx="274320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THE CONSTRAINT</a:t>
            </a:r>
            <a:endParaRPr lang="en-US" sz="1100" dirty="0"/>
          </a:p>
        </p:txBody>
      </p:sp>
      <p:sp>
        <p:nvSpPr>
          <p:cNvPr id="24" name="Text 308"/>
          <p:cNvSpPr txBox="1"/>
          <p:nvPr/>
        </p:nvSpPr>
        <p:spPr>
          <a:xfrm>
            <a:off x="6492240" y="2084832"/>
            <a:ext cx="5059375" cy="1234440"/>
          </a:xfrm>
          <a:prstGeom prst="rect">
            <a:avLst/>
          </a:prstGeom>
          <a:noFill/>
          <a:ln/>
        </p:spPr>
        <p:txBody>
          <a:bodyPr wrap="square" lIns="0" tIns="0" rIns="0" bIns="0" rtlCol="0" anchor="t"/>
          <a:lstStyle/>
          <a:p>
            <a:pPr indent="0" marL="0">
              <a:buNone/>
            </a:pPr>
            <a:r>
              <a:rPr lang="en-US" sz="1300" b="1" dirty="0">
                <a:solidFill>
                  <a:schemeClr val="accent1"/>
                </a:solidFill>
                <a:latin typeface="Consolas" pitchFamily="34" charset="0"/>
                <a:ea typeface="Consolas" pitchFamily="34" charset="-122"/>
                <a:cs typeface="Consolas" pitchFamily="34" charset="-120"/>
              </a:rPr>
              <a:t>ALTER TABLE </a:t>
            </a:r>
            <a:pPr indent="0" marL="0">
              <a:buNone/>
            </a:pPr>
            <a:r>
              <a:rPr lang="en-US" sz="1300" dirty="0">
                <a:solidFill>
                  <a:schemeClr val="bg1"/>
                </a:solidFill>
                <a:latin typeface="Consolas" pitchFamily="34" charset="0"/>
                <a:ea typeface="Consolas" pitchFamily="34" charset="-122"/>
                <a:cs typeface="Consolas" pitchFamily="34" charset="-120"/>
              </a:rPr>
              <a:t>asset_allocation</a:t>
            </a:r>
            <a:endParaRPr lang="en-US" sz="1300" dirty="0"/>
          </a:p>
          <a:p>
            <a:pPr indent="0" marL="0">
              <a:buNone/>
            </a:pPr>
            <a:r>
              <a:rPr lang="en-US" sz="1300" b="1" dirty="0">
                <a:solidFill>
                  <a:schemeClr val="accent1"/>
                </a:solidFill>
                <a:latin typeface="Consolas" pitchFamily="34" charset="0"/>
                <a:ea typeface="Consolas" pitchFamily="34" charset="-122"/>
                <a:cs typeface="Consolas" pitchFamily="34" charset="-120"/>
              </a:rPr>
              <a:t>ADD CONSTRAINT </a:t>
            </a:r>
            <a:pPr indent="0" marL="0">
              <a:buNone/>
            </a:pPr>
            <a:r>
              <a:rPr lang="en-US" sz="1300" dirty="0">
                <a:solidFill>
                  <a:schemeClr val="bg1"/>
                </a:solidFill>
                <a:latin typeface="Consolas" pitchFamily="34" charset="0"/>
                <a:ea typeface="Consolas" pitchFamily="34" charset="-122"/>
                <a:cs typeface="Consolas" pitchFamily="34" charset="-120"/>
              </a:rPr>
              <a:t>asset_allocation_no_overlap</a:t>
            </a:r>
            <a:endParaRPr lang="en-US" sz="1300" dirty="0"/>
          </a:p>
          <a:p>
            <a:pPr indent="0" marL="0">
              <a:buNone/>
            </a:pPr>
            <a:r>
              <a:rPr lang="en-US" sz="1300" b="1" dirty="0">
                <a:solidFill>
                  <a:schemeClr val="accent1"/>
                </a:solidFill>
                <a:latin typeface="Consolas" pitchFamily="34" charset="0"/>
                <a:ea typeface="Consolas" pitchFamily="34" charset="-122"/>
                <a:cs typeface="Consolas" pitchFamily="34" charset="-120"/>
              </a:rPr>
              <a:t>EXCLUDE USING gist </a:t>
            </a:r>
            <a:pPr indent="0" marL="0">
              <a:buNone/>
            </a:pPr>
            <a:r>
              <a:rPr lang="en-US" sz="1300" dirty="0">
                <a:solidFill>
                  <a:schemeClr val="bg1"/>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asset_id </a:t>
            </a:r>
            <a:pPr indent="0" marL="0">
              <a:buNone/>
            </a:pPr>
            <a:r>
              <a:rPr lang="en-US" sz="1300" b="1" dirty="0">
                <a:solidFill>
                  <a:schemeClr val="accent1"/>
                </a:solidFill>
                <a:latin typeface="Consolas" pitchFamily="34" charset="0"/>
                <a:ea typeface="Consolas" pitchFamily="34" charset="-122"/>
                <a:cs typeface="Consolas" pitchFamily="34" charset="-120"/>
              </a:rPr>
              <a:t>WITH =</a:t>
            </a:r>
            <a:pPr indent="0" marL="0">
              <a:buNone/>
            </a:pPr>
            <a:r>
              <a:rPr lang="en-US" sz="1300" dirty="0">
                <a:solidFill>
                  <a:schemeClr val="bg1"/>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daterange(start_date, end_date, '[)') </a:t>
            </a:r>
            <a:pPr indent="0" marL="0">
              <a:buNone/>
            </a:pPr>
            <a:r>
              <a:rPr lang="en-US" sz="1300" b="1" dirty="0">
                <a:solidFill>
                  <a:schemeClr val="accent1"/>
                </a:solidFill>
                <a:latin typeface="Consolas" pitchFamily="34" charset="0"/>
                <a:ea typeface="Consolas" pitchFamily="34" charset="-122"/>
                <a:cs typeface="Consolas" pitchFamily="34" charset="-120"/>
              </a:rPr>
              <a:t>WITH &amp;&amp;</a:t>
            </a:r>
            <a:endParaRPr lang="en-US" sz="1300" dirty="0"/>
          </a:p>
          <a:p>
            <a:pPr indent="0" marL="0">
              <a:buNone/>
            </a:pPr>
            <a:r>
              <a:rPr lang="en-US" sz="1300" dirty="0">
                <a:solidFill>
                  <a:schemeClr val="bg1"/>
                </a:solidFill>
                <a:latin typeface="Consolas" pitchFamily="34" charset="0"/>
                <a:ea typeface="Consolas" pitchFamily="34" charset="-122"/>
                <a:cs typeface="Consolas" pitchFamily="34" charset="-120"/>
              </a:rPr>
              <a:t>) </a:t>
            </a:r>
            <a:pPr indent="0" marL="0">
              <a:buNone/>
            </a:pPr>
            <a:r>
              <a:rPr lang="en-US" sz="1300" b="1" dirty="0">
                <a:solidFill>
                  <a:schemeClr val="accent1"/>
                </a:solidFill>
                <a:latin typeface="Consolas" pitchFamily="34" charset="0"/>
                <a:ea typeface="Consolas" pitchFamily="34" charset="-122"/>
                <a:cs typeface="Consolas" pitchFamily="34" charset="-120"/>
              </a:rPr>
              <a:t>WHERE </a:t>
            </a:r>
            <a:pPr indent="0" marL="0">
              <a:buNone/>
            </a:pPr>
            <a:r>
              <a:rPr lang="en-US" sz="1300" dirty="0">
                <a:solidFill>
                  <a:schemeClr val="bg1"/>
                </a:solidFill>
                <a:latin typeface="Consolas" pitchFamily="34" charset="0"/>
                <a:ea typeface="Consolas" pitchFamily="34" charset="-122"/>
                <a:cs typeface="Consolas" pitchFamily="34" charset="-120"/>
              </a:rPr>
              <a:t>(released_at IS NULL);</a:t>
            </a:r>
            <a:endParaRPr lang="en-US" sz="1300" dirty="0"/>
          </a:p>
        </p:txBody>
      </p:sp>
      <p:sp>
        <p:nvSpPr>
          <p:cNvPr id="25" name="Card 309"/>
          <p:cNvSpPr/>
          <p:nvPr/>
        </p:nvSpPr>
        <p:spPr>
          <a:xfrm>
            <a:off x="6217920" y="3703320"/>
            <a:ext cx="5516575" cy="2148840"/>
          </a:xfrm>
          <a:prstGeom prst="roundRect">
            <a:avLst>
              <a:gd name="adj" fmla="val 425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Text 310"/>
          <p:cNvSpPr txBox="1"/>
          <p:nvPr/>
        </p:nvSpPr>
        <p:spPr>
          <a:xfrm>
            <a:off x="6492240" y="3840480"/>
            <a:ext cx="4967935" cy="292608"/>
          </a:xfrm>
          <a:prstGeom prst="rect">
            <a:avLst/>
          </a:prstGeom>
          <a:noFill/>
          <a:ln/>
        </p:spPr>
        <p:txBody>
          <a:bodyPr wrap="square" lIns="0" tIns="0" rIns="0" bIns="0" rtlCol="0" anchor="t"/>
          <a:lstStyle/>
          <a:p>
            <a:pPr indent="0" marL="0">
              <a:buNone/>
            </a:pPr>
            <a:r>
              <a:rPr lang="en-US" sz="1600" b="1" dirty="0">
                <a:solidFill>
                  <a:schemeClr val="tx1"/>
                </a:solidFill>
              </a:rPr>
              <a:t>One unit, half open periods</a:t>
            </a:r>
            <a:endParaRPr lang="en-US" sz="1600" dirty="0"/>
          </a:p>
        </p:txBody>
      </p:sp>
      <p:sp>
        <p:nvSpPr>
          <p:cNvPr id="27" name="Connector 311"/>
          <p:cNvSpPr/>
          <p:nvPr/>
        </p:nvSpPr>
        <p:spPr>
          <a:xfrm>
            <a:off x="8220456" y="4215384"/>
            <a:ext cx="0" cy="731520"/>
          </a:xfrm>
          <a:prstGeom prst="line">
            <a:avLst/>
          </a:prstGeom>
          <a:noFill/>
          <a:ln w="12700">
            <a:solidFill>
              <a:srgbClr val="5D6B7E"/>
            </a:solidFill>
            <a:prstDash val="dash"/>
          </a:ln>
        </p:spPr>
      </p:sp>
      <p:sp>
        <p:nvSpPr>
          <p:cNvPr id="28" name="Chip 312"/>
          <p:cNvSpPr/>
          <p:nvPr/>
        </p:nvSpPr>
        <p:spPr>
          <a:xfrm>
            <a:off x="6537960" y="4270248"/>
            <a:ext cx="1682496" cy="274320"/>
          </a:xfrm>
          <a:prstGeom prst="roundRect">
            <a:avLst>
              <a:gd name="adj" fmla="val 16667"/>
            </a:avLst>
          </a:prstGeom>
          <a:solidFill>
            <a:schemeClr val="tx1"/>
          </a:solidFill>
          <a:ln/>
        </p:spPr>
        <p:txBody>
          <a:bodyPr wrap="square" lIns="25400" tIns="25400" rIns="25400" bIns="25400" rtlCol="0" anchor="ctr"/>
          <a:lstStyle/>
          <a:p>
            <a:pPr algn="ctr" indent="0" marL="0">
              <a:buNone/>
            </a:pPr>
            <a:r>
              <a:rPr lang="en-US" sz="1200" b="1" dirty="0">
                <a:solidFill>
                  <a:schemeClr val="bg1"/>
                </a:solidFill>
              </a:rPr>
              <a:t>Hire A</a:t>
            </a:r>
            <a:endParaRPr lang="en-US" sz="1200" dirty="0"/>
          </a:p>
        </p:txBody>
      </p:sp>
      <p:sp>
        <p:nvSpPr>
          <p:cNvPr id="29" name="Text 313"/>
          <p:cNvSpPr txBox="1"/>
          <p:nvPr/>
        </p:nvSpPr>
        <p:spPr>
          <a:xfrm>
            <a:off x="8311896" y="4270248"/>
            <a:ext cx="3239719" cy="274320"/>
          </a:xfrm>
          <a:prstGeom prst="rect">
            <a:avLst/>
          </a:prstGeom>
          <a:noFill/>
          <a:ln/>
        </p:spPr>
        <p:txBody>
          <a:bodyPr wrap="square" lIns="0" tIns="0" rIns="0" bIns="0" rtlCol="0" anchor="ctr"/>
          <a:lstStyle/>
          <a:p>
            <a:pPr indent="0" marL="0">
              <a:buNone/>
            </a:pPr>
            <a:r>
              <a:rPr lang="en-US" sz="1200" dirty="0">
                <a:solidFill>
                  <a:schemeClr val="tx2"/>
                </a:solidFill>
              </a:rPr>
              <a:t>returned on the 12th</a:t>
            </a:r>
            <a:endParaRPr lang="en-US" sz="1200" dirty="0"/>
          </a:p>
        </p:txBody>
      </p:sp>
      <p:sp>
        <p:nvSpPr>
          <p:cNvPr id="30" name="Chip 314"/>
          <p:cNvSpPr/>
          <p:nvPr/>
        </p:nvSpPr>
        <p:spPr>
          <a:xfrm>
            <a:off x="8220456" y="4636008"/>
            <a:ext cx="1682496" cy="274320"/>
          </a:xfrm>
          <a:prstGeom prst="roundRect">
            <a:avLst>
              <a:gd name="adj" fmla="val 16667"/>
            </a:avLst>
          </a:prstGeom>
          <a:solidFill>
            <a:schemeClr val="accent3"/>
          </a:solidFill>
          <a:ln/>
        </p:spPr>
        <p:txBody>
          <a:bodyPr wrap="square" lIns="25400" tIns="25400" rIns="25400" bIns="25400" rtlCol="0" anchor="ctr"/>
          <a:lstStyle/>
          <a:p>
            <a:pPr algn="ctr" indent="0" marL="0">
              <a:buNone/>
            </a:pPr>
            <a:r>
              <a:rPr lang="en-US" sz="1200" b="1" dirty="0">
                <a:solidFill>
                  <a:schemeClr val="bg1"/>
                </a:solidFill>
              </a:rPr>
              <a:t>Hire B</a:t>
            </a:r>
            <a:endParaRPr lang="en-US" sz="1200" dirty="0"/>
          </a:p>
        </p:txBody>
      </p:sp>
      <p:sp>
        <p:nvSpPr>
          <p:cNvPr id="31" name="Text 315"/>
          <p:cNvSpPr txBox="1"/>
          <p:nvPr/>
        </p:nvSpPr>
        <p:spPr>
          <a:xfrm>
            <a:off x="9994392" y="4636008"/>
            <a:ext cx="1557223" cy="274320"/>
          </a:xfrm>
          <a:prstGeom prst="rect">
            <a:avLst/>
          </a:prstGeom>
          <a:noFill/>
          <a:ln/>
        </p:spPr>
        <p:txBody>
          <a:bodyPr wrap="square" lIns="0" tIns="0" rIns="0" bIns="0" rtlCol="0" anchor="ctr"/>
          <a:lstStyle/>
          <a:p>
            <a:pPr indent="0" marL="0">
              <a:buNone/>
            </a:pPr>
            <a:r>
              <a:rPr lang="en-US" sz="1200" b="1" dirty="0">
                <a:solidFill>
                  <a:schemeClr val="accent3"/>
                </a:solidFill>
              </a:rPr>
              <a:t>allowed</a:t>
            </a:r>
            <a:endParaRPr lang="en-US" sz="1200" dirty="0"/>
          </a:p>
        </p:txBody>
      </p:sp>
      <p:sp>
        <p:nvSpPr>
          <p:cNvPr id="32" name="Chip 316"/>
          <p:cNvSpPr/>
          <p:nvPr/>
        </p:nvSpPr>
        <p:spPr>
          <a:xfrm>
            <a:off x="7379208" y="5001768"/>
            <a:ext cx="1682496" cy="274320"/>
          </a:xfrm>
          <a:prstGeom prst="roundRect">
            <a:avLst>
              <a:gd name="adj" fmla="val 16667"/>
            </a:avLst>
          </a:prstGeom>
          <a:solidFill>
            <a:srgbClr val="FEF2F2"/>
          </a:solidFill>
          <a:ln w="12700">
            <a:solidFill>
              <a:schemeClr val="accent6"/>
            </a:solidFill>
            <a:prstDash val="dash"/>
          </a:ln>
        </p:spPr>
        <p:txBody>
          <a:bodyPr wrap="square" lIns="25400" tIns="25400" rIns="25400" bIns="25400" rtlCol="0" anchor="ctr"/>
          <a:lstStyle/>
          <a:p>
            <a:pPr algn="ctr" indent="0" marL="0">
              <a:buNone/>
            </a:pPr>
            <a:r>
              <a:rPr lang="en-US" sz="1200" b="1" dirty="0">
                <a:solidFill>
                  <a:schemeClr val="accent6"/>
                </a:solidFill>
              </a:rPr>
              <a:t>Hire C</a:t>
            </a:r>
            <a:endParaRPr lang="en-US" sz="1200" dirty="0"/>
          </a:p>
        </p:txBody>
      </p:sp>
      <p:sp>
        <p:nvSpPr>
          <p:cNvPr id="33" name="Text 317"/>
          <p:cNvSpPr txBox="1"/>
          <p:nvPr/>
        </p:nvSpPr>
        <p:spPr>
          <a:xfrm>
            <a:off x="9153144" y="5001768"/>
            <a:ext cx="2398471" cy="274320"/>
          </a:xfrm>
          <a:prstGeom prst="rect">
            <a:avLst/>
          </a:prstGeom>
          <a:noFill/>
          <a:ln/>
        </p:spPr>
        <p:txBody>
          <a:bodyPr wrap="square" lIns="0" tIns="0" rIns="0" bIns="0" rtlCol="0" anchor="ctr"/>
          <a:lstStyle/>
          <a:p>
            <a:pPr indent="0" marL="0">
              <a:buNone/>
            </a:pPr>
            <a:r>
              <a:rPr lang="en-US" sz="1200" b="1" dirty="0">
                <a:solidFill>
                  <a:schemeClr val="accent6"/>
                </a:solidFill>
              </a:rPr>
              <a:t>refused, it overlaps Hire A</a:t>
            </a:r>
            <a:endParaRPr lang="en-US" sz="1200" dirty="0"/>
          </a:p>
        </p:txBody>
      </p:sp>
      <p:sp>
        <p:nvSpPr>
          <p:cNvPr id="34" name="Connector 318"/>
          <p:cNvSpPr/>
          <p:nvPr/>
        </p:nvSpPr>
        <p:spPr>
          <a:xfrm>
            <a:off x="6537960" y="5477256"/>
            <a:ext cx="4206240" cy="0"/>
          </a:xfrm>
          <a:prstGeom prst="line">
            <a:avLst/>
          </a:prstGeom>
          <a:noFill/>
          <a:ln w="12700">
            <a:solidFill>
              <a:schemeClr val="tx2"/>
            </a:solidFill>
            <a:prstDash val="solid"/>
          </a:ln>
        </p:spPr>
      </p:sp>
      <p:sp>
        <p:nvSpPr>
          <p:cNvPr id="35" name="Glyph part 319"/>
          <p:cNvSpPr/>
          <p:nvPr/>
        </p:nvSpPr>
        <p:spPr>
          <a:xfrm>
            <a:off x="6533388" y="5431536"/>
            <a:ext cx="9144" cy="91440"/>
          </a:xfrm>
          <a:prstGeom prst="rect">
            <a:avLst/>
          </a:prstGeom>
          <a:solidFill>
            <a:schemeClr val="tx2"/>
          </a:solidFill>
          <a:ln/>
        </p:spPr>
      </p:sp>
      <p:sp>
        <p:nvSpPr>
          <p:cNvPr id="36" name="Text 320"/>
          <p:cNvSpPr txBox="1"/>
          <p:nvPr/>
        </p:nvSpPr>
        <p:spPr>
          <a:xfrm>
            <a:off x="6263640"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10th</a:t>
            </a:r>
            <a:endParaRPr lang="en-US" sz="1100" dirty="0"/>
          </a:p>
        </p:txBody>
      </p:sp>
      <p:sp>
        <p:nvSpPr>
          <p:cNvPr id="37" name="Glyph part 321"/>
          <p:cNvSpPr/>
          <p:nvPr/>
        </p:nvSpPr>
        <p:spPr>
          <a:xfrm>
            <a:off x="7374636" y="5431536"/>
            <a:ext cx="9144" cy="91440"/>
          </a:xfrm>
          <a:prstGeom prst="rect">
            <a:avLst/>
          </a:prstGeom>
          <a:solidFill>
            <a:schemeClr val="tx2"/>
          </a:solidFill>
          <a:ln/>
        </p:spPr>
      </p:sp>
      <p:sp>
        <p:nvSpPr>
          <p:cNvPr id="38" name="Text 322"/>
          <p:cNvSpPr txBox="1"/>
          <p:nvPr/>
        </p:nvSpPr>
        <p:spPr>
          <a:xfrm>
            <a:off x="7104888"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11th</a:t>
            </a:r>
            <a:endParaRPr lang="en-US" sz="1100" dirty="0"/>
          </a:p>
        </p:txBody>
      </p:sp>
      <p:sp>
        <p:nvSpPr>
          <p:cNvPr id="39" name="Glyph part 323"/>
          <p:cNvSpPr/>
          <p:nvPr/>
        </p:nvSpPr>
        <p:spPr>
          <a:xfrm>
            <a:off x="8215884" y="5431536"/>
            <a:ext cx="9144" cy="91440"/>
          </a:xfrm>
          <a:prstGeom prst="rect">
            <a:avLst/>
          </a:prstGeom>
          <a:solidFill>
            <a:schemeClr val="tx2"/>
          </a:solidFill>
          <a:ln/>
        </p:spPr>
      </p:sp>
      <p:sp>
        <p:nvSpPr>
          <p:cNvPr id="40" name="Text 324"/>
          <p:cNvSpPr txBox="1"/>
          <p:nvPr/>
        </p:nvSpPr>
        <p:spPr>
          <a:xfrm>
            <a:off x="7946136"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12th</a:t>
            </a:r>
            <a:endParaRPr lang="en-US" sz="1100" dirty="0"/>
          </a:p>
        </p:txBody>
      </p:sp>
      <p:sp>
        <p:nvSpPr>
          <p:cNvPr id="41" name="Glyph part 325"/>
          <p:cNvSpPr/>
          <p:nvPr/>
        </p:nvSpPr>
        <p:spPr>
          <a:xfrm>
            <a:off x="9057132" y="5431536"/>
            <a:ext cx="9144" cy="91440"/>
          </a:xfrm>
          <a:prstGeom prst="rect">
            <a:avLst/>
          </a:prstGeom>
          <a:solidFill>
            <a:schemeClr val="tx2"/>
          </a:solidFill>
          <a:ln/>
        </p:spPr>
      </p:sp>
      <p:sp>
        <p:nvSpPr>
          <p:cNvPr id="42" name="Text 326"/>
          <p:cNvSpPr txBox="1"/>
          <p:nvPr/>
        </p:nvSpPr>
        <p:spPr>
          <a:xfrm>
            <a:off x="8787384"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13th</a:t>
            </a:r>
            <a:endParaRPr lang="en-US" sz="1100" dirty="0"/>
          </a:p>
        </p:txBody>
      </p:sp>
      <p:sp>
        <p:nvSpPr>
          <p:cNvPr id="43" name="Glyph part 327"/>
          <p:cNvSpPr/>
          <p:nvPr/>
        </p:nvSpPr>
        <p:spPr>
          <a:xfrm>
            <a:off x="9898380" y="5431536"/>
            <a:ext cx="9144" cy="91440"/>
          </a:xfrm>
          <a:prstGeom prst="rect">
            <a:avLst/>
          </a:prstGeom>
          <a:solidFill>
            <a:schemeClr val="tx2"/>
          </a:solidFill>
          <a:ln/>
        </p:spPr>
      </p:sp>
      <p:sp>
        <p:nvSpPr>
          <p:cNvPr id="44" name="Text 328"/>
          <p:cNvSpPr txBox="1"/>
          <p:nvPr/>
        </p:nvSpPr>
        <p:spPr>
          <a:xfrm>
            <a:off x="9628632"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14th</a:t>
            </a:r>
            <a:endParaRPr lang="en-US" sz="1100" dirty="0"/>
          </a:p>
        </p:txBody>
      </p:sp>
      <p:sp>
        <p:nvSpPr>
          <p:cNvPr id="45" name="Glyph part 329"/>
          <p:cNvSpPr/>
          <p:nvPr/>
        </p:nvSpPr>
        <p:spPr>
          <a:xfrm>
            <a:off x="10739628" y="5431536"/>
            <a:ext cx="9144" cy="91440"/>
          </a:xfrm>
          <a:prstGeom prst="rect">
            <a:avLst/>
          </a:prstGeom>
          <a:solidFill>
            <a:schemeClr val="tx2"/>
          </a:solidFill>
          <a:ln/>
        </p:spPr>
      </p:sp>
      <p:sp>
        <p:nvSpPr>
          <p:cNvPr id="46" name="Text 330"/>
          <p:cNvSpPr txBox="1"/>
          <p:nvPr/>
        </p:nvSpPr>
        <p:spPr>
          <a:xfrm>
            <a:off x="10469880" y="5541264"/>
            <a:ext cx="548640" cy="228600"/>
          </a:xfrm>
          <a:prstGeom prst="rect">
            <a:avLst/>
          </a:prstGeom>
          <a:noFill/>
          <a:ln/>
        </p:spPr>
        <p:txBody>
          <a:bodyPr wrap="square" lIns="0" tIns="0" rIns="0" bIns="0" rtlCol="0" anchor="t"/>
          <a:lstStyle/>
          <a:p>
            <a:pPr algn="ctr" indent="0" marL="0">
              <a:buNone/>
            </a:pPr>
            <a:r>
              <a:rPr lang="en-US" sz="1100" dirty="0">
                <a:solidFill>
                  <a:schemeClr val="tx2"/>
                </a:solidFill>
              </a:rPr>
              <a:t>15th</a:t>
            </a:r>
            <a:endParaRPr lang="en-US" sz="11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  HOW IT IS BUILT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Security</a:t>
            </a:r>
            <a:endParaRPr lang="en-US" sz="3600" dirty="0"/>
          </a:p>
        </p:txBody>
      </p:sp>
      <p:sp>
        <p:nvSpPr>
          <p:cNvPr id="5" name="Card 331"/>
          <p:cNvSpPr/>
          <p:nvPr/>
        </p:nvSpPr>
        <p:spPr>
          <a:xfrm>
            <a:off x="457200" y="164592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Icon clock 332"/>
          <p:cNvSpPr/>
          <p:nvPr/>
        </p:nvSpPr>
        <p:spPr>
          <a:xfrm>
            <a:off x="731520" y="1953768"/>
            <a:ext cx="603504" cy="603504"/>
          </a:xfrm>
          <a:prstGeom prst="ellipse">
            <a:avLst/>
          </a:prstGeom>
          <a:solidFill>
            <a:schemeClr val="accent1"/>
          </a:solidFill>
          <a:ln/>
        </p:spPr>
      </p:sp>
      <p:sp>
        <p:nvSpPr>
          <p:cNvPr id="7" name="Glyph part 334"/>
          <p:cNvSpPr/>
          <p:nvPr/>
        </p:nvSpPr>
        <p:spPr>
          <a:xfrm>
            <a:off x="894466" y="2116714"/>
            <a:ext cx="277612" cy="277612"/>
          </a:xfrm>
          <a:prstGeom prst="ellipse">
            <a:avLst/>
          </a:prstGeom>
          <a:noFill/>
          <a:ln w="28575">
            <a:solidFill>
              <a:schemeClr val="tx1"/>
            </a:solidFill>
            <a:prstDash val="solid"/>
          </a:ln>
        </p:spPr>
      </p:sp>
      <p:sp>
        <p:nvSpPr>
          <p:cNvPr id="8" name="Glyph stroke 335"/>
          <p:cNvSpPr/>
          <p:nvPr/>
        </p:nvSpPr>
        <p:spPr>
          <a:xfrm flipV="1">
            <a:off x="1033272" y="2164994"/>
            <a:ext cx="0" cy="90526"/>
          </a:xfrm>
          <a:prstGeom prst="line">
            <a:avLst/>
          </a:prstGeom>
          <a:noFill/>
          <a:ln w="28575">
            <a:solidFill>
              <a:schemeClr val="tx1"/>
            </a:solidFill>
            <a:prstDash val="solid"/>
          </a:ln>
        </p:spPr>
      </p:sp>
      <p:sp>
        <p:nvSpPr>
          <p:cNvPr id="9" name="Glyph stroke 336"/>
          <p:cNvSpPr/>
          <p:nvPr/>
        </p:nvSpPr>
        <p:spPr>
          <a:xfrm>
            <a:off x="1033272" y="2255520"/>
            <a:ext cx="66385" cy="0"/>
          </a:xfrm>
          <a:prstGeom prst="line">
            <a:avLst/>
          </a:prstGeom>
          <a:noFill/>
          <a:ln w="28575">
            <a:solidFill>
              <a:schemeClr val="tx1"/>
            </a:solidFill>
            <a:prstDash val="solid"/>
          </a:ln>
        </p:spPr>
      </p:sp>
      <p:sp>
        <p:nvSpPr>
          <p:cNvPr id="10" name="Text 337"/>
          <p:cNvSpPr txBox="1"/>
          <p:nvPr/>
        </p:nvSpPr>
        <p:spPr>
          <a:xfrm>
            <a:off x="1563624" y="173736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Sessions</a:t>
            </a:r>
            <a:endParaRPr lang="en-US" sz="1400" dirty="0"/>
          </a:p>
          <a:p>
            <a:pPr indent="0" marL="0">
              <a:spcBef>
                <a:spcPts val="300"/>
              </a:spcBef>
              <a:buNone/>
            </a:pPr>
            <a:r>
              <a:rPr lang="en-US" sz="1400" dirty="0">
                <a:solidFill>
                  <a:schemeClr val="tx2"/>
                </a:solidFill>
              </a:rPr>
              <a:t>A fifteen minute token in memory and a rotating refresh cookie</a:t>
            </a:r>
            <a:endParaRPr lang="en-US" sz="1400" dirty="0"/>
          </a:p>
        </p:txBody>
      </p:sp>
      <p:sp>
        <p:nvSpPr>
          <p:cNvPr id="11" name="Card 338"/>
          <p:cNvSpPr/>
          <p:nvPr/>
        </p:nvSpPr>
        <p:spPr>
          <a:xfrm>
            <a:off x="457200" y="313944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Icon deny 339"/>
          <p:cNvSpPr/>
          <p:nvPr/>
        </p:nvSpPr>
        <p:spPr>
          <a:xfrm>
            <a:off x="731520" y="3447288"/>
            <a:ext cx="603504" cy="603504"/>
          </a:xfrm>
          <a:prstGeom prst="ellipse">
            <a:avLst/>
          </a:prstGeom>
          <a:solidFill>
            <a:schemeClr val="accent1"/>
          </a:solidFill>
          <a:ln/>
        </p:spPr>
      </p:sp>
      <p:sp>
        <p:nvSpPr>
          <p:cNvPr id="13" name="Glyph part 341"/>
          <p:cNvSpPr/>
          <p:nvPr/>
        </p:nvSpPr>
        <p:spPr>
          <a:xfrm>
            <a:off x="888431" y="3604199"/>
            <a:ext cx="289682" cy="289682"/>
          </a:xfrm>
          <a:prstGeom prst="noSmoking">
            <a:avLst/>
          </a:prstGeom>
          <a:solidFill>
            <a:schemeClr val="tx1"/>
          </a:solidFill>
          <a:ln/>
        </p:spPr>
      </p:sp>
      <p:sp>
        <p:nvSpPr>
          <p:cNvPr id="14" name="Text 342"/>
          <p:cNvSpPr txBox="1"/>
          <p:nvPr/>
        </p:nvSpPr>
        <p:spPr>
          <a:xfrm>
            <a:off x="1563624" y="323088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Deny by default</a:t>
            </a:r>
            <a:endParaRPr lang="en-US" sz="1400" dirty="0"/>
          </a:p>
          <a:p>
            <a:pPr indent="0" marL="0">
              <a:spcBef>
                <a:spcPts val="300"/>
              </a:spcBef>
              <a:buNone/>
            </a:pPr>
            <a:r>
              <a:rPr lang="en-US" sz="1400" dirty="0">
                <a:solidFill>
                  <a:schemeClr val="tx2"/>
                </a:solidFill>
              </a:rPr>
              <a:t>Ownership answered as not found, branch scope for counter staff</a:t>
            </a:r>
            <a:endParaRPr lang="en-US" sz="1400" dirty="0"/>
          </a:p>
        </p:txBody>
      </p:sp>
      <p:sp>
        <p:nvSpPr>
          <p:cNvPr id="15" name="Card 343"/>
          <p:cNvSpPr/>
          <p:nvPr/>
        </p:nvSpPr>
        <p:spPr>
          <a:xfrm>
            <a:off x="457200" y="4632960"/>
            <a:ext cx="5120640" cy="1219200"/>
          </a:xfrm>
          <a:prstGeom prst="roundRect">
            <a:avLst>
              <a:gd name="adj" fmla="val 75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6" name="Icon lock 344"/>
          <p:cNvSpPr/>
          <p:nvPr/>
        </p:nvSpPr>
        <p:spPr>
          <a:xfrm>
            <a:off x="731520" y="4940808"/>
            <a:ext cx="603504" cy="603504"/>
          </a:xfrm>
          <a:prstGeom prst="ellipse">
            <a:avLst/>
          </a:prstGeom>
          <a:solidFill>
            <a:schemeClr val="accent1"/>
          </a:solidFill>
          <a:ln/>
        </p:spPr>
      </p:sp>
      <p:sp>
        <p:nvSpPr>
          <p:cNvPr id="17" name="Glyph part 346"/>
          <p:cNvSpPr/>
          <p:nvPr/>
        </p:nvSpPr>
        <p:spPr>
          <a:xfrm>
            <a:off x="954816" y="5091684"/>
            <a:ext cx="156911" cy="217261"/>
          </a:xfrm>
          <a:prstGeom prst="ellipse">
            <a:avLst/>
          </a:prstGeom>
          <a:noFill/>
          <a:ln w="31750">
            <a:solidFill>
              <a:schemeClr val="tx1"/>
            </a:solidFill>
            <a:prstDash val="solid"/>
          </a:ln>
        </p:spPr>
      </p:sp>
      <p:sp>
        <p:nvSpPr>
          <p:cNvPr id="18" name="Glyph part 347"/>
          <p:cNvSpPr/>
          <p:nvPr/>
        </p:nvSpPr>
        <p:spPr>
          <a:xfrm>
            <a:off x="906536" y="5218420"/>
            <a:ext cx="253472" cy="175016"/>
          </a:xfrm>
          <a:prstGeom prst="roundRect">
            <a:avLst>
              <a:gd name="adj" fmla="val 13793"/>
            </a:avLst>
          </a:prstGeom>
          <a:solidFill>
            <a:schemeClr val="tx1"/>
          </a:solidFill>
          <a:ln/>
        </p:spPr>
      </p:sp>
      <p:sp>
        <p:nvSpPr>
          <p:cNvPr id="19" name="Glyph part 348"/>
          <p:cNvSpPr/>
          <p:nvPr/>
        </p:nvSpPr>
        <p:spPr>
          <a:xfrm>
            <a:off x="1009132" y="5272735"/>
            <a:ext cx="48280" cy="48280"/>
          </a:xfrm>
          <a:prstGeom prst="ellipse">
            <a:avLst/>
          </a:prstGeom>
          <a:solidFill>
            <a:schemeClr val="accent1"/>
          </a:solidFill>
          <a:ln/>
        </p:spPr>
      </p:sp>
      <p:sp>
        <p:nvSpPr>
          <p:cNvPr id="20" name="Text 349"/>
          <p:cNvSpPr txBox="1"/>
          <p:nvPr/>
        </p:nvSpPr>
        <p:spPr>
          <a:xfrm>
            <a:off x="1563624" y="4724400"/>
            <a:ext cx="3739896" cy="1036320"/>
          </a:xfrm>
          <a:prstGeom prst="rect">
            <a:avLst/>
          </a:prstGeom>
          <a:noFill/>
          <a:ln/>
        </p:spPr>
        <p:txBody>
          <a:bodyPr wrap="square" lIns="0" tIns="0" rIns="0" bIns="0" rtlCol="0" anchor="ctr"/>
          <a:lstStyle/>
          <a:p>
            <a:pPr indent="0" marL="0">
              <a:buNone/>
            </a:pPr>
            <a:r>
              <a:rPr lang="en-US" sz="1800" b="1" dirty="0">
                <a:solidFill>
                  <a:schemeClr val="tx1"/>
                </a:solidFill>
              </a:rPr>
              <a:t>Lockout and throttles</a:t>
            </a:r>
            <a:endParaRPr lang="en-US" sz="1400" dirty="0"/>
          </a:p>
          <a:p>
            <a:pPr indent="0" marL="0">
              <a:spcBef>
                <a:spcPts val="300"/>
              </a:spcBef>
              <a:buNone/>
            </a:pPr>
            <a:r>
              <a:rPr lang="en-US" sz="1400" dirty="0">
                <a:solidFill>
                  <a:schemeClr val="tx2"/>
                </a:solidFill>
              </a:rPr>
              <a:t>Security headers on every answer, and no secret in the repository</a:t>
            </a:r>
            <a:endParaRPr lang="en-US" sz="1400" dirty="0"/>
          </a:p>
        </p:txBody>
      </p:sp>
      <p:sp>
        <p:nvSpPr>
          <p:cNvPr id="21" name="Card 350"/>
          <p:cNvSpPr/>
          <p:nvPr/>
        </p:nvSpPr>
        <p:spPr>
          <a:xfrm>
            <a:off x="5943600" y="1645920"/>
            <a:ext cx="5790895" cy="4206240"/>
          </a:xfrm>
          <a:prstGeom prst="roundRect">
            <a:avLst>
              <a:gd name="adj" fmla="val 217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2" name="Text 351"/>
          <p:cNvSpPr txBox="1"/>
          <p:nvPr/>
        </p:nvSpPr>
        <p:spPr>
          <a:xfrm>
            <a:off x="6263640" y="1874520"/>
            <a:ext cx="5150815" cy="384048"/>
          </a:xfrm>
          <a:prstGeom prst="rect">
            <a:avLst/>
          </a:prstGeom>
          <a:noFill/>
          <a:ln/>
        </p:spPr>
        <p:txBody>
          <a:bodyPr wrap="square" lIns="0" tIns="0" rIns="0" bIns="0" rtlCol="0" anchor="t"/>
          <a:lstStyle/>
          <a:p>
            <a:pPr indent="0" marL="0">
              <a:buNone/>
            </a:pPr>
            <a:r>
              <a:rPr lang="en-US" sz="2000" b="1" dirty="0">
                <a:solidFill>
                  <a:schemeClr val="tx1"/>
                </a:solidFill>
              </a:rPr>
              <a:t>44 controls from the design</a:t>
            </a:r>
            <a:endParaRPr lang="en-US" sz="2000" dirty="0"/>
          </a:p>
        </p:txBody>
      </p:sp>
      <p:sp>
        <p:nvSpPr>
          <p:cNvPr id="23" name="Text 352"/>
          <p:cNvSpPr txBox="1"/>
          <p:nvPr/>
        </p:nvSpPr>
        <p:spPr>
          <a:xfrm>
            <a:off x="6263640" y="2267712"/>
            <a:ext cx="5150815" cy="292608"/>
          </a:xfrm>
          <a:prstGeom prst="rect">
            <a:avLst/>
          </a:prstGeom>
          <a:noFill/>
          <a:ln/>
        </p:spPr>
        <p:txBody>
          <a:bodyPr wrap="square" lIns="0" tIns="0" rIns="0" bIns="0" rtlCol="0" anchor="t"/>
          <a:lstStyle/>
          <a:p>
            <a:pPr indent="0" marL="0">
              <a:buNone/>
            </a:pPr>
            <a:r>
              <a:rPr lang="en-US" sz="1400" dirty="0">
                <a:solidFill>
                  <a:schemeClr val="tx2"/>
                </a:solidFill>
              </a:rPr>
              <a:t>Each with its status and the file, test or step that shows it</a:t>
            </a:r>
            <a:endParaRPr lang="en-US" sz="1400" dirty="0"/>
          </a:p>
        </p:txBody>
      </p:sp>
      <p:sp>
        <p:nvSpPr>
          <p:cNvPr id="24" name="Control 353"/>
          <p:cNvSpPr/>
          <p:nvPr/>
        </p:nvSpPr>
        <p:spPr>
          <a:xfrm>
            <a:off x="6263640" y="2670048"/>
            <a:ext cx="338328" cy="338328"/>
          </a:xfrm>
          <a:prstGeom prst="roundRect">
            <a:avLst>
              <a:gd name="adj" fmla="val 13514"/>
            </a:avLst>
          </a:prstGeom>
          <a:solidFill>
            <a:schemeClr val="accent3"/>
          </a:solidFill>
          <a:ln/>
        </p:spPr>
      </p:sp>
      <p:sp>
        <p:nvSpPr>
          <p:cNvPr id="25" name="Control 354"/>
          <p:cNvSpPr/>
          <p:nvPr/>
        </p:nvSpPr>
        <p:spPr>
          <a:xfrm>
            <a:off x="6684264" y="2670048"/>
            <a:ext cx="338328" cy="338328"/>
          </a:xfrm>
          <a:prstGeom prst="roundRect">
            <a:avLst>
              <a:gd name="adj" fmla="val 13514"/>
            </a:avLst>
          </a:prstGeom>
          <a:solidFill>
            <a:schemeClr val="accent3"/>
          </a:solidFill>
          <a:ln/>
        </p:spPr>
      </p:sp>
      <p:sp>
        <p:nvSpPr>
          <p:cNvPr id="26" name="Control 355"/>
          <p:cNvSpPr/>
          <p:nvPr/>
        </p:nvSpPr>
        <p:spPr>
          <a:xfrm>
            <a:off x="7104888" y="2670048"/>
            <a:ext cx="338328" cy="338328"/>
          </a:xfrm>
          <a:prstGeom prst="roundRect">
            <a:avLst>
              <a:gd name="adj" fmla="val 13514"/>
            </a:avLst>
          </a:prstGeom>
          <a:solidFill>
            <a:schemeClr val="accent3"/>
          </a:solidFill>
          <a:ln/>
        </p:spPr>
      </p:sp>
      <p:sp>
        <p:nvSpPr>
          <p:cNvPr id="27" name="Control 356"/>
          <p:cNvSpPr/>
          <p:nvPr/>
        </p:nvSpPr>
        <p:spPr>
          <a:xfrm>
            <a:off x="7525512" y="2670048"/>
            <a:ext cx="338328" cy="338328"/>
          </a:xfrm>
          <a:prstGeom prst="roundRect">
            <a:avLst>
              <a:gd name="adj" fmla="val 13514"/>
            </a:avLst>
          </a:prstGeom>
          <a:solidFill>
            <a:schemeClr val="accent3"/>
          </a:solidFill>
          <a:ln/>
        </p:spPr>
      </p:sp>
      <p:sp>
        <p:nvSpPr>
          <p:cNvPr id="28" name="Control 357"/>
          <p:cNvSpPr/>
          <p:nvPr/>
        </p:nvSpPr>
        <p:spPr>
          <a:xfrm>
            <a:off x="7946136" y="2670048"/>
            <a:ext cx="338328" cy="338328"/>
          </a:xfrm>
          <a:prstGeom prst="roundRect">
            <a:avLst>
              <a:gd name="adj" fmla="val 13514"/>
            </a:avLst>
          </a:prstGeom>
          <a:solidFill>
            <a:schemeClr val="accent3"/>
          </a:solidFill>
          <a:ln/>
        </p:spPr>
      </p:sp>
      <p:sp>
        <p:nvSpPr>
          <p:cNvPr id="29" name="Control 358"/>
          <p:cNvSpPr/>
          <p:nvPr/>
        </p:nvSpPr>
        <p:spPr>
          <a:xfrm>
            <a:off x="8366760" y="2670048"/>
            <a:ext cx="338328" cy="338328"/>
          </a:xfrm>
          <a:prstGeom prst="roundRect">
            <a:avLst>
              <a:gd name="adj" fmla="val 13514"/>
            </a:avLst>
          </a:prstGeom>
          <a:solidFill>
            <a:schemeClr val="accent3"/>
          </a:solidFill>
          <a:ln/>
        </p:spPr>
      </p:sp>
      <p:sp>
        <p:nvSpPr>
          <p:cNvPr id="30" name="Control 359"/>
          <p:cNvSpPr/>
          <p:nvPr/>
        </p:nvSpPr>
        <p:spPr>
          <a:xfrm>
            <a:off x="8787384" y="2670048"/>
            <a:ext cx="338328" cy="338328"/>
          </a:xfrm>
          <a:prstGeom prst="roundRect">
            <a:avLst>
              <a:gd name="adj" fmla="val 13514"/>
            </a:avLst>
          </a:prstGeom>
          <a:solidFill>
            <a:schemeClr val="accent3"/>
          </a:solidFill>
          <a:ln/>
        </p:spPr>
      </p:sp>
      <p:sp>
        <p:nvSpPr>
          <p:cNvPr id="31" name="Control 360"/>
          <p:cNvSpPr/>
          <p:nvPr/>
        </p:nvSpPr>
        <p:spPr>
          <a:xfrm>
            <a:off x="9208008" y="2670048"/>
            <a:ext cx="338328" cy="338328"/>
          </a:xfrm>
          <a:prstGeom prst="roundRect">
            <a:avLst>
              <a:gd name="adj" fmla="val 13514"/>
            </a:avLst>
          </a:prstGeom>
          <a:solidFill>
            <a:schemeClr val="accent3"/>
          </a:solidFill>
          <a:ln/>
        </p:spPr>
      </p:sp>
      <p:sp>
        <p:nvSpPr>
          <p:cNvPr id="32" name="Control 361"/>
          <p:cNvSpPr/>
          <p:nvPr/>
        </p:nvSpPr>
        <p:spPr>
          <a:xfrm>
            <a:off x="9628632" y="2670048"/>
            <a:ext cx="338328" cy="338328"/>
          </a:xfrm>
          <a:prstGeom prst="roundRect">
            <a:avLst>
              <a:gd name="adj" fmla="val 13514"/>
            </a:avLst>
          </a:prstGeom>
          <a:solidFill>
            <a:schemeClr val="accent3"/>
          </a:solidFill>
          <a:ln/>
        </p:spPr>
      </p:sp>
      <p:sp>
        <p:nvSpPr>
          <p:cNvPr id="33" name="Control 362"/>
          <p:cNvSpPr/>
          <p:nvPr/>
        </p:nvSpPr>
        <p:spPr>
          <a:xfrm>
            <a:off x="10049256" y="2670048"/>
            <a:ext cx="338328" cy="338328"/>
          </a:xfrm>
          <a:prstGeom prst="roundRect">
            <a:avLst>
              <a:gd name="adj" fmla="val 13514"/>
            </a:avLst>
          </a:prstGeom>
          <a:solidFill>
            <a:schemeClr val="accent3"/>
          </a:solidFill>
          <a:ln/>
        </p:spPr>
      </p:sp>
      <p:sp>
        <p:nvSpPr>
          <p:cNvPr id="34" name="Control 363"/>
          <p:cNvSpPr/>
          <p:nvPr/>
        </p:nvSpPr>
        <p:spPr>
          <a:xfrm>
            <a:off x="10469880" y="2670048"/>
            <a:ext cx="338328" cy="338328"/>
          </a:xfrm>
          <a:prstGeom prst="roundRect">
            <a:avLst>
              <a:gd name="adj" fmla="val 13514"/>
            </a:avLst>
          </a:prstGeom>
          <a:solidFill>
            <a:schemeClr val="accent3"/>
          </a:solidFill>
          <a:ln/>
        </p:spPr>
      </p:sp>
      <p:sp>
        <p:nvSpPr>
          <p:cNvPr id="35" name="Control 364"/>
          <p:cNvSpPr/>
          <p:nvPr/>
        </p:nvSpPr>
        <p:spPr>
          <a:xfrm>
            <a:off x="6263640" y="3090672"/>
            <a:ext cx="338328" cy="338328"/>
          </a:xfrm>
          <a:prstGeom prst="roundRect">
            <a:avLst>
              <a:gd name="adj" fmla="val 13514"/>
            </a:avLst>
          </a:prstGeom>
          <a:solidFill>
            <a:schemeClr val="accent3"/>
          </a:solidFill>
          <a:ln/>
        </p:spPr>
      </p:sp>
      <p:sp>
        <p:nvSpPr>
          <p:cNvPr id="36" name="Control 365"/>
          <p:cNvSpPr/>
          <p:nvPr/>
        </p:nvSpPr>
        <p:spPr>
          <a:xfrm>
            <a:off x="6684264" y="3090672"/>
            <a:ext cx="338328" cy="338328"/>
          </a:xfrm>
          <a:prstGeom prst="roundRect">
            <a:avLst>
              <a:gd name="adj" fmla="val 13514"/>
            </a:avLst>
          </a:prstGeom>
          <a:solidFill>
            <a:schemeClr val="accent3"/>
          </a:solidFill>
          <a:ln/>
        </p:spPr>
      </p:sp>
      <p:sp>
        <p:nvSpPr>
          <p:cNvPr id="37" name="Control 366"/>
          <p:cNvSpPr/>
          <p:nvPr/>
        </p:nvSpPr>
        <p:spPr>
          <a:xfrm>
            <a:off x="7104888" y="3090672"/>
            <a:ext cx="338328" cy="338328"/>
          </a:xfrm>
          <a:prstGeom prst="roundRect">
            <a:avLst>
              <a:gd name="adj" fmla="val 13514"/>
            </a:avLst>
          </a:prstGeom>
          <a:solidFill>
            <a:schemeClr val="accent3"/>
          </a:solidFill>
          <a:ln/>
        </p:spPr>
      </p:sp>
      <p:sp>
        <p:nvSpPr>
          <p:cNvPr id="38" name="Control 367"/>
          <p:cNvSpPr/>
          <p:nvPr/>
        </p:nvSpPr>
        <p:spPr>
          <a:xfrm>
            <a:off x="7525512" y="3090672"/>
            <a:ext cx="338328" cy="338328"/>
          </a:xfrm>
          <a:prstGeom prst="roundRect">
            <a:avLst>
              <a:gd name="adj" fmla="val 13514"/>
            </a:avLst>
          </a:prstGeom>
          <a:solidFill>
            <a:schemeClr val="accent3"/>
          </a:solidFill>
          <a:ln/>
        </p:spPr>
      </p:sp>
      <p:sp>
        <p:nvSpPr>
          <p:cNvPr id="39" name="Control 368"/>
          <p:cNvSpPr/>
          <p:nvPr/>
        </p:nvSpPr>
        <p:spPr>
          <a:xfrm>
            <a:off x="7946136" y="3090672"/>
            <a:ext cx="338328" cy="338328"/>
          </a:xfrm>
          <a:prstGeom prst="roundRect">
            <a:avLst>
              <a:gd name="adj" fmla="val 13514"/>
            </a:avLst>
          </a:prstGeom>
          <a:solidFill>
            <a:schemeClr val="accent3"/>
          </a:solidFill>
          <a:ln/>
        </p:spPr>
      </p:sp>
      <p:sp>
        <p:nvSpPr>
          <p:cNvPr id="40" name="Control 369"/>
          <p:cNvSpPr/>
          <p:nvPr/>
        </p:nvSpPr>
        <p:spPr>
          <a:xfrm>
            <a:off x="8366760" y="3090672"/>
            <a:ext cx="338328" cy="338328"/>
          </a:xfrm>
          <a:prstGeom prst="roundRect">
            <a:avLst>
              <a:gd name="adj" fmla="val 13514"/>
            </a:avLst>
          </a:prstGeom>
          <a:solidFill>
            <a:schemeClr val="accent3"/>
          </a:solidFill>
          <a:ln/>
        </p:spPr>
      </p:sp>
      <p:sp>
        <p:nvSpPr>
          <p:cNvPr id="41" name="Control 370"/>
          <p:cNvSpPr/>
          <p:nvPr/>
        </p:nvSpPr>
        <p:spPr>
          <a:xfrm>
            <a:off x="8787384" y="3090672"/>
            <a:ext cx="338328" cy="338328"/>
          </a:xfrm>
          <a:prstGeom prst="roundRect">
            <a:avLst>
              <a:gd name="adj" fmla="val 13514"/>
            </a:avLst>
          </a:prstGeom>
          <a:solidFill>
            <a:schemeClr val="accent3"/>
          </a:solidFill>
          <a:ln/>
        </p:spPr>
      </p:sp>
      <p:sp>
        <p:nvSpPr>
          <p:cNvPr id="42" name="Control 371"/>
          <p:cNvSpPr/>
          <p:nvPr/>
        </p:nvSpPr>
        <p:spPr>
          <a:xfrm>
            <a:off x="9208008" y="3090672"/>
            <a:ext cx="338328" cy="338328"/>
          </a:xfrm>
          <a:prstGeom prst="roundRect">
            <a:avLst>
              <a:gd name="adj" fmla="val 13514"/>
            </a:avLst>
          </a:prstGeom>
          <a:solidFill>
            <a:schemeClr val="accent3"/>
          </a:solidFill>
          <a:ln/>
        </p:spPr>
      </p:sp>
      <p:sp>
        <p:nvSpPr>
          <p:cNvPr id="43" name="Control 372"/>
          <p:cNvSpPr/>
          <p:nvPr/>
        </p:nvSpPr>
        <p:spPr>
          <a:xfrm>
            <a:off x="9628632" y="3090672"/>
            <a:ext cx="338328" cy="338328"/>
          </a:xfrm>
          <a:prstGeom prst="roundRect">
            <a:avLst>
              <a:gd name="adj" fmla="val 13514"/>
            </a:avLst>
          </a:prstGeom>
          <a:solidFill>
            <a:schemeClr val="accent3"/>
          </a:solidFill>
          <a:ln/>
        </p:spPr>
      </p:sp>
      <p:sp>
        <p:nvSpPr>
          <p:cNvPr id="44" name="Control 373"/>
          <p:cNvSpPr/>
          <p:nvPr/>
        </p:nvSpPr>
        <p:spPr>
          <a:xfrm>
            <a:off x="10049256" y="3090672"/>
            <a:ext cx="338328" cy="338328"/>
          </a:xfrm>
          <a:prstGeom prst="roundRect">
            <a:avLst>
              <a:gd name="adj" fmla="val 13514"/>
            </a:avLst>
          </a:prstGeom>
          <a:solidFill>
            <a:schemeClr val="accent3"/>
          </a:solidFill>
          <a:ln/>
        </p:spPr>
      </p:sp>
      <p:sp>
        <p:nvSpPr>
          <p:cNvPr id="45" name="Control 374"/>
          <p:cNvSpPr/>
          <p:nvPr/>
        </p:nvSpPr>
        <p:spPr>
          <a:xfrm>
            <a:off x="10469880" y="3090672"/>
            <a:ext cx="338328" cy="338328"/>
          </a:xfrm>
          <a:prstGeom prst="roundRect">
            <a:avLst>
              <a:gd name="adj" fmla="val 13514"/>
            </a:avLst>
          </a:prstGeom>
          <a:solidFill>
            <a:schemeClr val="accent3"/>
          </a:solidFill>
          <a:ln/>
        </p:spPr>
      </p:sp>
      <p:sp>
        <p:nvSpPr>
          <p:cNvPr id="46" name="Control 375"/>
          <p:cNvSpPr/>
          <p:nvPr/>
        </p:nvSpPr>
        <p:spPr>
          <a:xfrm>
            <a:off x="6263640" y="3511296"/>
            <a:ext cx="338328" cy="338328"/>
          </a:xfrm>
          <a:prstGeom prst="roundRect">
            <a:avLst>
              <a:gd name="adj" fmla="val 13514"/>
            </a:avLst>
          </a:prstGeom>
          <a:solidFill>
            <a:schemeClr val="accent3"/>
          </a:solidFill>
          <a:ln/>
        </p:spPr>
      </p:sp>
      <p:sp>
        <p:nvSpPr>
          <p:cNvPr id="47" name="Control 376"/>
          <p:cNvSpPr/>
          <p:nvPr/>
        </p:nvSpPr>
        <p:spPr>
          <a:xfrm>
            <a:off x="6684264" y="3511296"/>
            <a:ext cx="338328" cy="338328"/>
          </a:xfrm>
          <a:prstGeom prst="roundRect">
            <a:avLst>
              <a:gd name="adj" fmla="val 13514"/>
            </a:avLst>
          </a:prstGeom>
          <a:solidFill>
            <a:schemeClr val="accent3"/>
          </a:solidFill>
          <a:ln/>
        </p:spPr>
      </p:sp>
      <p:sp>
        <p:nvSpPr>
          <p:cNvPr id="48" name="Control 377"/>
          <p:cNvSpPr/>
          <p:nvPr/>
        </p:nvSpPr>
        <p:spPr>
          <a:xfrm>
            <a:off x="7104888" y="3511296"/>
            <a:ext cx="338328" cy="338328"/>
          </a:xfrm>
          <a:prstGeom prst="roundRect">
            <a:avLst>
              <a:gd name="adj" fmla="val 13514"/>
            </a:avLst>
          </a:prstGeom>
          <a:solidFill>
            <a:schemeClr val="accent3"/>
          </a:solidFill>
          <a:ln/>
        </p:spPr>
      </p:sp>
      <p:sp>
        <p:nvSpPr>
          <p:cNvPr id="49" name="Control 378"/>
          <p:cNvSpPr/>
          <p:nvPr/>
        </p:nvSpPr>
        <p:spPr>
          <a:xfrm>
            <a:off x="7525512" y="3511296"/>
            <a:ext cx="338328" cy="338328"/>
          </a:xfrm>
          <a:prstGeom prst="roundRect">
            <a:avLst>
              <a:gd name="adj" fmla="val 13514"/>
            </a:avLst>
          </a:prstGeom>
          <a:solidFill>
            <a:schemeClr val="accent3"/>
          </a:solidFill>
          <a:ln/>
        </p:spPr>
      </p:sp>
      <p:sp>
        <p:nvSpPr>
          <p:cNvPr id="50" name="Control 379"/>
          <p:cNvSpPr/>
          <p:nvPr/>
        </p:nvSpPr>
        <p:spPr>
          <a:xfrm>
            <a:off x="7946136" y="3511296"/>
            <a:ext cx="338328" cy="338328"/>
          </a:xfrm>
          <a:prstGeom prst="roundRect">
            <a:avLst>
              <a:gd name="adj" fmla="val 13514"/>
            </a:avLst>
          </a:prstGeom>
          <a:solidFill>
            <a:schemeClr val="accent3"/>
          </a:solidFill>
          <a:ln/>
        </p:spPr>
      </p:sp>
      <p:sp>
        <p:nvSpPr>
          <p:cNvPr id="51" name="Control 380"/>
          <p:cNvSpPr/>
          <p:nvPr/>
        </p:nvSpPr>
        <p:spPr>
          <a:xfrm>
            <a:off x="8366760" y="3511296"/>
            <a:ext cx="338328" cy="338328"/>
          </a:xfrm>
          <a:prstGeom prst="roundRect">
            <a:avLst>
              <a:gd name="adj" fmla="val 13514"/>
            </a:avLst>
          </a:prstGeom>
          <a:solidFill>
            <a:schemeClr val="accent3"/>
          </a:solidFill>
          <a:ln/>
        </p:spPr>
      </p:sp>
      <p:sp>
        <p:nvSpPr>
          <p:cNvPr id="52" name="Control 381"/>
          <p:cNvSpPr/>
          <p:nvPr/>
        </p:nvSpPr>
        <p:spPr>
          <a:xfrm>
            <a:off x="8787384" y="3511296"/>
            <a:ext cx="338328" cy="338328"/>
          </a:xfrm>
          <a:prstGeom prst="roundRect">
            <a:avLst>
              <a:gd name="adj" fmla="val 13514"/>
            </a:avLst>
          </a:prstGeom>
          <a:solidFill>
            <a:schemeClr val="accent5"/>
          </a:solidFill>
          <a:ln/>
        </p:spPr>
      </p:sp>
      <p:sp>
        <p:nvSpPr>
          <p:cNvPr id="53" name="Control 382"/>
          <p:cNvSpPr/>
          <p:nvPr/>
        </p:nvSpPr>
        <p:spPr>
          <a:xfrm>
            <a:off x="9208008" y="3511296"/>
            <a:ext cx="338328" cy="338328"/>
          </a:xfrm>
          <a:prstGeom prst="roundRect">
            <a:avLst>
              <a:gd name="adj" fmla="val 13514"/>
            </a:avLst>
          </a:prstGeom>
          <a:solidFill>
            <a:schemeClr val="accent5"/>
          </a:solidFill>
          <a:ln/>
        </p:spPr>
      </p:sp>
      <p:sp>
        <p:nvSpPr>
          <p:cNvPr id="54" name="Control 383"/>
          <p:cNvSpPr/>
          <p:nvPr/>
        </p:nvSpPr>
        <p:spPr>
          <a:xfrm>
            <a:off x="9628632" y="3511296"/>
            <a:ext cx="338328" cy="338328"/>
          </a:xfrm>
          <a:prstGeom prst="roundRect">
            <a:avLst>
              <a:gd name="adj" fmla="val 13514"/>
            </a:avLst>
          </a:prstGeom>
          <a:solidFill>
            <a:schemeClr val="accent5"/>
          </a:solidFill>
          <a:ln/>
        </p:spPr>
      </p:sp>
      <p:sp>
        <p:nvSpPr>
          <p:cNvPr id="55" name="Control 384"/>
          <p:cNvSpPr/>
          <p:nvPr/>
        </p:nvSpPr>
        <p:spPr>
          <a:xfrm>
            <a:off x="10049256" y="3511296"/>
            <a:ext cx="338328" cy="338328"/>
          </a:xfrm>
          <a:prstGeom prst="roundRect">
            <a:avLst>
              <a:gd name="adj" fmla="val 13514"/>
            </a:avLst>
          </a:prstGeom>
          <a:solidFill>
            <a:schemeClr val="accent5"/>
          </a:solidFill>
          <a:ln/>
        </p:spPr>
      </p:sp>
      <p:sp>
        <p:nvSpPr>
          <p:cNvPr id="56" name="Control 385"/>
          <p:cNvSpPr/>
          <p:nvPr/>
        </p:nvSpPr>
        <p:spPr>
          <a:xfrm>
            <a:off x="10469880" y="3511296"/>
            <a:ext cx="338328" cy="338328"/>
          </a:xfrm>
          <a:prstGeom prst="roundRect">
            <a:avLst>
              <a:gd name="adj" fmla="val 13514"/>
            </a:avLst>
          </a:prstGeom>
          <a:solidFill>
            <a:schemeClr val="accent5"/>
          </a:solidFill>
          <a:ln/>
        </p:spPr>
      </p:sp>
      <p:sp>
        <p:nvSpPr>
          <p:cNvPr id="57" name="Control 386"/>
          <p:cNvSpPr/>
          <p:nvPr/>
        </p:nvSpPr>
        <p:spPr>
          <a:xfrm>
            <a:off x="6263640" y="3931920"/>
            <a:ext cx="338328" cy="338328"/>
          </a:xfrm>
          <a:prstGeom prst="roundRect">
            <a:avLst>
              <a:gd name="adj" fmla="val 13514"/>
            </a:avLst>
          </a:prstGeom>
          <a:solidFill>
            <a:schemeClr val="accent5"/>
          </a:solidFill>
          <a:ln/>
        </p:spPr>
      </p:sp>
      <p:sp>
        <p:nvSpPr>
          <p:cNvPr id="58" name="Control 387"/>
          <p:cNvSpPr/>
          <p:nvPr/>
        </p:nvSpPr>
        <p:spPr>
          <a:xfrm>
            <a:off x="6684264" y="3931920"/>
            <a:ext cx="338328" cy="338328"/>
          </a:xfrm>
          <a:prstGeom prst="roundRect">
            <a:avLst>
              <a:gd name="adj" fmla="val 13514"/>
            </a:avLst>
          </a:prstGeom>
          <a:solidFill>
            <a:schemeClr val="accent5"/>
          </a:solidFill>
          <a:ln/>
        </p:spPr>
      </p:sp>
      <p:sp>
        <p:nvSpPr>
          <p:cNvPr id="59" name="Control 388"/>
          <p:cNvSpPr/>
          <p:nvPr/>
        </p:nvSpPr>
        <p:spPr>
          <a:xfrm>
            <a:off x="7104888" y="3931920"/>
            <a:ext cx="338328" cy="338328"/>
          </a:xfrm>
          <a:prstGeom prst="roundRect">
            <a:avLst>
              <a:gd name="adj" fmla="val 13514"/>
            </a:avLst>
          </a:prstGeom>
          <a:solidFill>
            <a:schemeClr val="accent4"/>
          </a:solidFill>
          <a:ln/>
        </p:spPr>
      </p:sp>
      <p:sp>
        <p:nvSpPr>
          <p:cNvPr id="60" name="Control 389"/>
          <p:cNvSpPr/>
          <p:nvPr/>
        </p:nvSpPr>
        <p:spPr>
          <a:xfrm>
            <a:off x="7525512" y="3931920"/>
            <a:ext cx="338328" cy="338328"/>
          </a:xfrm>
          <a:prstGeom prst="roundRect">
            <a:avLst>
              <a:gd name="adj" fmla="val 13514"/>
            </a:avLst>
          </a:prstGeom>
          <a:solidFill>
            <a:srgbClr val="F1F5F9"/>
          </a:solidFill>
          <a:ln w="12700">
            <a:solidFill>
              <a:srgbClr val="4E5B6F"/>
            </a:solidFill>
            <a:prstDash val="dash"/>
          </a:ln>
        </p:spPr>
      </p:sp>
      <p:sp>
        <p:nvSpPr>
          <p:cNvPr id="61" name="Control 390"/>
          <p:cNvSpPr/>
          <p:nvPr/>
        </p:nvSpPr>
        <p:spPr>
          <a:xfrm>
            <a:off x="7946136" y="3931920"/>
            <a:ext cx="338328" cy="338328"/>
          </a:xfrm>
          <a:prstGeom prst="roundRect">
            <a:avLst>
              <a:gd name="adj" fmla="val 13514"/>
            </a:avLst>
          </a:prstGeom>
          <a:solidFill>
            <a:srgbClr val="F1F5F9"/>
          </a:solidFill>
          <a:ln w="12700">
            <a:solidFill>
              <a:srgbClr val="4E5B6F"/>
            </a:solidFill>
            <a:prstDash val="dash"/>
          </a:ln>
        </p:spPr>
      </p:sp>
      <p:sp>
        <p:nvSpPr>
          <p:cNvPr id="62" name="Control 391"/>
          <p:cNvSpPr/>
          <p:nvPr/>
        </p:nvSpPr>
        <p:spPr>
          <a:xfrm>
            <a:off x="8366760" y="3931920"/>
            <a:ext cx="338328" cy="338328"/>
          </a:xfrm>
          <a:prstGeom prst="roundRect">
            <a:avLst>
              <a:gd name="adj" fmla="val 13514"/>
            </a:avLst>
          </a:prstGeom>
          <a:solidFill>
            <a:srgbClr val="F1F5F9"/>
          </a:solidFill>
          <a:ln w="12700">
            <a:solidFill>
              <a:srgbClr val="4E5B6F"/>
            </a:solidFill>
            <a:prstDash val="dash"/>
          </a:ln>
        </p:spPr>
      </p:sp>
      <p:sp>
        <p:nvSpPr>
          <p:cNvPr id="63" name="Control 392"/>
          <p:cNvSpPr/>
          <p:nvPr/>
        </p:nvSpPr>
        <p:spPr>
          <a:xfrm>
            <a:off x="8787384" y="3931920"/>
            <a:ext cx="338328" cy="338328"/>
          </a:xfrm>
          <a:prstGeom prst="roundRect">
            <a:avLst>
              <a:gd name="adj" fmla="val 13514"/>
            </a:avLst>
          </a:prstGeom>
          <a:solidFill>
            <a:srgbClr val="F1F5F9"/>
          </a:solidFill>
          <a:ln w="12700">
            <a:solidFill>
              <a:srgbClr val="4E5B6F"/>
            </a:solidFill>
            <a:prstDash val="dash"/>
          </a:ln>
        </p:spPr>
      </p:sp>
      <p:sp>
        <p:nvSpPr>
          <p:cNvPr id="64" name="Control 393"/>
          <p:cNvSpPr/>
          <p:nvPr/>
        </p:nvSpPr>
        <p:spPr>
          <a:xfrm>
            <a:off x="9208008" y="3931920"/>
            <a:ext cx="338328" cy="338328"/>
          </a:xfrm>
          <a:prstGeom prst="roundRect">
            <a:avLst>
              <a:gd name="adj" fmla="val 13514"/>
            </a:avLst>
          </a:prstGeom>
          <a:solidFill>
            <a:srgbClr val="F1F5F9"/>
          </a:solidFill>
          <a:ln w="12700">
            <a:solidFill>
              <a:srgbClr val="4E5B6F"/>
            </a:solidFill>
            <a:prstDash val="dash"/>
          </a:ln>
        </p:spPr>
      </p:sp>
      <p:sp>
        <p:nvSpPr>
          <p:cNvPr id="65" name="Control 394"/>
          <p:cNvSpPr/>
          <p:nvPr/>
        </p:nvSpPr>
        <p:spPr>
          <a:xfrm>
            <a:off x="9628632" y="3931920"/>
            <a:ext cx="338328" cy="338328"/>
          </a:xfrm>
          <a:prstGeom prst="roundRect">
            <a:avLst>
              <a:gd name="adj" fmla="val 13514"/>
            </a:avLst>
          </a:prstGeom>
          <a:solidFill>
            <a:srgbClr val="F1F5F9"/>
          </a:solidFill>
          <a:ln w="12700">
            <a:solidFill>
              <a:srgbClr val="4E5B6F"/>
            </a:solidFill>
            <a:prstDash val="dash"/>
          </a:ln>
        </p:spPr>
      </p:sp>
      <p:sp>
        <p:nvSpPr>
          <p:cNvPr id="66" name="Control 395"/>
          <p:cNvSpPr/>
          <p:nvPr/>
        </p:nvSpPr>
        <p:spPr>
          <a:xfrm>
            <a:off x="10049256" y="3931920"/>
            <a:ext cx="338328" cy="338328"/>
          </a:xfrm>
          <a:prstGeom prst="roundRect">
            <a:avLst>
              <a:gd name="adj" fmla="val 13514"/>
            </a:avLst>
          </a:prstGeom>
          <a:solidFill>
            <a:srgbClr val="F1F5F9"/>
          </a:solidFill>
          <a:ln w="12700">
            <a:solidFill>
              <a:srgbClr val="4E5B6F"/>
            </a:solidFill>
            <a:prstDash val="dash"/>
          </a:ln>
        </p:spPr>
      </p:sp>
      <p:sp>
        <p:nvSpPr>
          <p:cNvPr id="67" name="Control 396"/>
          <p:cNvSpPr/>
          <p:nvPr/>
        </p:nvSpPr>
        <p:spPr>
          <a:xfrm>
            <a:off x="10469880" y="3931920"/>
            <a:ext cx="338328" cy="338328"/>
          </a:xfrm>
          <a:prstGeom prst="roundRect">
            <a:avLst>
              <a:gd name="adj" fmla="val 13514"/>
            </a:avLst>
          </a:prstGeom>
          <a:solidFill>
            <a:srgbClr val="F1F5F9"/>
          </a:solidFill>
          <a:ln w="12700">
            <a:solidFill>
              <a:srgbClr val="4E5B6F"/>
            </a:solidFill>
            <a:prstDash val="dash"/>
          </a:ln>
        </p:spPr>
      </p:sp>
      <p:sp>
        <p:nvSpPr>
          <p:cNvPr id="68" name="Legend key 397"/>
          <p:cNvSpPr/>
          <p:nvPr/>
        </p:nvSpPr>
        <p:spPr>
          <a:xfrm>
            <a:off x="6263640" y="4544568"/>
            <a:ext cx="201168" cy="201168"/>
          </a:xfrm>
          <a:prstGeom prst="roundRect">
            <a:avLst>
              <a:gd name="adj" fmla="val 18182"/>
            </a:avLst>
          </a:prstGeom>
          <a:solidFill>
            <a:schemeClr val="accent3"/>
          </a:solidFill>
          <a:ln/>
        </p:spPr>
      </p:sp>
      <p:sp>
        <p:nvSpPr>
          <p:cNvPr id="69" name="Text 398"/>
          <p:cNvSpPr txBox="1"/>
          <p:nvPr/>
        </p:nvSpPr>
        <p:spPr>
          <a:xfrm>
            <a:off x="6574536" y="4498848"/>
            <a:ext cx="1920240" cy="292608"/>
          </a:xfrm>
          <a:prstGeom prst="rect">
            <a:avLst/>
          </a:prstGeom>
          <a:noFill/>
          <a:ln/>
        </p:spPr>
        <p:txBody>
          <a:bodyPr wrap="square" lIns="0" tIns="0" rIns="0" bIns="0" rtlCol="0" anchor="ctr"/>
          <a:lstStyle/>
          <a:p>
            <a:pPr indent="0" marL="0">
              <a:buNone/>
            </a:pPr>
            <a:r>
              <a:rPr lang="en-US" sz="1400" dirty="0">
                <a:solidFill>
                  <a:schemeClr val="tx1"/>
                </a:solidFill>
              </a:rPr>
              <a:t>28 in place</a:t>
            </a:r>
            <a:endParaRPr lang="en-US" sz="1400" dirty="0"/>
          </a:p>
        </p:txBody>
      </p:sp>
      <p:sp>
        <p:nvSpPr>
          <p:cNvPr id="70" name="Legend key 399"/>
          <p:cNvSpPr/>
          <p:nvPr/>
        </p:nvSpPr>
        <p:spPr>
          <a:xfrm>
            <a:off x="8641080" y="4544568"/>
            <a:ext cx="201168" cy="201168"/>
          </a:xfrm>
          <a:prstGeom prst="roundRect">
            <a:avLst>
              <a:gd name="adj" fmla="val 18182"/>
            </a:avLst>
          </a:prstGeom>
          <a:solidFill>
            <a:schemeClr val="accent5"/>
          </a:solidFill>
          <a:ln/>
        </p:spPr>
      </p:sp>
      <p:sp>
        <p:nvSpPr>
          <p:cNvPr id="71" name="Text 400"/>
          <p:cNvSpPr txBox="1"/>
          <p:nvPr/>
        </p:nvSpPr>
        <p:spPr>
          <a:xfrm>
            <a:off x="8951976" y="4498848"/>
            <a:ext cx="1920240" cy="292608"/>
          </a:xfrm>
          <a:prstGeom prst="rect">
            <a:avLst/>
          </a:prstGeom>
          <a:noFill/>
          <a:ln/>
        </p:spPr>
        <p:txBody>
          <a:bodyPr wrap="square" lIns="0" tIns="0" rIns="0" bIns="0" rtlCol="0" anchor="ctr"/>
          <a:lstStyle/>
          <a:p>
            <a:pPr indent="0" marL="0">
              <a:buNone/>
            </a:pPr>
            <a:r>
              <a:rPr lang="en-US" sz="1400" dirty="0">
                <a:solidFill>
                  <a:schemeClr val="tx1"/>
                </a:solidFill>
              </a:rPr>
              <a:t>7 partly in place</a:t>
            </a:r>
            <a:endParaRPr lang="en-US" sz="1400" dirty="0"/>
          </a:p>
        </p:txBody>
      </p:sp>
      <p:sp>
        <p:nvSpPr>
          <p:cNvPr id="72" name="Legend key 401"/>
          <p:cNvSpPr/>
          <p:nvPr/>
        </p:nvSpPr>
        <p:spPr>
          <a:xfrm>
            <a:off x="6263640" y="4873752"/>
            <a:ext cx="201168" cy="201168"/>
          </a:xfrm>
          <a:prstGeom prst="roundRect">
            <a:avLst>
              <a:gd name="adj" fmla="val 18182"/>
            </a:avLst>
          </a:prstGeom>
          <a:solidFill>
            <a:schemeClr val="accent4"/>
          </a:solidFill>
          <a:ln/>
        </p:spPr>
      </p:sp>
      <p:sp>
        <p:nvSpPr>
          <p:cNvPr id="73" name="Text 402"/>
          <p:cNvSpPr txBox="1"/>
          <p:nvPr/>
        </p:nvSpPr>
        <p:spPr>
          <a:xfrm>
            <a:off x="6574536" y="4828032"/>
            <a:ext cx="1920240" cy="292608"/>
          </a:xfrm>
          <a:prstGeom prst="rect">
            <a:avLst/>
          </a:prstGeom>
          <a:noFill/>
          <a:ln/>
        </p:spPr>
        <p:txBody>
          <a:bodyPr wrap="square" lIns="0" tIns="0" rIns="0" bIns="0" rtlCol="0" anchor="ctr"/>
          <a:lstStyle/>
          <a:p>
            <a:pPr indent="0" marL="0">
              <a:buNone/>
            </a:pPr>
            <a:r>
              <a:rPr lang="en-US" sz="1400" dirty="0">
                <a:solidFill>
                  <a:schemeClr val="tx1"/>
                </a:solidFill>
              </a:rPr>
              <a:t>1 replaced</a:t>
            </a:r>
            <a:endParaRPr lang="en-US" sz="1400" dirty="0"/>
          </a:p>
        </p:txBody>
      </p:sp>
      <p:sp>
        <p:nvSpPr>
          <p:cNvPr id="74" name="Legend key 403"/>
          <p:cNvSpPr/>
          <p:nvPr/>
        </p:nvSpPr>
        <p:spPr>
          <a:xfrm>
            <a:off x="8641080" y="4873752"/>
            <a:ext cx="201168" cy="201168"/>
          </a:xfrm>
          <a:prstGeom prst="roundRect">
            <a:avLst>
              <a:gd name="adj" fmla="val 18182"/>
            </a:avLst>
          </a:prstGeom>
          <a:solidFill>
            <a:srgbClr val="F1F5F9"/>
          </a:solidFill>
          <a:ln w="12700">
            <a:solidFill>
              <a:srgbClr val="4E5B6F"/>
            </a:solidFill>
            <a:prstDash val="dash"/>
          </a:ln>
        </p:spPr>
      </p:sp>
      <p:sp>
        <p:nvSpPr>
          <p:cNvPr id="75" name="Text 404"/>
          <p:cNvSpPr txBox="1"/>
          <p:nvPr/>
        </p:nvSpPr>
        <p:spPr>
          <a:xfrm>
            <a:off x="8951976" y="4828032"/>
            <a:ext cx="1920240" cy="292608"/>
          </a:xfrm>
          <a:prstGeom prst="rect">
            <a:avLst/>
          </a:prstGeom>
          <a:noFill/>
          <a:ln/>
        </p:spPr>
        <p:txBody>
          <a:bodyPr wrap="square" lIns="0" tIns="0" rIns="0" bIns="0" rtlCol="0" anchor="ctr"/>
          <a:lstStyle/>
          <a:p>
            <a:pPr indent="0" marL="0">
              <a:buNone/>
            </a:pPr>
            <a:r>
              <a:rPr lang="en-US" sz="1400" dirty="0">
                <a:solidFill>
                  <a:schemeClr val="tx1"/>
                </a:solidFill>
              </a:rPr>
              <a:t>8 planned</a:t>
            </a:r>
            <a:endParaRPr lang="en-US" sz="1400" dirty="0"/>
          </a:p>
        </p:txBody>
      </p:sp>
      <p:sp>
        <p:nvSpPr>
          <p:cNvPr id="76" name="Text 405"/>
          <p:cNvSpPr txBox="1"/>
          <p:nvPr/>
        </p:nvSpPr>
        <p:spPr>
          <a:xfrm>
            <a:off x="6263640" y="5212080"/>
            <a:ext cx="4544568" cy="411480"/>
          </a:xfrm>
          <a:prstGeom prst="rect">
            <a:avLst/>
          </a:prstGeom>
          <a:noFill/>
          <a:ln/>
        </p:spPr>
        <p:txBody>
          <a:bodyPr wrap="square" lIns="0" tIns="0" rIns="0" bIns="0" rtlCol="0" anchor="t"/>
          <a:lstStyle/>
          <a:p>
            <a:pPr indent="0" marL="0">
              <a:buNone/>
            </a:pPr>
            <a:r>
              <a:rPr lang="en-US" sz="1200" b="1" dirty="0">
                <a:solidFill>
                  <a:schemeClr val="tx1"/>
                </a:solidFill>
              </a:rPr>
              <a:t>Still open: </a:t>
            </a:r>
            <a:pPr indent="0" marL="0">
              <a:buNone/>
            </a:pPr>
            <a:r>
              <a:rPr lang="en-US" sz="1200" dirty="0">
                <a:solidFill>
                  <a:schemeClr val="tx2"/>
                </a:solidFill>
              </a:rPr>
              <a:t>the photograph upload, the reporting export, alerting and the incident procedure</a:t>
            </a:r>
            <a:endParaRPr lang="en-US" sz="12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  HOW IT IS DELIVERED</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Pipeline and branching, a live look at GitHub</a:t>
            </a:r>
            <a:endParaRPr lang="en-US" sz="3600" dirty="0"/>
          </a:p>
        </p:txBody>
      </p:sp>
      <p:sp>
        <p:nvSpPr>
          <p:cNvPr id="5" name="Glyph part 406"/>
          <p:cNvSpPr/>
          <p:nvPr/>
        </p:nvSpPr>
        <p:spPr>
          <a:xfrm>
            <a:off x="1005840" y="1792224"/>
            <a:ext cx="146304" cy="146304"/>
          </a:xfrm>
          <a:prstGeom prst="ellipse">
            <a:avLst/>
          </a:prstGeom>
          <a:solidFill>
            <a:schemeClr val="accent2"/>
          </a:solidFill>
          <a:ln/>
        </p:spPr>
      </p:sp>
      <p:sp>
        <p:nvSpPr>
          <p:cNvPr id="6" name="Text 407"/>
          <p:cNvSpPr txBox="1"/>
          <p:nvPr/>
        </p:nvSpPr>
        <p:spPr>
          <a:xfrm>
            <a:off x="1243584"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EVERY CHANGE</a:t>
            </a:r>
            <a:endParaRPr lang="en-US" sz="1200" dirty="0"/>
          </a:p>
        </p:txBody>
      </p:sp>
      <p:sp>
        <p:nvSpPr>
          <p:cNvPr id="7" name="Glyph part 408"/>
          <p:cNvSpPr/>
          <p:nvPr/>
        </p:nvSpPr>
        <p:spPr>
          <a:xfrm>
            <a:off x="4821814" y="1792224"/>
            <a:ext cx="146304" cy="146304"/>
          </a:xfrm>
          <a:prstGeom prst="ellipse">
            <a:avLst/>
          </a:prstGeom>
          <a:solidFill>
            <a:schemeClr val="tx1"/>
          </a:solidFill>
          <a:ln/>
        </p:spPr>
      </p:sp>
      <p:sp>
        <p:nvSpPr>
          <p:cNvPr id="8" name="Text 409"/>
          <p:cNvSpPr txBox="1"/>
          <p:nvPr/>
        </p:nvSpPr>
        <p:spPr>
          <a:xfrm>
            <a:off x="5059558"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EVERY RELEASE</a:t>
            </a:r>
            <a:endParaRPr lang="en-US" sz="1200" dirty="0"/>
          </a:p>
        </p:txBody>
      </p:sp>
      <p:sp>
        <p:nvSpPr>
          <p:cNvPr id="9" name="Glyph part 410"/>
          <p:cNvSpPr/>
          <p:nvPr/>
        </p:nvSpPr>
        <p:spPr>
          <a:xfrm>
            <a:off x="7683795" y="1792224"/>
            <a:ext cx="146304" cy="146304"/>
          </a:xfrm>
          <a:prstGeom prst="ellipse">
            <a:avLst/>
          </a:prstGeom>
          <a:solidFill>
            <a:schemeClr val="accent1"/>
          </a:solidFill>
          <a:ln/>
        </p:spPr>
      </p:sp>
      <p:sp>
        <p:nvSpPr>
          <p:cNvPr id="10" name="Text 411"/>
          <p:cNvSpPr txBox="1"/>
          <p:nvPr/>
        </p:nvSpPr>
        <p:spPr>
          <a:xfrm>
            <a:off x="7921539" y="1737360"/>
            <a:ext cx="292608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PRODUCTION DEPLOYMENT</a:t>
            </a:r>
            <a:endParaRPr lang="en-US" sz="1200" dirty="0"/>
          </a:p>
        </p:txBody>
      </p:sp>
      <p:sp>
        <p:nvSpPr>
          <p:cNvPr id="11" name="Track 412"/>
          <p:cNvSpPr/>
          <p:nvPr/>
        </p:nvSpPr>
        <p:spPr>
          <a:xfrm>
            <a:off x="1325880" y="3154680"/>
            <a:ext cx="953994" cy="0"/>
          </a:xfrm>
          <a:prstGeom prst="line">
            <a:avLst/>
          </a:prstGeom>
          <a:noFill/>
          <a:ln w="63500">
            <a:solidFill>
              <a:schemeClr val="accent2"/>
            </a:solidFill>
            <a:prstDash val="solid"/>
          </a:ln>
        </p:spPr>
      </p:sp>
      <p:sp>
        <p:nvSpPr>
          <p:cNvPr id="12" name="Track 413"/>
          <p:cNvSpPr/>
          <p:nvPr/>
        </p:nvSpPr>
        <p:spPr>
          <a:xfrm>
            <a:off x="2279874" y="3154680"/>
            <a:ext cx="953994" cy="0"/>
          </a:xfrm>
          <a:prstGeom prst="line">
            <a:avLst/>
          </a:prstGeom>
          <a:noFill/>
          <a:ln w="63500">
            <a:solidFill>
              <a:schemeClr val="accent2"/>
            </a:solidFill>
            <a:prstDash val="solid"/>
          </a:ln>
        </p:spPr>
      </p:sp>
      <p:sp>
        <p:nvSpPr>
          <p:cNvPr id="13" name="Track 414"/>
          <p:cNvSpPr/>
          <p:nvPr/>
        </p:nvSpPr>
        <p:spPr>
          <a:xfrm>
            <a:off x="3233867" y="3154680"/>
            <a:ext cx="953994" cy="0"/>
          </a:xfrm>
          <a:prstGeom prst="line">
            <a:avLst/>
          </a:prstGeom>
          <a:noFill/>
          <a:ln w="63500">
            <a:solidFill>
              <a:schemeClr val="accent2"/>
            </a:solidFill>
            <a:prstDash val="solid"/>
          </a:ln>
        </p:spPr>
      </p:sp>
      <p:sp>
        <p:nvSpPr>
          <p:cNvPr id="14" name="Track 415"/>
          <p:cNvSpPr/>
          <p:nvPr/>
        </p:nvSpPr>
        <p:spPr>
          <a:xfrm>
            <a:off x="4187861" y="3154680"/>
            <a:ext cx="953994" cy="0"/>
          </a:xfrm>
          <a:prstGeom prst="line">
            <a:avLst/>
          </a:prstGeom>
          <a:noFill/>
          <a:ln w="63500">
            <a:solidFill>
              <a:schemeClr val="tx1"/>
            </a:solidFill>
            <a:prstDash val="solid"/>
          </a:ln>
        </p:spPr>
      </p:sp>
      <p:sp>
        <p:nvSpPr>
          <p:cNvPr id="15" name="Track 416"/>
          <p:cNvSpPr/>
          <p:nvPr/>
        </p:nvSpPr>
        <p:spPr>
          <a:xfrm>
            <a:off x="5141854" y="3154680"/>
            <a:ext cx="953994" cy="0"/>
          </a:xfrm>
          <a:prstGeom prst="line">
            <a:avLst/>
          </a:prstGeom>
          <a:noFill/>
          <a:ln w="63500">
            <a:solidFill>
              <a:schemeClr val="tx1"/>
            </a:solidFill>
            <a:prstDash val="solid"/>
          </a:ln>
        </p:spPr>
      </p:sp>
      <p:sp>
        <p:nvSpPr>
          <p:cNvPr id="16" name="Track 417"/>
          <p:cNvSpPr/>
          <p:nvPr/>
        </p:nvSpPr>
        <p:spPr>
          <a:xfrm>
            <a:off x="6095848" y="3154680"/>
            <a:ext cx="953994" cy="0"/>
          </a:xfrm>
          <a:prstGeom prst="line">
            <a:avLst/>
          </a:prstGeom>
          <a:noFill/>
          <a:ln w="63500">
            <a:solidFill>
              <a:schemeClr val="tx1"/>
            </a:solidFill>
            <a:prstDash val="solid"/>
          </a:ln>
        </p:spPr>
      </p:sp>
      <p:sp>
        <p:nvSpPr>
          <p:cNvPr id="17" name="Track 418"/>
          <p:cNvSpPr/>
          <p:nvPr/>
        </p:nvSpPr>
        <p:spPr>
          <a:xfrm>
            <a:off x="7049841" y="3154680"/>
            <a:ext cx="953994" cy="0"/>
          </a:xfrm>
          <a:prstGeom prst="line">
            <a:avLst/>
          </a:prstGeom>
          <a:noFill/>
          <a:ln w="63500">
            <a:solidFill>
              <a:schemeClr val="accent1"/>
            </a:solidFill>
            <a:prstDash val="solid"/>
          </a:ln>
        </p:spPr>
      </p:sp>
      <p:sp>
        <p:nvSpPr>
          <p:cNvPr id="18" name="Track 419"/>
          <p:cNvSpPr/>
          <p:nvPr/>
        </p:nvSpPr>
        <p:spPr>
          <a:xfrm>
            <a:off x="8003835" y="3154680"/>
            <a:ext cx="953994" cy="0"/>
          </a:xfrm>
          <a:prstGeom prst="line">
            <a:avLst/>
          </a:prstGeom>
          <a:noFill/>
          <a:ln w="63500">
            <a:solidFill>
              <a:schemeClr val="accent1"/>
            </a:solidFill>
            <a:prstDash val="solid"/>
          </a:ln>
        </p:spPr>
      </p:sp>
      <p:sp>
        <p:nvSpPr>
          <p:cNvPr id="19" name="Track 420"/>
          <p:cNvSpPr/>
          <p:nvPr/>
        </p:nvSpPr>
        <p:spPr>
          <a:xfrm>
            <a:off x="8957828" y="3154680"/>
            <a:ext cx="953994" cy="0"/>
          </a:xfrm>
          <a:prstGeom prst="line">
            <a:avLst/>
          </a:prstGeom>
          <a:noFill/>
          <a:ln w="63500">
            <a:solidFill>
              <a:schemeClr val="accent1"/>
            </a:solidFill>
            <a:prstDash val="solid"/>
          </a:ln>
        </p:spPr>
      </p:sp>
      <p:sp>
        <p:nvSpPr>
          <p:cNvPr id="20" name="Track 421"/>
          <p:cNvSpPr/>
          <p:nvPr/>
        </p:nvSpPr>
        <p:spPr>
          <a:xfrm>
            <a:off x="9911822" y="3154680"/>
            <a:ext cx="953994" cy="0"/>
          </a:xfrm>
          <a:prstGeom prst="line">
            <a:avLst/>
          </a:prstGeom>
          <a:noFill/>
          <a:ln w="63500">
            <a:solidFill>
              <a:schemeClr val="accent1"/>
            </a:solidFill>
            <a:prstDash val="solid"/>
          </a:ln>
        </p:spPr>
      </p:sp>
      <p:sp>
        <p:nvSpPr>
          <p:cNvPr id="21" name="Station 422"/>
          <p:cNvSpPr/>
          <p:nvPr/>
        </p:nvSpPr>
        <p:spPr>
          <a:xfrm>
            <a:off x="1161288" y="2990088"/>
            <a:ext cx="329184" cy="329184"/>
          </a:xfrm>
          <a:prstGeom prst="ellipse">
            <a:avLst/>
          </a:prstGeom>
          <a:solidFill>
            <a:schemeClr val="accent2"/>
          </a:solidFill>
          <a:ln w="31750">
            <a:solidFill>
              <a:schemeClr val="bg2"/>
            </a:solidFill>
            <a:prstDash val="solid"/>
          </a:ln>
        </p:spPr>
      </p:sp>
      <p:sp>
        <p:nvSpPr>
          <p:cNvPr id="22" name="Text 423"/>
          <p:cNvSpPr txBox="1"/>
          <p:nvPr/>
        </p:nvSpPr>
        <p:spPr>
          <a:xfrm>
            <a:off x="475488"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feature/nnn-slug</a:t>
            </a:r>
            <a:endParaRPr lang="en-US" sz="1400" dirty="0"/>
          </a:p>
          <a:p>
            <a:pPr algn="ctr" indent="0" marL="0">
              <a:buNone/>
            </a:pPr>
            <a:r>
              <a:rPr lang="en-US" sz="1100" dirty="0">
                <a:solidFill>
                  <a:schemeClr val="tx2"/>
                </a:solidFill>
              </a:rPr>
              <a:t>cut from develop</a:t>
            </a:r>
            <a:endParaRPr lang="en-US" sz="1400" dirty="0"/>
          </a:p>
        </p:txBody>
      </p:sp>
      <p:sp>
        <p:nvSpPr>
          <p:cNvPr id="23" name="Station 424"/>
          <p:cNvSpPr/>
          <p:nvPr/>
        </p:nvSpPr>
        <p:spPr>
          <a:xfrm>
            <a:off x="2115282" y="2990088"/>
            <a:ext cx="329184" cy="329184"/>
          </a:xfrm>
          <a:prstGeom prst="ellipse">
            <a:avLst/>
          </a:prstGeom>
          <a:solidFill>
            <a:schemeClr val="accent2"/>
          </a:solidFill>
          <a:ln w="31750">
            <a:solidFill>
              <a:schemeClr val="bg2"/>
            </a:solidFill>
            <a:prstDash val="solid"/>
          </a:ln>
        </p:spPr>
      </p:sp>
      <p:sp>
        <p:nvSpPr>
          <p:cNvPr id="24" name="Text 425"/>
          <p:cNvSpPr txBox="1"/>
          <p:nvPr/>
        </p:nvSpPr>
        <p:spPr>
          <a:xfrm>
            <a:off x="1429482"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Pull request</a:t>
            </a:r>
            <a:endParaRPr lang="en-US" sz="1400" dirty="0"/>
          </a:p>
          <a:p>
            <a:pPr algn="ctr" indent="0" marL="0">
              <a:buNone/>
            </a:pPr>
            <a:r>
              <a:rPr lang="en-US" sz="1100" dirty="0">
                <a:solidFill>
                  <a:schemeClr val="tx2"/>
                </a:solidFill>
              </a:rPr>
              <a:t>fast and integration checks</a:t>
            </a:r>
            <a:endParaRPr lang="en-US" sz="1400" dirty="0"/>
          </a:p>
        </p:txBody>
      </p:sp>
      <p:sp>
        <p:nvSpPr>
          <p:cNvPr id="25" name="Station 426"/>
          <p:cNvSpPr/>
          <p:nvPr/>
        </p:nvSpPr>
        <p:spPr>
          <a:xfrm>
            <a:off x="3069275" y="2990088"/>
            <a:ext cx="329184" cy="329184"/>
          </a:xfrm>
          <a:prstGeom prst="ellipse">
            <a:avLst/>
          </a:prstGeom>
          <a:solidFill>
            <a:schemeClr val="accent2"/>
          </a:solidFill>
          <a:ln w="31750">
            <a:solidFill>
              <a:schemeClr val="bg2"/>
            </a:solidFill>
            <a:prstDash val="solid"/>
          </a:ln>
        </p:spPr>
      </p:sp>
      <p:sp>
        <p:nvSpPr>
          <p:cNvPr id="26" name="Text 427"/>
          <p:cNvSpPr txBox="1"/>
          <p:nvPr/>
        </p:nvSpPr>
        <p:spPr>
          <a:xfrm>
            <a:off x="2383475"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develop</a:t>
            </a:r>
            <a:endParaRPr lang="en-US" sz="1400" dirty="0"/>
          </a:p>
          <a:p>
            <a:pPr algn="ctr" indent="0" marL="0">
              <a:buNone/>
            </a:pPr>
            <a:r>
              <a:rPr lang="en-US" sz="1100" dirty="0">
                <a:solidFill>
                  <a:schemeClr val="tx2"/>
                </a:solidFill>
              </a:rPr>
              <a:t>merge commit only</a:t>
            </a:r>
            <a:endParaRPr lang="en-US" sz="1400" dirty="0"/>
          </a:p>
        </p:txBody>
      </p:sp>
      <p:sp>
        <p:nvSpPr>
          <p:cNvPr id="27" name="Station 428"/>
          <p:cNvSpPr/>
          <p:nvPr/>
        </p:nvSpPr>
        <p:spPr>
          <a:xfrm>
            <a:off x="4023269" y="2990088"/>
            <a:ext cx="329184" cy="329184"/>
          </a:xfrm>
          <a:prstGeom prst="ellipse">
            <a:avLst/>
          </a:prstGeom>
          <a:solidFill>
            <a:schemeClr val="accent2"/>
          </a:solidFill>
          <a:ln w="31750">
            <a:solidFill>
              <a:schemeClr val="bg2"/>
            </a:solidFill>
            <a:prstDash val="solid"/>
          </a:ln>
        </p:spPr>
      </p:sp>
      <p:sp>
        <p:nvSpPr>
          <p:cNvPr id="28" name="Text 429"/>
          <p:cNvSpPr txBox="1"/>
          <p:nvPr/>
        </p:nvSpPr>
        <p:spPr>
          <a:xfrm>
            <a:off x="3337469"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Staging</a:t>
            </a:r>
            <a:endParaRPr lang="en-US" sz="1400" dirty="0"/>
          </a:p>
          <a:p>
            <a:pPr algn="ctr" indent="0" marL="0">
              <a:buNone/>
            </a:pPr>
            <a:r>
              <a:rPr lang="en-US" sz="1100" dirty="0">
                <a:solidFill>
                  <a:schemeClr val="tx2"/>
                </a:solidFill>
              </a:rPr>
              <a:t>deployed on every merge</a:t>
            </a:r>
            <a:endParaRPr lang="en-US" sz="1400" dirty="0"/>
          </a:p>
        </p:txBody>
      </p:sp>
      <p:sp>
        <p:nvSpPr>
          <p:cNvPr id="29" name="Station 430"/>
          <p:cNvSpPr/>
          <p:nvPr/>
        </p:nvSpPr>
        <p:spPr>
          <a:xfrm>
            <a:off x="4977262" y="2990088"/>
            <a:ext cx="329184" cy="329184"/>
          </a:xfrm>
          <a:prstGeom prst="ellipse">
            <a:avLst/>
          </a:prstGeom>
          <a:solidFill>
            <a:schemeClr val="tx1"/>
          </a:solidFill>
          <a:ln w="31750">
            <a:solidFill>
              <a:schemeClr val="bg2"/>
            </a:solidFill>
            <a:prstDash val="solid"/>
          </a:ln>
        </p:spPr>
      </p:sp>
      <p:sp>
        <p:nvSpPr>
          <p:cNvPr id="30" name="Text 431"/>
          <p:cNvSpPr txBox="1"/>
          <p:nvPr/>
        </p:nvSpPr>
        <p:spPr>
          <a:xfrm>
            <a:off x="4291462"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latin typeface="Consolas" pitchFamily="34" charset="0"/>
                <a:ea typeface="Consolas" pitchFamily="34" charset="-122"/>
                <a:cs typeface="Consolas" pitchFamily="34" charset="-120"/>
              </a:rPr>
              <a:t>release/x.y.z</a:t>
            </a:r>
            <a:endParaRPr lang="en-US" sz="1400" dirty="0"/>
          </a:p>
          <a:p>
            <a:pPr algn="ctr" indent="0" marL="0">
              <a:buNone/>
            </a:pPr>
            <a:r>
              <a:rPr lang="en-US" sz="1100" dirty="0">
                <a:solidFill>
                  <a:schemeClr val="tx2"/>
                </a:solidFill>
              </a:rPr>
              <a:t>versions and changelog</a:t>
            </a:r>
            <a:endParaRPr lang="en-US" sz="1400" dirty="0"/>
          </a:p>
        </p:txBody>
      </p:sp>
      <p:sp>
        <p:nvSpPr>
          <p:cNvPr id="31" name="Station 432"/>
          <p:cNvSpPr/>
          <p:nvPr/>
        </p:nvSpPr>
        <p:spPr>
          <a:xfrm>
            <a:off x="5931256" y="2990088"/>
            <a:ext cx="329184" cy="329184"/>
          </a:xfrm>
          <a:prstGeom prst="ellipse">
            <a:avLst/>
          </a:prstGeom>
          <a:solidFill>
            <a:schemeClr val="tx1"/>
          </a:solidFill>
          <a:ln w="31750">
            <a:solidFill>
              <a:schemeClr val="bg2"/>
            </a:solidFill>
            <a:prstDash val="solid"/>
          </a:ln>
        </p:spPr>
      </p:sp>
      <p:sp>
        <p:nvSpPr>
          <p:cNvPr id="32" name="Text 433"/>
          <p:cNvSpPr txBox="1"/>
          <p:nvPr/>
        </p:nvSpPr>
        <p:spPr>
          <a:xfrm>
            <a:off x="5245456"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latin typeface="Consolas" pitchFamily="34" charset="0"/>
                <a:ea typeface="Consolas" pitchFamily="34" charset="-122"/>
                <a:cs typeface="Consolas" pitchFamily="34" charset="-120"/>
              </a:rPr>
              <a:t>main</a:t>
            </a:r>
            <a:endParaRPr lang="en-US" sz="1400" dirty="0"/>
          </a:p>
          <a:p>
            <a:pPr algn="ctr" indent="0" marL="0">
              <a:buNone/>
            </a:pPr>
            <a:r>
              <a:rPr lang="en-US" sz="1100" dirty="0">
                <a:solidFill>
                  <a:schemeClr val="tx2"/>
                </a:solidFill>
              </a:rPr>
              <a:t>pull request and checks</a:t>
            </a:r>
            <a:endParaRPr lang="en-US" sz="1400" dirty="0"/>
          </a:p>
        </p:txBody>
      </p:sp>
      <p:sp>
        <p:nvSpPr>
          <p:cNvPr id="33" name="Station 434"/>
          <p:cNvSpPr/>
          <p:nvPr/>
        </p:nvSpPr>
        <p:spPr>
          <a:xfrm>
            <a:off x="6885249" y="2990088"/>
            <a:ext cx="329184" cy="329184"/>
          </a:xfrm>
          <a:prstGeom prst="ellipse">
            <a:avLst/>
          </a:prstGeom>
          <a:solidFill>
            <a:schemeClr val="tx1"/>
          </a:solidFill>
          <a:ln w="31750">
            <a:solidFill>
              <a:schemeClr val="bg2"/>
            </a:solidFill>
            <a:prstDash val="solid"/>
          </a:ln>
        </p:spPr>
      </p:sp>
      <p:sp>
        <p:nvSpPr>
          <p:cNvPr id="34" name="Text 435"/>
          <p:cNvSpPr txBox="1"/>
          <p:nvPr/>
        </p:nvSpPr>
        <p:spPr>
          <a:xfrm>
            <a:off x="6199449"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Tag vX.Y.Z</a:t>
            </a:r>
            <a:endParaRPr lang="en-US" sz="1400" dirty="0"/>
          </a:p>
          <a:p>
            <a:pPr algn="ctr" indent="0" marL="0">
              <a:buNone/>
            </a:pPr>
            <a:r>
              <a:rPr lang="en-US" sz="1100" dirty="0">
                <a:solidFill>
                  <a:schemeClr val="tx2"/>
                </a:solidFill>
              </a:rPr>
              <a:t>a tag is never moved</a:t>
            </a:r>
            <a:endParaRPr lang="en-US" sz="1400" dirty="0"/>
          </a:p>
        </p:txBody>
      </p:sp>
      <p:sp>
        <p:nvSpPr>
          <p:cNvPr id="35" name="Icon check 436"/>
          <p:cNvSpPr/>
          <p:nvPr/>
        </p:nvSpPr>
        <p:spPr>
          <a:xfrm>
            <a:off x="7747803" y="2898648"/>
            <a:ext cx="512064" cy="512064"/>
          </a:xfrm>
          <a:prstGeom prst="ellipse">
            <a:avLst/>
          </a:prstGeom>
          <a:solidFill>
            <a:schemeClr val="accent1"/>
          </a:solidFill>
          <a:ln/>
        </p:spPr>
      </p:sp>
      <p:sp>
        <p:nvSpPr>
          <p:cNvPr id="36" name="Glyph stroke 438"/>
          <p:cNvSpPr/>
          <p:nvPr/>
        </p:nvSpPr>
        <p:spPr>
          <a:xfrm>
            <a:off x="7895687" y="3159596"/>
            <a:ext cx="78653" cy="78653"/>
          </a:xfrm>
          <a:prstGeom prst="line">
            <a:avLst/>
          </a:prstGeom>
          <a:noFill/>
          <a:ln w="44450">
            <a:solidFill>
              <a:schemeClr val="tx1"/>
            </a:solidFill>
            <a:prstDash val="solid"/>
          </a:ln>
        </p:spPr>
      </p:sp>
      <p:sp>
        <p:nvSpPr>
          <p:cNvPr id="37" name="Glyph stroke 439"/>
          <p:cNvSpPr/>
          <p:nvPr/>
        </p:nvSpPr>
        <p:spPr>
          <a:xfrm flipV="1">
            <a:off x="7974340" y="3076027"/>
            <a:ext cx="142559" cy="162222"/>
          </a:xfrm>
          <a:prstGeom prst="line">
            <a:avLst/>
          </a:prstGeom>
          <a:noFill/>
          <a:ln w="44450">
            <a:solidFill>
              <a:schemeClr val="tx1"/>
            </a:solidFill>
            <a:prstDash val="solid"/>
          </a:ln>
        </p:spPr>
      </p:sp>
      <p:sp>
        <p:nvSpPr>
          <p:cNvPr id="38" name="Text 440"/>
          <p:cNvSpPr txBox="1"/>
          <p:nvPr/>
        </p:nvSpPr>
        <p:spPr>
          <a:xfrm>
            <a:off x="7153443"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Approval gate</a:t>
            </a:r>
            <a:endParaRPr lang="en-US" sz="1400" dirty="0"/>
          </a:p>
          <a:p>
            <a:pPr algn="ctr" indent="0" marL="0">
              <a:buNone/>
            </a:pPr>
            <a:r>
              <a:rPr lang="en-US" sz="1100" dirty="0">
                <a:solidFill>
                  <a:schemeClr val="tx2"/>
                </a:solidFill>
              </a:rPr>
              <a:t>waits for me</a:t>
            </a:r>
            <a:endParaRPr lang="en-US" sz="1400" dirty="0"/>
          </a:p>
        </p:txBody>
      </p:sp>
      <p:sp>
        <p:nvSpPr>
          <p:cNvPr id="39" name="Station 441"/>
          <p:cNvSpPr/>
          <p:nvPr/>
        </p:nvSpPr>
        <p:spPr>
          <a:xfrm>
            <a:off x="8793236" y="2990088"/>
            <a:ext cx="329184" cy="329184"/>
          </a:xfrm>
          <a:prstGeom prst="ellipse">
            <a:avLst/>
          </a:prstGeom>
          <a:solidFill>
            <a:schemeClr val="accent1"/>
          </a:solidFill>
          <a:ln w="31750">
            <a:solidFill>
              <a:schemeClr val="bg2"/>
            </a:solidFill>
            <a:prstDash val="solid"/>
          </a:ln>
        </p:spPr>
      </p:sp>
      <p:sp>
        <p:nvSpPr>
          <p:cNvPr id="40" name="Text 442"/>
          <p:cNvSpPr txBox="1"/>
          <p:nvPr/>
        </p:nvSpPr>
        <p:spPr>
          <a:xfrm>
            <a:off x="8107436"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Candidate</a:t>
            </a:r>
            <a:endParaRPr lang="en-US" sz="1400" dirty="0"/>
          </a:p>
          <a:p>
            <a:pPr algn="ctr" indent="0" marL="0">
              <a:buNone/>
            </a:pPr>
            <a:r>
              <a:rPr lang="en-US" sz="1100" dirty="0">
                <a:solidFill>
                  <a:schemeClr val="tx2"/>
                </a:solidFill>
              </a:rPr>
              <a:t>deployed with no traffic</a:t>
            </a:r>
            <a:endParaRPr lang="en-US" sz="1400" dirty="0"/>
          </a:p>
        </p:txBody>
      </p:sp>
      <p:sp>
        <p:nvSpPr>
          <p:cNvPr id="41" name="Station 443"/>
          <p:cNvSpPr/>
          <p:nvPr/>
        </p:nvSpPr>
        <p:spPr>
          <a:xfrm>
            <a:off x="9747230" y="2990088"/>
            <a:ext cx="329184" cy="329184"/>
          </a:xfrm>
          <a:prstGeom prst="ellipse">
            <a:avLst/>
          </a:prstGeom>
          <a:solidFill>
            <a:schemeClr val="accent1"/>
          </a:solidFill>
          <a:ln w="31750">
            <a:solidFill>
              <a:schemeClr val="bg2"/>
            </a:solidFill>
            <a:prstDash val="solid"/>
          </a:ln>
        </p:spPr>
      </p:sp>
      <p:sp>
        <p:nvSpPr>
          <p:cNvPr id="42" name="Text 444"/>
          <p:cNvSpPr txBox="1"/>
          <p:nvPr/>
        </p:nvSpPr>
        <p:spPr>
          <a:xfrm>
            <a:off x="9061430" y="3538728"/>
            <a:ext cx="1700784" cy="658368"/>
          </a:xfrm>
          <a:prstGeom prst="rect">
            <a:avLst/>
          </a:prstGeom>
          <a:noFill/>
          <a:ln/>
        </p:spPr>
        <p:txBody>
          <a:bodyPr wrap="square" lIns="0" tIns="0" rIns="0" bIns="0" rtlCol="0" anchor="t"/>
          <a:lstStyle/>
          <a:p>
            <a:pPr algn="ctr" indent="0" marL="0">
              <a:buNone/>
            </a:pPr>
            <a:r>
              <a:rPr lang="en-US" sz="1400" b="1" dirty="0">
                <a:solidFill>
                  <a:schemeClr val="tx1"/>
                </a:solidFill>
              </a:rPr>
              <a:t>Smoke test</a:t>
            </a:r>
            <a:endParaRPr lang="en-US" sz="1400" dirty="0"/>
          </a:p>
          <a:p>
            <a:pPr algn="ctr" indent="0" marL="0">
              <a:buNone/>
            </a:pPr>
            <a:r>
              <a:rPr lang="en-US" sz="1100" dirty="0">
                <a:solidFill>
                  <a:schemeClr val="tx2"/>
                </a:solidFill>
              </a:rPr>
              <a:t>of the candidate alone</a:t>
            </a:r>
            <a:endParaRPr lang="en-US" sz="1400" dirty="0"/>
          </a:p>
        </p:txBody>
      </p:sp>
      <p:sp>
        <p:nvSpPr>
          <p:cNvPr id="43" name="Station 445"/>
          <p:cNvSpPr/>
          <p:nvPr/>
        </p:nvSpPr>
        <p:spPr>
          <a:xfrm>
            <a:off x="10701223" y="2990088"/>
            <a:ext cx="329184" cy="329184"/>
          </a:xfrm>
          <a:prstGeom prst="ellipse">
            <a:avLst/>
          </a:prstGeom>
          <a:solidFill>
            <a:schemeClr val="accent1"/>
          </a:solidFill>
          <a:ln w="31750">
            <a:solidFill>
              <a:schemeClr val="bg2"/>
            </a:solidFill>
            <a:prstDash val="solid"/>
          </a:ln>
        </p:spPr>
      </p:sp>
      <p:sp>
        <p:nvSpPr>
          <p:cNvPr id="44" name="Text 446"/>
          <p:cNvSpPr txBox="1"/>
          <p:nvPr/>
        </p:nvSpPr>
        <p:spPr>
          <a:xfrm>
            <a:off x="10015423" y="2112264"/>
            <a:ext cx="1700784" cy="658368"/>
          </a:xfrm>
          <a:prstGeom prst="rect">
            <a:avLst/>
          </a:prstGeom>
          <a:noFill/>
          <a:ln/>
        </p:spPr>
        <p:txBody>
          <a:bodyPr wrap="square" lIns="0" tIns="0" rIns="0" bIns="0" rtlCol="0" anchor="b"/>
          <a:lstStyle/>
          <a:p>
            <a:pPr algn="ctr" indent="0" marL="0">
              <a:buNone/>
            </a:pPr>
            <a:r>
              <a:rPr lang="en-US" sz="1400" b="1" dirty="0">
                <a:solidFill>
                  <a:schemeClr val="tx1"/>
                </a:solidFill>
              </a:rPr>
              <a:t>Traffic shift</a:t>
            </a:r>
            <a:endParaRPr lang="en-US" sz="1400" dirty="0"/>
          </a:p>
          <a:p>
            <a:pPr algn="ctr" indent="0" marL="0">
              <a:buNone/>
            </a:pPr>
            <a:r>
              <a:rPr lang="en-US" sz="1100" dirty="0">
                <a:solidFill>
                  <a:schemeClr val="tx2"/>
                </a:solidFill>
              </a:rPr>
              <a:t>then the frontend</a:t>
            </a:r>
            <a:endParaRPr lang="en-US" sz="1400" dirty="0"/>
          </a:p>
        </p:txBody>
      </p:sp>
      <p:sp>
        <p:nvSpPr>
          <p:cNvPr id="45" name="Card 447"/>
          <p:cNvSpPr/>
          <p:nvPr/>
        </p:nvSpPr>
        <p:spPr>
          <a:xfrm>
            <a:off x="457200" y="4526280"/>
            <a:ext cx="2613584" cy="1325880"/>
          </a:xfrm>
          <a:prstGeom prst="roundRect">
            <a:avLst>
              <a:gd name="adj" fmla="val 6897"/>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46" name="Icon branch 448"/>
          <p:cNvSpPr/>
          <p:nvPr/>
        </p:nvSpPr>
        <p:spPr>
          <a:xfrm>
            <a:off x="658368" y="4709160"/>
            <a:ext cx="475488" cy="475488"/>
          </a:xfrm>
          <a:prstGeom prst="ellipse">
            <a:avLst/>
          </a:prstGeom>
          <a:solidFill>
            <a:schemeClr val="accent1"/>
          </a:solidFill>
          <a:ln/>
        </p:spPr>
      </p:sp>
      <p:sp>
        <p:nvSpPr>
          <p:cNvPr id="47" name="Glyph stroke 450"/>
          <p:cNvSpPr/>
          <p:nvPr/>
        </p:nvSpPr>
        <p:spPr>
          <a:xfrm>
            <a:off x="834299" y="4861316"/>
            <a:ext cx="0" cy="171176"/>
          </a:xfrm>
          <a:prstGeom prst="line">
            <a:avLst/>
          </a:prstGeom>
          <a:noFill/>
          <a:ln w="28575">
            <a:solidFill>
              <a:schemeClr val="tx1"/>
            </a:solidFill>
            <a:prstDash val="solid"/>
          </a:ln>
        </p:spPr>
      </p:sp>
      <p:sp>
        <p:nvSpPr>
          <p:cNvPr id="48" name="Glyph stroke 451"/>
          <p:cNvSpPr/>
          <p:nvPr/>
        </p:nvSpPr>
        <p:spPr>
          <a:xfrm flipH="1">
            <a:off x="834299" y="4894600"/>
            <a:ext cx="118872" cy="104607"/>
          </a:xfrm>
          <a:prstGeom prst="line">
            <a:avLst/>
          </a:prstGeom>
          <a:noFill/>
          <a:ln w="28575">
            <a:solidFill>
              <a:schemeClr val="tx1"/>
            </a:solidFill>
            <a:prstDash val="solid"/>
          </a:ln>
        </p:spPr>
      </p:sp>
      <p:sp>
        <p:nvSpPr>
          <p:cNvPr id="49" name="Glyph part 452"/>
          <p:cNvSpPr/>
          <p:nvPr/>
        </p:nvSpPr>
        <p:spPr>
          <a:xfrm>
            <a:off x="801014" y="4828032"/>
            <a:ext cx="66568" cy="66568"/>
          </a:xfrm>
          <a:prstGeom prst="ellipse">
            <a:avLst/>
          </a:prstGeom>
          <a:solidFill>
            <a:schemeClr val="tx1"/>
          </a:solidFill>
          <a:ln/>
        </p:spPr>
      </p:sp>
      <p:sp>
        <p:nvSpPr>
          <p:cNvPr id="50" name="Glyph part 453"/>
          <p:cNvSpPr/>
          <p:nvPr/>
        </p:nvSpPr>
        <p:spPr>
          <a:xfrm>
            <a:off x="801014" y="4999208"/>
            <a:ext cx="66568" cy="66568"/>
          </a:xfrm>
          <a:prstGeom prst="ellipse">
            <a:avLst/>
          </a:prstGeom>
          <a:solidFill>
            <a:schemeClr val="tx1"/>
          </a:solidFill>
          <a:ln/>
        </p:spPr>
      </p:sp>
      <p:sp>
        <p:nvSpPr>
          <p:cNvPr id="51" name="Glyph part 454"/>
          <p:cNvSpPr/>
          <p:nvPr/>
        </p:nvSpPr>
        <p:spPr>
          <a:xfrm>
            <a:off x="919886" y="4861316"/>
            <a:ext cx="66568" cy="66568"/>
          </a:xfrm>
          <a:prstGeom prst="ellipse">
            <a:avLst/>
          </a:prstGeom>
          <a:solidFill>
            <a:schemeClr val="tx1"/>
          </a:solidFill>
          <a:ln/>
        </p:spPr>
      </p:sp>
      <p:sp>
        <p:nvSpPr>
          <p:cNvPr id="52" name="Text 455"/>
          <p:cNvSpPr txBox="1"/>
          <p:nvPr/>
        </p:nvSpPr>
        <p:spPr>
          <a:xfrm>
            <a:off x="1261872" y="4709160"/>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Reduced GitFlow</a:t>
            </a:r>
            <a:endParaRPr lang="en-US" sz="1600" dirty="0"/>
          </a:p>
        </p:txBody>
      </p:sp>
      <p:sp>
        <p:nvSpPr>
          <p:cNvPr id="53" name="Text 456"/>
          <p:cNvSpPr txBox="1"/>
          <p:nvPr/>
        </p:nvSpPr>
        <p:spPr>
          <a:xfrm>
            <a:off x="658368" y="5276088"/>
            <a:ext cx="2211248" cy="457200"/>
          </a:xfrm>
          <a:prstGeom prst="rect">
            <a:avLst/>
          </a:prstGeom>
          <a:noFill/>
          <a:ln/>
        </p:spPr>
        <p:txBody>
          <a:bodyPr wrap="square" lIns="0" tIns="0" rIns="0" bIns="0" rtlCol="0" anchor="t"/>
          <a:lstStyle/>
          <a:p>
            <a:pPr indent="0" marL="0">
              <a:buNone/>
            </a:pPr>
            <a:r>
              <a:rPr lang="en-US" sz="1400" dirty="0">
                <a:solidFill>
                  <a:schemeClr val="tx2"/>
                </a:solidFill>
              </a:rPr>
              <a:t>main, develop, feature, docs, test, release and hotfix</a:t>
            </a:r>
            <a:endParaRPr lang="en-US" sz="1400" dirty="0"/>
          </a:p>
        </p:txBody>
      </p:sp>
      <p:sp>
        <p:nvSpPr>
          <p:cNvPr id="54" name="Card 457"/>
          <p:cNvSpPr/>
          <p:nvPr/>
        </p:nvSpPr>
        <p:spPr>
          <a:xfrm>
            <a:off x="3345104" y="4526280"/>
            <a:ext cx="2613584" cy="1325880"/>
          </a:xfrm>
          <a:prstGeom prst="roundRect">
            <a:avLst>
              <a:gd name="adj" fmla="val 6897"/>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5" name="Icon check 458"/>
          <p:cNvSpPr/>
          <p:nvPr/>
        </p:nvSpPr>
        <p:spPr>
          <a:xfrm>
            <a:off x="3546272" y="4709160"/>
            <a:ext cx="475488" cy="475488"/>
          </a:xfrm>
          <a:prstGeom prst="ellipse">
            <a:avLst/>
          </a:prstGeom>
          <a:solidFill>
            <a:schemeClr val="accent1"/>
          </a:solidFill>
          <a:ln/>
        </p:spPr>
      </p:sp>
      <p:sp>
        <p:nvSpPr>
          <p:cNvPr id="56" name="Glyph stroke 460"/>
          <p:cNvSpPr/>
          <p:nvPr/>
        </p:nvSpPr>
        <p:spPr>
          <a:xfrm>
            <a:off x="3679408" y="4951659"/>
            <a:ext cx="76078" cy="76078"/>
          </a:xfrm>
          <a:prstGeom prst="line">
            <a:avLst/>
          </a:prstGeom>
          <a:noFill/>
          <a:ln w="44450">
            <a:solidFill>
              <a:schemeClr val="tx1"/>
            </a:solidFill>
            <a:prstDash val="solid"/>
          </a:ln>
        </p:spPr>
      </p:sp>
      <p:sp>
        <p:nvSpPr>
          <p:cNvPr id="57" name="Glyph stroke 461"/>
          <p:cNvSpPr/>
          <p:nvPr/>
        </p:nvSpPr>
        <p:spPr>
          <a:xfrm flipV="1">
            <a:off x="3755487" y="4870826"/>
            <a:ext cx="137892" cy="156911"/>
          </a:xfrm>
          <a:prstGeom prst="line">
            <a:avLst/>
          </a:prstGeom>
          <a:noFill/>
          <a:ln w="44450">
            <a:solidFill>
              <a:schemeClr val="tx1"/>
            </a:solidFill>
            <a:prstDash val="solid"/>
          </a:ln>
        </p:spPr>
      </p:sp>
      <p:sp>
        <p:nvSpPr>
          <p:cNvPr id="58" name="Text 462"/>
          <p:cNvSpPr txBox="1"/>
          <p:nvPr/>
        </p:nvSpPr>
        <p:spPr>
          <a:xfrm>
            <a:off x="4149776" y="4709160"/>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Required checks</a:t>
            </a:r>
            <a:endParaRPr lang="en-US" sz="1600" dirty="0"/>
          </a:p>
        </p:txBody>
      </p:sp>
      <p:sp>
        <p:nvSpPr>
          <p:cNvPr id="59" name="Text 463"/>
          <p:cNvSpPr txBox="1"/>
          <p:nvPr/>
        </p:nvSpPr>
        <p:spPr>
          <a:xfrm>
            <a:off x="3546272" y="5276088"/>
            <a:ext cx="2211248" cy="457200"/>
          </a:xfrm>
          <a:prstGeom prst="rect">
            <a:avLst/>
          </a:prstGeom>
          <a:noFill/>
          <a:ln/>
        </p:spPr>
        <p:txBody>
          <a:bodyPr wrap="square" lIns="0" tIns="0" rIns="0" bIns="0" rtlCol="0" anchor="t"/>
          <a:lstStyle/>
          <a:p>
            <a:pPr indent="0" marL="0">
              <a:buNone/>
            </a:pPr>
            <a:r>
              <a:rPr lang="en-US" sz="1400" dirty="0">
                <a:solidFill>
                  <a:schemeClr val="tx2"/>
                </a:solidFill>
              </a:rPr>
              <a:t>Fast and integration, and both must pass</a:t>
            </a:r>
            <a:endParaRPr lang="en-US" sz="1400" dirty="0"/>
          </a:p>
        </p:txBody>
      </p:sp>
      <p:sp>
        <p:nvSpPr>
          <p:cNvPr id="60" name="Card 464"/>
          <p:cNvSpPr/>
          <p:nvPr/>
        </p:nvSpPr>
        <p:spPr>
          <a:xfrm>
            <a:off x="6233008" y="4526280"/>
            <a:ext cx="2613584" cy="1325880"/>
          </a:xfrm>
          <a:prstGeom prst="roundRect">
            <a:avLst>
              <a:gd name="adj" fmla="val 6897"/>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1" name="Icon deny 465"/>
          <p:cNvSpPr/>
          <p:nvPr/>
        </p:nvSpPr>
        <p:spPr>
          <a:xfrm>
            <a:off x="6434176" y="4709160"/>
            <a:ext cx="475488" cy="475488"/>
          </a:xfrm>
          <a:prstGeom prst="ellipse">
            <a:avLst/>
          </a:prstGeom>
          <a:solidFill>
            <a:schemeClr val="accent1"/>
          </a:solidFill>
          <a:ln/>
        </p:spPr>
      </p:sp>
      <p:sp>
        <p:nvSpPr>
          <p:cNvPr id="62" name="Glyph part 467"/>
          <p:cNvSpPr/>
          <p:nvPr/>
        </p:nvSpPr>
        <p:spPr>
          <a:xfrm>
            <a:off x="6557802" y="4832787"/>
            <a:ext cx="228234" cy="228234"/>
          </a:xfrm>
          <a:prstGeom prst="noSmoking">
            <a:avLst/>
          </a:prstGeom>
          <a:solidFill>
            <a:schemeClr val="tx1"/>
          </a:solidFill>
          <a:ln/>
        </p:spPr>
      </p:sp>
      <p:sp>
        <p:nvSpPr>
          <p:cNvPr id="63" name="Text 468"/>
          <p:cNvSpPr txBox="1"/>
          <p:nvPr/>
        </p:nvSpPr>
        <p:spPr>
          <a:xfrm>
            <a:off x="7037680" y="4709160"/>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No bypass</a:t>
            </a:r>
            <a:endParaRPr lang="en-US" sz="1600" dirty="0"/>
          </a:p>
        </p:txBody>
      </p:sp>
      <p:sp>
        <p:nvSpPr>
          <p:cNvPr id="64" name="Text 469"/>
          <p:cNvSpPr txBox="1"/>
          <p:nvPr/>
        </p:nvSpPr>
        <p:spPr>
          <a:xfrm>
            <a:off x="6434176" y="5276088"/>
            <a:ext cx="2211248" cy="457200"/>
          </a:xfrm>
          <a:prstGeom prst="rect">
            <a:avLst/>
          </a:prstGeom>
          <a:noFill/>
          <a:ln/>
        </p:spPr>
        <p:txBody>
          <a:bodyPr wrap="square" lIns="0" tIns="0" rIns="0" bIns="0" rtlCol="0" anchor="t"/>
          <a:lstStyle/>
          <a:p>
            <a:pPr indent="0" marL="0">
              <a:buNone/>
            </a:pPr>
            <a:r>
              <a:rPr lang="en-US" sz="1400" dirty="0">
                <a:solidFill>
                  <a:schemeClr val="tx2"/>
                </a:solidFill>
              </a:rPr>
              <a:t>Merge commits only, and the rules apply to me too</a:t>
            </a:r>
            <a:endParaRPr lang="en-US" sz="1400" dirty="0"/>
          </a:p>
        </p:txBody>
      </p:sp>
      <p:sp>
        <p:nvSpPr>
          <p:cNvPr id="65" name="Card 470"/>
          <p:cNvSpPr/>
          <p:nvPr/>
        </p:nvSpPr>
        <p:spPr>
          <a:xfrm>
            <a:off x="9120911" y="4526280"/>
            <a:ext cx="2613584" cy="1325880"/>
          </a:xfrm>
          <a:prstGeom prst="roundRect">
            <a:avLst>
              <a:gd name="adj" fmla="val 6897"/>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6" name="Icon tag 471"/>
          <p:cNvSpPr/>
          <p:nvPr/>
        </p:nvSpPr>
        <p:spPr>
          <a:xfrm>
            <a:off x="9322079" y="4709160"/>
            <a:ext cx="475488" cy="475488"/>
          </a:xfrm>
          <a:prstGeom prst="ellipse">
            <a:avLst/>
          </a:prstGeom>
          <a:solidFill>
            <a:schemeClr val="accent1"/>
          </a:solidFill>
          <a:ln/>
        </p:spPr>
      </p:sp>
      <p:sp>
        <p:nvSpPr>
          <p:cNvPr id="67" name="Glyph part 473"/>
          <p:cNvSpPr/>
          <p:nvPr/>
        </p:nvSpPr>
        <p:spPr>
          <a:xfrm>
            <a:off x="9440951" y="4875581"/>
            <a:ext cx="237744" cy="142646"/>
          </a:xfrm>
          <a:prstGeom prst="homePlate">
            <a:avLst/>
          </a:prstGeom>
          <a:solidFill>
            <a:schemeClr val="tx1"/>
          </a:solidFill>
          <a:ln/>
        </p:spPr>
      </p:sp>
      <p:sp>
        <p:nvSpPr>
          <p:cNvPr id="68" name="Glyph part 474"/>
          <p:cNvSpPr/>
          <p:nvPr/>
        </p:nvSpPr>
        <p:spPr>
          <a:xfrm>
            <a:off x="9597862" y="4927884"/>
            <a:ext cx="38039" cy="38039"/>
          </a:xfrm>
          <a:prstGeom prst="ellipse">
            <a:avLst/>
          </a:prstGeom>
          <a:solidFill>
            <a:schemeClr val="accent1"/>
          </a:solidFill>
          <a:ln/>
        </p:spPr>
      </p:sp>
      <p:sp>
        <p:nvSpPr>
          <p:cNvPr id="69" name="Text 475"/>
          <p:cNvSpPr txBox="1"/>
          <p:nvPr/>
        </p:nvSpPr>
        <p:spPr>
          <a:xfrm>
            <a:off x="9925583" y="4709160"/>
            <a:ext cx="1653464" cy="475488"/>
          </a:xfrm>
          <a:prstGeom prst="rect">
            <a:avLst/>
          </a:prstGeom>
          <a:noFill/>
          <a:ln/>
        </p:spPr>
        <p:txBody>
          <a:bodyPr wrap="square" lIns="0" tIns="0" rIns="0" bIns="0" rtlCol="0" anchor="ctr"/>
          <a:lstStyle/>
          <a:p>
            <a:pPr indent="0" marL="0">
              <a:buNone/>
            </a:pPr>
            <a:r>
              <a:rPr lang="en-US" sz="1600" b="1" dirty="0">
                <a:solidFill>
                  <a:schemeClr val="tx1"/>
                </a:solidFill>
              </a:rPr>
              <a:t>Tags stay put</a:t>
            </a:r>
            <a:endParaRPr lang="en-US" sz="1600" dirty="0"/>
          </a:p>
        </p:txBody>
      </p:sp>
      <p:sp>
        <p:nvSpPr>
          <p:cNvPr id="70" name="Text 476"/>
          <p:cNvSpPr txBox="1"/>
          <p:nvPr/>
        </p:nvSpPr>
        <p:spPr>
          <a:xfrm>
            <a:off x="9322079" y="5276088"/>
            <a:ext cx="2211248" cy="457200"/>
          </a:xfrm>
          <a:prstGeom prst="rect">
            <a:avLst/>
          </a:prstGeom>
          <a:noFill/>
          <a:ln/>
        </p:spPr>
        <p:txBody>
          <a:bodyPr wrap="square" lIns="0" tIns="0" rIns="0" bIns="0" rtlCol="0" anchor="t"/>
          <a:lstStyle/>
          <a:p>
            <a:pPr indent="0" marL="0">
              <a:buNone/>
            </a:pPr>
            <a:r>
              <a:rPr lang="en-US" sz="1400" dirty="0">
                <a:solidFill>
                  <a:schemeClr val="tx2"/>
                </a:solidFill>
              </a:rPr>
              <a:t>A ruleset stops a release tag from being moved</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  HOW IT IS DELIVERED</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Hosting and the release procedure</a:t>
            </a:r>
            <a:endParaRPr lang="en-US" sz="3600" dirty="0"/>
          </a:p>
        </p:txBody>
      </p:sp>
      <p:sp>
        <p:nvSpPr>
          <p:cNvPr id="5" name="Icon cloud 477"/>
          <p:cNvSpPr/>
          <p:nvPr/>
        </p:nvSpPr>
        <p:spPr>
          <a:xfrm>
            <a:off x="457200" y="1828800"/>
            <a:ext cx="548640" cy="548640"/>
          </a:xfrm>
          <a:prstGeom prst="ellipse">
            <a:avLst/>
          </a:prstGeom>
          <a:solidFill>
            <a:schemeClr val="accent1"/>
          </a:solidFill>
          <a:ln/>
        </p:spPr>
      </p:sp>
      <p:sp>
        <p:nvSpPr>
          <p:cNvPr id="6" name="Glyph part 479"/>
          <p:cNvSpPr/>
          <p:nvPr/>
        </p:nvSpPr>
        <p:spPr>
          <a:xfrm>
            <a:off x="583387" y="2103120"/>
            <a:ext cx="296266" cy="104242"/>
          </a:xfrm>
          <a:prstGeom prst="roundRect">
            <a:avLst>
              <a:gd name="adj" fmla="val 50000"/>
            </a:avLst>
          </a:prstGeom>
          <a:solidFill>
            <a:schemeClr val="tx1"/>
          </a:solidFill>
          <a:ln/>
        </p:spPr>
      </p:sp>
      <p:sp>
        <p:nvSpPr>
          <p:cNvPr id="7" name="Glyph part 480"/>
          <p:cNvSpPr/>
          <p:nvPr/>
        </p:nvSpPr>
        <p:spPr>
          <a:xfrm>
            <a:off x="605333" y="2064715"/>
            <a:ext cx="109728" cy="109728"/>
          </a:xfrm>
          <a:prstGeom prst="ellipse">
            <a:avLst/>
          </a:prstGeom>
          <a:solidFill>
            <a:schemeClr val="tx1"/>
          </a:solidFill>
          <a:ln/>
        </p:spPr>
      </p:sp>
      <p:sp>
        <p:nvSpPr>
          <p:cNvPr id="8" name="Glyph part 481"/>
          <p:cNvSpPr/>
          <p:nvPr/>
        </p:nvSpPr>
        <p:spPr>
          <a:xfrm>
            <a:off x="660197" y="1993392"/>
            <a:ext cx="153619" cy="153619"/>
          </a:xfrm>
          <a:prstGeom prst="ellipse">
            <a:avLst/>
          </a:prstGeom>
          <a:solidFill>
            <a:schemeClr val="tx1"/>
          </a:solidFill>
          <a:ln/>
        </p:spPr>
      </p:sp>
      <p:sp>
        <p:nvSpPr>
          <p:cNvPr id="9" name="Glyph part 482"/>
          <p:cNvSpPr/>
          <p:nvPr/>
        </p:nvSpPr>
        <p:spPr>
          <a:xfrm>
            <a:off x="753466" y="2053742"/>
            <a:ext cx="115214" cy="115214"/>
          </a:xfrm>
          <a:prstGeom prst="ellipse">
            <a:avLst/>
          </a:prstGeom>
          <a:solidFill>
            <a:schemeClr val="tx1"/>
          </a:solidFill>
          <a:ln/>
        </p:spPr>
      </p:sp>
      <p:sp>
        <p:nvSpPr>
          <p:cNvPr id="10" name="Text 483"/>
          <p:cNvSpPr txBox="1"/>
          <p:nvPr/>
        </p:nvSpPr>
        <p:spPr>
          <a:xfrm>
            <a:off x="1234440" y="1737360"/>
            <a:ext cx="4069080" cy="731520"/>
          </a:xfrm>
          <a:prstGeom prst="rect">
            <a:avLst/>
          </a:prstGeom>
          <a:noFill/>
          <a:ln/>
        </p:spPr>
        <p:txBody>
          <a:bodyPr wrap="square" lIns="0" tIns="0" rIns="0" bIns="0" rtlCol="0" anchor="ctr"/>
          <a:lstStyle/>
          <a:p>
            <a:pPr indent="0" marL="0">
              <a:buNone/>
            </a:pPr>
            <a:r>
              <a:rPr lang="en-US" sz="1600" b="1" dirty="0">
                <a:solidFill>
                  <a:schemeClr val="tx1"/>
                </a:solidFill>
              </a:rPr>
              <a:t>Three hosts</a:t>
            </a:r>
            <a:endParaRPr lang="en-US" sz="1400" dirty="0"/>
          </a:p>
          <a:p>
            <a:pPr indent="0" marL="0">
              <a:spcBef>
                <a:spcPts val="300"/>
              </a:spcBef>
              <a:buNone/>
            </a:pPr>
            <a:r>
              <a:rPr lang="en-US" sz="1400" dirty="0">
                <a:solidFill>
                  <a:schemeClr val="tx2"/>
                </a:solidFill>
              </a:rPr>
              <a:t>Vercel for the site, Cloud Run in London for the API, Neon in London for the database</a:t>
            </a:r>
            <a:endParaRPr lang="en-US" sz="1400" dirty="0"/>
          </a:p>
        </p:txBody>
      </p:sp>
      <p:sp>
        <p:nvSpPr>
          <p:cNvPr id="11" name="Icon key 484"/>
          <p:cNvSpPr/>
          <p:nvPr/>
        </p:nvSpPr>
        <p:spPr>
          <a:xfrm>
            <a:off x="457200" y="2926080"/>
            <a:ext cx="548640" cy="548640"/>
          </a:xfrm>
          <a:prstGeom prst="ellipse">
            <a:avLst/>
          </a:prstGeom>
          <a:solidFill>
            <a:schemeClr val="accent1"/>
          </a:solidFill>
          <a:ln/>
        </p:spPr>
      </p:sp>
      <p:sp>
        <p:nvSpPr>
          <p:cNvPr id="12" name="Glyph part 486"/>
          <p:cNvSpPr/>
          <p:nvPr/>
        </p:nvSpPr>
        <p:spPr>
          <a:xfrm>
            <a:off x="594360" y="3145536"/>
            <a:ext cx="109728" cy="109728"/>
          </a:xfrm>
          <a:prstGeom prst="ellipse">
            <a:avLst/>
          </a:prstGeom>
          <a:noFill/>
          <a:ln w="31750">
            <a:solidFill>
              <a:schemeClr val="tx1"/>
            </a:solidFill>
            <a:prstDash val="solid"/>
          </a:ln>
        </p:spPr>
      </p:sp>
      <p:sp>
        <p:nvSpPr>
          <p:cNvPr id="13" name="Glyph stroke 487"/>
          <p:cNvSpPr/>
          <p:nvPr/>
        </p:nvSpPr>
        <p:spPr>
          <a:xfrm>
            <a:off x="704088" y="3200400"/>
            <a:ext cx="164592" cy="0"/>
          </a:xfrm>
          <a:prstGeom prst="line">
            <a:avLst/>
          </a:prstGeom>
          <a:noFill/>
          <a:ln w="31750">
            <a:solidFill>
              <a:schemeClr val="tx1"/>
            </a:solidFill>
            <a:prstDash val="solid"/>
          </a:ln>
        </p:spPr>
      </p:sp>
      <p:sp>
        <p:nvSpPr>
          <p:cNvPr id="14" name="Glyph stroke 488"/>
          <p:cNvSpPr/>
          <p:nvPr/>
        </p:nvSpPr>
        <p:spPr>
          <a:xfrm>
            <a:off x="830275" y="3200400"/>
            <a:ext cx="0" cy="65837"/>
          </a:xfrm>
          <a:prstGeom prst="line">
            <a:avLst/>
          </a:prstGeom>
          <a:noFill/>
          <a:ln w="31750">
            <a:solidFill>
              <a:schemeClr val="tx1"/>
            </a:solidFill>
            <a:prstDash val="solid"/>
          </a:ln>
        </p:spPr>
      </p:sp>
      <p:sp>
        <p:nvSpPr>
          <p:cNvPr id="15" name="Glyph stroke 489"/>
          <p:cNvSpPr/>
          <p:nvPr/>
        </p:nvSpPr>
        <p:spPr>
          <a:xfrm>
            <a:off x="780898" y="3200400"/>
            <a:ext cx="0" cy="49378"/>
          </a:xfrm>
          <a:prstGeom prst="line">
            <a:avLst/>
          </a:prstGeom>
          <a:noFill/>
          <a:ln w="31750">
            <a:solidFill>
              <a:schemeClr val="tx1"/>
            </a:solidFill>
            <a:prstDash val="solid"/>
          </a:ln>
        </p:spPr>
      </p:sp>
      <p:sp>
        <p:nvSpPr>
          <p:cNvPr id="16" name="Text 490"/>
          <p:cNvSpPr txBox="1"/>
          <p:nvPr/>
        </p:nvSpPr>
        <p:spPr>
          <a:xfrm>
            <a:off x="1234440" y="2834640"/>
            <a:ext cx="4069080" cy="731520"/>
          </a:xfrm>
          <a:prstGeom prst="rect">
            <a:avLst/>
          </a:prstGeom>
          <a:noFill/>
          <a:ln/>
        </p:spPr>
        <p:txBody>
          <a:bodyPr wrap="square" lIns="0" tIns="0" rIns="0" bIns="0" rtlCol="0" anchor="ctr"/>
          <a:lstStyle/>
          <a:p>
            <a:pPr indent="0" marL="0">
              <a:buNone/>
            </a:pPr>
            <a:r>
              <a:rPr lang="en-US" sz="1600" b="1" dirty="0">
                <a:solidFill>
                  <a:schemeClr val="tx1"/>
                </a:solidFill>
              </a:rPr>
              <a:t>Keyless deployment</a:t>
            </a:r>
            <a:endParaRPr lang="en-US" sz="1400" dirty="0"/>
          </a:p>
          <a:p>
            <a:pPr indent="0" marL="0">
              <a:spcBef>
                <a:spcPts val="300"/>
              </a:spcBef>
              <a:buNone/>
            </a:pPr>
            <a:r>
              <a:rPr lang="en-US" sz="1400" dirty="0">
                <a:solidFill>
                  <a:schemeClr val="tx2"/>
                </a:solidFill>
              </a:rPr>
              <a:t>Workload Identity Federation, and every secret kept in Secret Manager</a:t>
            </a:r>
            <a:endParaRPr lang="en-US" sz="1400" dirty="0"/>
          </a:p>
        </p:txBody>
      </p:sp>
      <p:sp>
        <p:nvSpPr>
          <p:cNvPr id="17" name="Icon check 491"/>
          <p:cNvSpPr/>
          <p:nvPr/>
        </p:nvSpPr>
        <p:spPr>
          <a:xfrm>
            <a:off x="457200" y="4023360"/>
            <a:ext cx="548640" cy="548640"/>
          </a:xfrm>
          <a:prstGeom prst="ellipse">
            <a:avLst/>
          </a:prstGeom>
          <a:solidFill>
            <a:schemeClr val="accent1"/>
          </a:solidFill>
          <a:ln/>
        </p:spPr>
      </p:sp>
      <p:sp>
        <p:nvSpPr>
          <p:cNvPr id="18" name="Glyph stroke 493"/>
          <p:cNvSpPr/>
          <p:nvPr/>
        </p:nvSpPr>
        <p:spPr>
          <a:xfrm>
            <a:off x="610819" y="4303166"/>
            <a:ext cx="87782" cy="87782"/>
          </a:xfrm>
          <a:prstGeom prst="line">
            <a:avLst/>
          </a:prstGeom>
          <a:noFill/>
          <a:ln w="44450">
            <a:solidFill>
              <a:schemeClr val="tx1"/>
            </a:solidFill>
            <a:prstDash val="solid"/>
          </a:ln>
        </p:spPr>
      </p:sp>
      <p:sp>
        <p:nvSpPr>
          <p:cNvPr id="19" name="Glyph stroke 494"/>
          <p:cNvSpPr/>
          <p:nvPr/>
        </p:nvSpPr>
        <p:spPr>
          <a:xfrm flipV="1">
            <a:off x="698602" y="4209898"/>
            <a:ext cx="159106" cy="181051"/>
          </a:xfrm>
          <a:prstGeom prst="line">
            <a:avLst/>
          </a:prstGeom>
          <a:noFill/>
          <a:ln w="44450">
            <a:solidFill>
              <a:schemeClr val="tx1"/>
            </a:solidFill>
            <a:prstDash val="solid"/>
          </a:ln>
        </p:spPr>
      </p:sp>
      <p:sp>
        <p:nvSpPr>
          <p:cNvPr id="20" name="Text 495"/>
          <p:cNvSpPr txBox="1"/>
          <p:nvPr/>
        </p:nvSpPr>
        <p:spPr>
          <a:xfrm>
            <a:off x="1234440" y="3931920"/>
            <a:ext cx="4069080" cy="731520"/>
          </a:xfrm>
          <a:prstGeom prst="rect">
            <a:avLst/>
          </a:prstGeom>
          <a:noFill/>
          <a:ln/>
        </p:spPr>
        <p:txBody>
          <a:bodyPr wrap="square" lIns="0" tIns="0" rIns="0" bIns="0" rtlCol="0" anchor="ctr"/>
          <a:lstStyle/>
          <a:p>
            <a:pPr indent="0" marL="0">
              <a:buNone/>
            </a:pPr>
            <a:r>
              <a:rPr lang="en-US" sz="1600" b="1" dirty="0">
                <a:solidFill>
                  <a:schemeClr val="tx1"/>
                </a:solidFill>
              </a:rPr>
              <a:t>My approval, then a candidate</a:t>
            </a:r>
            <a:endParaRPr lang="en-US" sz="1400" dirty="0"/>
          </a:p>
          <a:p>
            <a:pPr indent="0" marL="0">
              <a:spcBef>
                <a:spcPts val="300"/>
              </a:spcBef>
              <a:buNone/>
            </a:pPr>
            <a:r>
              <a:rPr lang="en-US" sz="1400" dirty="0">
                <a:solidFill>
                  <a:schemeClr val="tx2"/>
                </a:solidFill>
              </a:rPr>
              <a:t>A release tag waits for my approval, then a candidate is smoke tested before it takes any traffic</a:t>
            </a:r>
            <a:endParaRPr lang="en-US" sz="1400" dirty="0"/>
          </a:p>
        </p:txBody>
      </p:sp>
      <p:sp>
        <p:nvSpPr>
          <p:cNvPr id="21" name="Icon shield 496"/>
          <p:cNvSpPr/>
          <p:nvPr/>
        </p:nvSpPr>
        <p:spPr>
          <a:xfrm>
            <a:off x="457200" y="5120640"/>
            <a:ext cx="548640" cy="548640"/>
          </a:xfrm>
          <a:prstGeom prst="ellipse">
            <a:avLst/>
          </a:prstGeom>
          <a:solidFill>
            <a:schemeClr val="accent1"/>
          </a:solidFill>
          <a:ln/>
        </p:spPr>
      </p:sp>
      <p:sp>
        <p:nvSpPr>
          <p:cNvPr id="22" name="Glyph part 498"/>
          <p:cNvSpPr/>
          <p:nvPr/>
        </p:nvSpPr>
        <p:spPr>
          <a:xfrm>
            <a:off x="627278" y="5257800"/>
            <a:ext cx="208483" cy="274320"/>
          </a:xfrm>
          <a:prstGeom prst="flowChartOffpageConnector">
            <a:avLst/>
          </a:prstGeom>
          <a:solidFill>
            <a:schemeClr val="tx1"/>
          </a:solidFill>
          <a:ln/>
        </p:spPr>
      </p:sp>
      <p:sp>
        <p:nvSpPr>
          <p:cNvPr id="23" name="Text 499"/>
          <p:cNvSpPr txBox="1"/>
          <p:nvPr/>
        </p:nvSpPr>
        <p:spPr>
          <a:xfrm>
            <a:off x="1234440" y="5029200"/>
            <a:ext cx="4069080" cy="731520"/>
          </a:xfrm>
          <a:prstGeom prst="rect">
            <a:avLst/>
          </a:prstGeom>
          <a:noFill/>
          <a:ln/>
        </p:spPr>
        <p:txBody>
          <a:bodyPr wrap="square" lIns="0" tIns="0" rIns="0" bIns="0" rtlCol="0" anchor="ctr"/>
          <a:lstStyle/>
          <a:p>
            <a:pPr indent="0" marL="0">
              <a:buNone/>
            </a:pPr>
            <a:r>
              <a:rPr lang="en-US" sz="1600" b="1" dirty="0">
                <a:solidFill>
                  <a:schemeClr val="tx1"/>
                </a:solidFill>
              </a:rPr>
              <a:t>One instance at most</a:t>
            </a:r>
            <a:endParaRPr lang="en-US" sz="1400" dirty="0"/>
          </a:p>
          <a:p>
            <a:pPr indent="0" marL="0">
              <a:spcBef>
                <a:spcPts val="300"/>
              </a:spcBef>
              <a:buNone/>
            </a:pPr>
            <a:r>
              <a:rPr lang="en-US" sz="1400" dirty="0">
                <a:solidFill>
                  <a:schemeClr val="tx2"/>
                </a:solidFill>
              </a:rPr>
              <a:t>With a budget alert, because this runs on a free trial</a:t>
            </a:r>
            <a:endParaRPr lang="en-US" sz="1400" dirty="0"/>
          </a:p>
        </p:txBody>
      </p:sp>
      <p:graphicFrame>
        <p:nvGraphicFramePr>
          <p:cNvPr id="11" name="Staging and production"/>
          <p:cNvGraphicFramePr>
            <a:graphicFrameLocks noGrp="1"/>
          </p:cNvGraphicFramePr>
          <p:nvPr>
            <p:extLst>
              <p:ext uri="{D42A27DB-BD31-4B8C-83A1-F6EECF244321}">
                <p14:modId xmlns:p14="http://schemas.microsoft.com/office/powerpoint/2010/main" val="1579011935"/>
              </p:ext>
            </p:extLst>
          </p:nvPr>
        </p:nvGraphicFramePr>
        <p:xfrm>
          <a:off x="5715000" y="1645920"/>
          <a:ext cx="6019495" cy="914400"/>
        </p:xfrm>
        <a:graphic>
          <a:graphicData uri="http://schemas.openxmlformats.org/drawingml/2006/table">
            <a:tbl>
              <a:tblPr/>
              <a:tblGrid>
                <a:gridCol w="1371600"/>
                <a:gridCol w="1965960"/>
                <a:gridCol w="2681935"/>
              </a:tblGrid>
              <a:tr h="457200">
                <a:tc>
                  <a:txBody>
                    <a:bodyPr/>
                    <a:lstStyle/>
                    <a:p>
                      <a:pPr indent="0" marL="0">
                        <a:buNone/>
                      </a:pP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Staging</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Production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tx1"/>
                    </a:solidFill>
                  </a:tcPr>
                </a:tc>
              </a:tr>
              <a:tr h="713232">
                <a:tc>
                  <a:txBody>
                    <a:bodyPr/>
                    <a:lstStyle/>
                    <a:p>
                      <a:pPr indent="0" marL="0">
                        <a:buNone/>
                      </a:pPr>
                      <a:r>
                        <a:rPr lang="en-US" sz="1400" b="1" dirty="0">
                          <a:solidFill>
                            <a:schemeClr val="tx2"/>
                          </a:solidFill>
                        </a:rPr>
                        <a:t>Deployed by</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 merge into develop</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 version tag on main,</a:t>
                      </a:r>
                      <a:endParaRPr lang="en-US" sz="1400" dirty="0"/>
                    </a:p>
                    <a:p>
                      <a:pPr indent="0" marL="0">
                        <a:buNone/>
                      </a:pPr>
                      <a:r>
                        <a:rPr lang="en-US" sz="1400" dirty="0">
                          <a:solidFill>
                            <a:schemeClr val="tx1"/>
                          </a:solidFill>
                        </a:rPr>
                        <a:t>after my approval</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2"/>
                          </a:solidFill>
                        </a:rPr>
                        <a:t>Database</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Neon branch staging</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Neon branch main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2"/>
                          </a:solidFill>
                        </a:rPr>
                        <a:t>New revision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Takes traffic at once</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No traffic until</a:t>
                      </a:r>
                      <a:endParaRPr lang="en-US" sz="1400" dirty="0"/>
                    </a:p>
                    <a:p>
                      <a:pPr indent="0" marL="0">
                        <a:buNone/>
                      </a:pPr>
                      <a:r>
                        <a:rPr lang="en-US" sz="1400" dirty="0">
                          <a:solidFill>
                            <a:schemeClr val="tx1"/>
                          </a:solidFill>
                        </a:rPr>
                        <a:t>its smoke test passes</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r h="713232">
                <a:tc>
                  <a:txBody>
                    <a:bodyPr/>
                    <a:lstStyle/>
                    <a:p>
                      <a:pPr indent="0" marL="0">
                        <a:buNone/>
                      </a:pPr>
                      <a:r>
                        <a:rPr lang="en-US" sz="1400" b="1" dirty="0">
                          <a:solidFill>
                            <a:schemeClr val="tx2"/>
                          </a:solidFill>
                        </a:rPr>
                        <a:t>Instances</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At most one</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At most one, while it</a:t>
                      </a:r>
                      <a:endParaRPr lang="en-US" sz="1400" dirty="0"/>
                    </a:p>
                    <a:p>
                      <a:pPr indent="0" marL="0">
                        <a:buNone/>
                      </a:pPr>
                      <a:r>
                        <a:rPr lang="en-US" sz="1400" dirty="0">
                          <a:solidFill>
                            <a:schemeClr val="tx1"/>
                          </a:solidFill>
                        </a:rPr>
                        <a:t>runs as a demonstration</a:t>
                      </a:r>
                      <a:endParaRPr lang="en-US" sz="1400" dirty="0"/>
                    </a:p>
                  </a:txBody>
                  <a:tcPr marL="101600" marR="101600" marT="50800" marB="50800" anchor="ctr">
                    <a:lnL w="12700" cap="flat" cmpd="sng" algn="ctr">
                      <a:solidFill>
                        <a:srgbClr val="E2E5E9"/>
                      </a:solidFill>
                      <a:prstDash val="solid"/>
                      <a:round/>
                      <a:headEnd type="none" w="med" len="med"/>
                      <a:tailEnd type="none" w="med" len="med"/>
                    </a:lnL>
                    <a:lnR w="12700" cap="flat" cmpd="sng" algn="ctr">
                      <a:solidFill>
                        <a:srgbClr val="E2E5E9"/>
                      </a:solidFill>
                      <a:prstDash val="solid"/>
                      <a:round/>
                      <a:headEnd type="none" w="med" len="med"/>
                      <a:tailEnd type="none" w="med" len="med"/>
                    </a:lnR>
                    <a:lnT w="12700" cap="flat" cmpd="sng" algn="ctr">
                      <a:solidFill>
                        <a:srgbClr val="E2E5E9"/>
                      </a:solidFill>
                      <a:prstDash val="solid"/>
                      <a:round/>
                      <a:headEnd type="none" w="med" len="med"/>
                      <a:tailEnd type="none" w="med" len="med"/>
                    </a:lnT>
                    <a:lnB w="12700" cap="flat" cmpd="sng" algn="ctr">
                      <a:solidFill>
                        <a:srgbClr val="E2E5E9"/>
                      </a:solidFill>
                      <a:prstDash val="solid"/>
                      <a:round/>
                      <a:headEnd type="none" w="med" len="med"/>
                      <a:tailEnd type="none" w="med" len="med"/>
                    </a:lnB>
                    <a:solidFill>
                      <a:schemeClr val="bg1"/>
                    </a:solidFill>
                  </a:tcPr>
                </a:tc>
              </a:tr>
            </a:tbl>
          </a:graphicData>
        </a:graphic>
      </p:graphicFrame>
      <p:sp>
        <p:nvSpPr>
          <p:cNvPr id="25" name="Card 500"/>
          <p:cNvSpPr/>
          <p:nvPr/>
        </p:nvSpPr>
        <p:spPr>
          <a:xfrm>
            <a:off x="5715000" y="5074920"/>
            <a:ext cx="6019495" cy="777240"/>
          </a:xfrm>
          <a:prstGeom prst="roundRect">
            <a:avLst>
              <a:gd name="adj" fmla="val 11765"/>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Icon clock 501"/>
          <p:cNvSpPr/>
          <p:nvPr/>
        </p:nvSpPr>
        <p:spPr>
          <a:xfrm>
            <a:off x="5916168" y="5230368"/>
            <a:ext cx="457200" cy="457200"/>
          </a:xfrm>
          <a:prstGeom prst="ellipse">
            <a:avLst/>
          </a:prstGeom>
          <a:solidFill>
            <a:schemeClr val="tx2"/>
          </a:solidFill>
          <a:ln/>
        </p:spPr>
      </p:sp>
      <p:sp>
        <p:nvSpPr>
          <p:cNvPr id="27" name="Glyph part 503"/>
          <p:cNvSpPr/>
          <p:nvPr/>
        </p:nvSpPr>
        <p:spPr>
          <a:xfrm>
            <a:off x="6039612" y="5353812"/>
            <a:ext cx="210312" cy="210312"/>
          </a:xfrm>
          <a:prstGeom prst="ellipse">
            <a:avLst/>
          </a:prstGeom>
          <a:noFill/>
          <a:ln w="28575">
            <a:solidFill>
              <a:schemeClr val="bg1"/>
            </a:solidFill>
            <a:prstDash val="solid"/>
          </a:ln>
        </p:spPr>
      </p:sp>
      <p:sp>
        <p:nvSpPr>
          <p:cNvPr id="28" name="Glyph stroke 504"/>
          <p:cNvSpPr/>
          <p:nvPr/>
        </p:nvSpPr>
        <p:spPr>
          <a:xfrm flipV="1">
            <a:off x="6144768" y="5390388"/>
            <a:ext cx="0" cy="68580"/>
          </a:xfrm>
          <a:prstGeom prst="line">
            <a:avLst/>
          </a:prstGeom>
          <a:noFill/>
          <a:ln w="28575">
            <a:solidFill>
              <a:schemeClr val="bg1"/>
            </a:solidFill>
            <a:prstDash val="solid"/>
          </a:ln>
        </p:spPr>
      </p:sp>
      <p:sp>
        <p:nvSpPr>
          <p:cNvPr id="29" name="Glyph stroke 505"/>
          <p:cNvSpPr/>
          <p:nvPr/>
        </p:nvSpPr>
        <p:spPr>
          <a:xfrm>
            <a:off x="6144768" y="5458968"/>
            <a:ext cx="50292" cy="0"/>
          </a:xfrm>
          <a:prstGeom prst="line">
            <a:avLst/>
          </a:prstGeom>
          <a:noFill/>
          <a:ln w="28575">
            <a:solidFill>
              <a:schemeClr val="bg1"/>
            </a:solidFill>
            <a:prstDash val="solid"/>
          </a:ln>
        </p:spPr>
      </p:sp>
      <p:sp>
        <p:nvSpPr>
          <p:cNvPr id="30" name="Text 506"/>
          <p:cNvSpPr txBox="1"/>
          <p:nvPr/>
        </p:nvSpPr>
        <p:spPr>
          <a:xfrm>
            <a:off x="6537960" y="5148072"/>
            <a:ext cx="5013655" cy="630936"/>
          </a:xfrm>
          <a:prstGeom prst="rect">
            <a:avLst/>
          </a:prstGeom>
          <a:noFill/>
          <a:ln/>
        </p:spPr>
        <p:txBody>
          <a:bodyPr wrap="square" lIns="0" tIns="0" rIns="0" bIns="0" rtlCol="0" anchor="ctr"/>
          <a:lstStyle/>
          <a:p>
            <a:pPr indent="0" marL="0">
              <a:buNone/>
            </a:pPr>
            <a:r>
              <a:rPr lang="en-US" sz="1400" dirty="0">
                <a:solidFill>
                  <a:schemeClr val="tx2"/>
                </a:solidFill>
              </a:rPr>
              <a:t>The API scales to zero, so the first request after a quiet spell waits for it to wake</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4  |  LIVE DEMONSTRATION</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Live demonstration</a:t>
            </a:r>
            <a:endParaRPr lang="en-US" sz="3600" dirty="0"/>
          </a:p>
        </p:txBody>
      </p:sp>
      <p:sp>
        <p:nvSpPr>
          <p:cNvPr id="5" name="Glyph part 507"/>
          <p:cNvSpPr/>
          <p:nvPr/>
        </p:nvSpPr>
        <p:spPr>
          <a:xfrm>
            <a:off x="726948" y="1929384"/>
            <a:ext cx="27432" cy="3639312"/>
          </a:xfrm>
          <a:prstGeom prst="rect">
            <a:avLst/>
          </a:prstGeom>
          <a:solidFill>
            <a:srgbClr val="E2E5E9"/>
          </a:solidFill>
          <a:ln/>
        </p:spPr>
      </p:sp>
      <p:sp>
        <p:nvSpPr>
          <p:cNvPr id="6" name="Number badge 508"/>
          <p:cNvSpPr/>
          <p:nvPr/>
        </p:nvSpPr>
        <p:spPr>
          <a:xfrm>
            <a:off x="457200" y="1645920"/>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1</a:t>
            </a:r>
            <a:endParaRPr lang="en-US" sz="1800" dirty="0"/>
          </a:p>
        </p:txBody>
      </p:sp>
      <p:sp>
        <p:nvSpPr>
          <p:cNvPr id="7" name="Text 509"/>
          <p:cNvSpPr txBox="1"/>
          <p:nvPr/>
        </p:nvSpPr>
        <p:spPr>
          <a:xfrm>
            <a:off x="1298448" y="1572768"/>
            <a:ext cx="5120640" cy="749808"/>
          </a:xfrm>
          <a:prstGeom prst="rect">
            <a:avLst/>
          </a:prstGeom>
          <a:noFill/>
          <a:ln/>
        </p:spPr>
        <p:txBody>
          <a:bodyPr wrap="square" lIns="0" tIns="0" rIns="0" bIns="0" rtlCol="0" anchor="ctr"/>
          <a:lstStyle/>
          <a:p>
            <a:pPr indent="0" marL="0">
              <a:buNone/>
            </a:pPr>
            <a:r>
              <a:rPr lang="en-US" sz="1800" b="1" dirty="0">
                <a:solidFill>
                  <a:schemeClr val="tx1"/>
                </a:solidFill>
              </a:rPr>
              <a:t>The customer journey on production</a:t>
            </a:r>
            <a:endParaRPr lang="en-US" sz="1400" dirty="0"/>
          </a:p>
          <a:p>
            <a:pPr indent="0" marL="0">
              <a:spcBef>
                <a:spcPts val="300"/>
              </a:spcBef>
              <a:buNone/>
            </a:pPr>
            <a:r>
              <a:rPr lang="en-US" sz="1400" dirty="0">
                <a:solidFill>
                  <a:schemeClr val="tx2"/>
                </a:solidFill>
              </a:rPr>
              <a:t>Search, hold, confirm and cancel, about one and a half minutes</a:t>
            </a:r>
            <a:endParaRPr lang="en-US" sz="1400" dirty="0"/>
          </a:p>
        </p:txBody>
      </p:sp>
      <p:sp>
        <p:nvSpPr>
          <p:cNvPr id="8" name="Number badge 510"/>
          <p:cNvSpPr/>
          <p:nvPr/>
        </p:nvSpPr>
        <p:spPr>
          <a:xfrm>
            <a:off x="457200" y="2859024"/>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2</a:t>
            </a:r>
            <a:endParaRPr lang="en-US" sz="1800" dirty="0"/>
          </a:p>
        </p:txBody>
      </p:sp>
      <p:sp>
        <p:nvSpPr>
          <p:cNvPr id="9" name="Text 511"/>
          <p:cNvSpPr txBox="1"/>
          <p:nvPr/>
        </p:nvSpPr>
        <p:spPr>
          <a:xfrm>
            <a:off x="1298448" y="2785872"/>
            <a:ext cx="5120640" cy="749808"/>
          </a:xfrm>
          <a:prstGeom prst="rect">
            <a:avLst/>
          </a:prstGeom>
          <a:noFill/>
          <a:ln/>
        </p:spPr>
        <p:txBody>
          <a:bodyPr wrap="square" lIns="0" tIns="0" rIns="0" bIns="0" rtlCol="0" anchor="ctr"/>
          <a:lstStyle/>
          <a:p>
            <a:pPr indent="0" marL="0">
              <a:buNone/>
            </a:pPr>
            <a:r>
              <a:rPr lang="en-US" sz="1800" b="1" dirty="0">
                <a:solidFill>
                  <a:schemeClr val="tx1"/>
                </a:solidFill>
              </a:rPr>
              <a:t>The counter journey</a:t>
            </a:r>
            <a:endParaRPr lang="en-US" sz="1400" dirty="0"/>
          </a:p>
          <a:p>
            <a:pPr indent="0" marL="0">
              <a:spcBef>
                <a:spcPts val="300"/>
              </a:spcBef>
              <a:buNone/>
            </a:pPr>
            <a:r>
              <a:rPr lang="en-US" sz="1400" dirty="0">
                <a:solidFill>
                  <a:schemeClr val="tx2"/>
                </a:solidFill>
              </a:rPr>
              <a:t>A walk-in, checkout, the return and the deposit, about two minutes</a:t>
            </a:r>
            <a:endParaRPr lang="en-US" sz="1400" dirty="0"/>
          </a:p>
        </p:txBody>
      </p:sp>
      <p:sp>
        <p:nvSpPr>
          <p:cNvPr id="10" name="Number badge 512"/>
          <p:cNvSpPr/>
          <p:nvPr/>
        </p:nvSpPr>
        <p:spPr>
          <a:xfrm>
            <a:off x="457200" y="4072128"/>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3</a:t>
            </a:r>
            <a:endParaRPr lang="en-US" sz="1800" dirty="0"/>
          </a:p>
        </p:txBody>
      </p:sp>
      <p:sp>
        <p:nvSpPr>
          <p:cNvPr id="11" name="Text 513"/>
          <p:cNvSpPr txBox="1"/>
          <p:nvPr/>
        </p:nvSpPr>
        <p:spPr>
          <a:xfrm>
            <a:off x="1298448" y="3998976"/>
            <a:ext cx="5120640" cy="749808"/>
          </a:xfrm>
          <a:prstGeom prst="rect">
            <a:avLst/>
          </a:prstGeom>
          <a:noFill/>
          <a:ln/>
        </p:spPr>
        <p:txBody>
          <a:bodyPr wrap="square" lIns="0" tIns="0" rIns="0" bIns="0" rtlCol="0" anchor="ctr"/>
          <a:lstStyle/>
          <a:p>
            <a:pPr indent="0" marL="0">
              <a:buNone/>
            </a:pPr>
            <a:r>
              <a:rPr lang="en-US" sz="1800" b="1" dirty="0">
                <a:solidFill>
                  <a:schemeClr val="tx1"/>
                </a:solidFill>
              </a:rPr>
              <a:t>The worked example from Task 1</a:t>
            </a:r>
            <a:endParaRPr lang="en-US" sz="1400" dirty="0"/>
          </a:p>
          <a:p>
            <a:pPr indent="0" marL="0">
              <a:spcBef>
                <a:spcPts val="300"/>
              </a:spcBef>
              <a:buNone/>
            </a:pPr>
            <a:r>
              <a:rPr lang="en-US" sz="1400" dirty="0">
                <a:solidFill>
                  <a:schemeClr val="tx2"/>
                </a:solidFill>
              </a:rPr>
              <a:t>Rental TSH-H-26-000098, opened on the return screen</a:t>
            </a:r>
            <a:endParaRPr lang="en-US" sz="1400" dirty="0"/>
          </a:p>
        </p:txBody>
      </p:sp>
      <p:sp>
        <p:nvSpPr>
          <p:cNvPr id="12" name="Number badge 514"/>
          <p:cNvSpPr/>
          <p:nvPr/>
        </p:nvSpPr>
        <p:spPr>
          <a:xfrm>
            <a:off x="457200" y="5285232"/>
            <a:ext cx="566928" cy="566928"/>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tx1"/>
                </a:solidFill>
              </a:rPr>
              <a:t>4</a:t>
            </a:r>
            <a:endParaRPr lang="en-US" sz="1800" dirty="0"/>
          </a:p>
        </p:txBody>
      </p:sp>
      <p:sp>
        <p:nvSpPr>
          <p:cNvPr id="13" name="Text 515"/>
          <p:cNvSpPr txBox="1"/>
          <p:nvPr/>
        </p:nvSpPr>
        <p:spPr>
          <a:xfrm>
            <a:off x="1298448" y="5212080"/>
            <a:ext cx="5120640" cy="749808"/>
          </a:xfrm>
          <a:prstGeom prst="rect">
            <a:avLst/>
          </a:prstGeom>
          <a:noFill/>
          <a:ln/>
        </p:spPr>
        <p:txBody>
          <a:bodyPr wrap="square" lIns="0" tIns="0" rIns="0" bIns="0" rtlCol="0" anchor="ctr"/>
          <a:lstStyle/>
          <a:p>
            <a:pPr indent="0" marL="0">
              <a:buNone/>
            </a:pPr>
            <a:r>
              <a:rPr lang="en-US" sz="1800" b="1" dirty="0">
                <a:solidFill>
                  <a:schemeClr val="tx1"/>
                </a:solidFill>
              </a:rPr>
              <a:t>The owner's view</a:t>
            </a:r>
            <a:endParaRPr lang="en-US" sz="1400" dirty="0"/>
          </a:p>
          <a:p>
            <a:pPr indent="0" marL="0">
              <a:spcBef>
                <a:spcPts val="300"/>
              </a:spcBef>
              <a:buNone/>
            </a:pPr>
            <a:r>
              <a:rPr lang="en-US" sz="1400" dirty="0">
                <a:solidFill>
                  <a:schemeClr val="tx2"/>
                </a:solidFill>
              </a:rPr>
              <a:t>The admin area and a branch dashboard, about half a minute</a:t>
            </a:r>
            <a:endParaRPr lang="en-US" sz="1400" dirty="0"/>
          </a:p>
        </p:txBody>
      </p:sp>
      <p:sp>
        <p:nvSpPr>
          <p:cNvPr id="14" name="Card 516"/>
          <p:cNvSpPr/>
          <p:nvPr/>
        </p:nvSpPr>
        <p:spPr>
          <a:xfrm>
            <a:off x="6720840" y="1645920"/>
            <a:ext cx="5013655" cy="4206240"/>
          </a:xfrm>
          <a:prstGeom prst="roundRect">
            <a:avLst>
              <a:gd name="adj" fmla="val 2174"/>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Text 517"/>
          <p:cNvSpPr txBox="1"/>
          <p:nvPr/>
        </p:nvSpPr>
        <p:spPr>
          <a:xfrm>
            <a:off x="7086600" y="1901952"/>
            <a:ext cx="4282135" cy="228600"/>
          </a:xfrm>
          <a:prstGeom prst="rect">
            <a:avLst/>
          </a:prstGeom>
          <a:noFill/>
          <a:ln/>
        </p:spPr>
        <p:txBody>
          <a:bodyPr wrap="square" lIns="0" tIns="0" rIns="0" bIns="0" rtlCol="0" anchor="t"/>
          <a:lstStyle/>
          <a:p>
            <a:pPr indent="0" marL="0">
              <a:buNone/>
            </a:pPr>
            <a:r>
              <a:rPr lang="en-US" sz="1100" b="1" spc="100" kern="0" dirty="0">
                <a:solidFill>
                  <a:srgbClr val="5D6B7E"/>
                </a:solidFill>
              </a:rPr>
              <a:t>THE WORKED EXAMPLE, ON PRODUCTION</a:t>
            </a:r>
            <a:endParaRPr lang="en-US" sz="1100" dirty="0"/>
          </a:p>
        </p:txBody>
      </p:sp>
      <p:sp>
        <p:nvSpPr>
          <p:cNvPr id="16" name="Text 518"/>
          <p:cNvSpPr txBox="1"/>
          <p:nvPr/>
        </p:nvSpPr>
        <p:spPr>
          <a:xfrm>
            <a:off x="7086600" y="2176272"/>
            <a:ext cx="3108960" cy="384048"/>
          </a:xfrm>
          <a:prstGeom prst="rect">
            <a:avLst/>
          </a:prstGeom>
          <a:noFill/>
          <a:ln/>
        </p:spPr>
        <p:txBody>
          <a:bodyPr wrap="square" lIns="0" tIns="0" rIns="0" bIns="0" rtlCol="0" anchor="ctr"/>
          <a:lstStyle/>
          <a:p>
            <a:pPr indent="0" marL="0">
              <a:buNone/>
            </a:pPr>
            <a:r>
              <a:rPr lang="en-US" sz="2000" b="1" dirty="0">
                <a:solidFill>
                  <a:schemeClr val="tx1"/>
                </a:solidFill>
                <a:latin typeface="Consolas" pitchFamily="34" charset="0"/>
                <a:ea typeface="Consolas" pitchFamily="34" charset="-122"/>
                <a:cs typeface="Consolas" pitchFamily="34" charset="-120"/>
              </a:rPr>
              <a:t>TSH-H-26-000098</a:t>
            </a:r>
            <a:endParaRPr lang="en-US" sz="2000" dirty="0"/>
          </a:p>
        </p:txBody>
      </p:sp>
      <p:sp>
        <p:nvSpPr>
          <p:cNvPr id="17" name="Chip 519"/>
          <p:cNvSpPr/>
          <p:nvPr/>
        </p:nvSpPr>
        <p:spPr>
          <a:xfrm>
            <a:off x="10271455" y="2221992"/>
            <a:ext cx="1097280" cy="292608"/>
          </a:xfrm>
          <a:prstGeom prst="roundRect">
            <a:avLst>
              <a:gd name="adj" fmla="val 50000"/>
            </a:avLst>
          </a:prstGeom>
          <a:solidFill>
            <a:srgbClr val="ECFDF5"/>
          </a:solidFill>
          <a:ln/>
        </p:spPr>
        <p:txBody>
          <a:bodyPr wrap="square" lIns="25400" tIns="25400" rIns="25400" bIns="25400" rtlCol="0" anchor="ctr"/>
          <a:lstStyle/>
          <a:p>
            <a:pPr algn="ctr" indent="0" marL="0">
              <a:buNone/>
            </a:pPr>
            <a:r>
              <a:rPr lang="en-US" sz="1200" b="1" dirty="0">
                <a:solidFill>
                  <a:schemeClr val="accent3"/>
                </a:solidFill>
              </a:rPr>
              <a:t>SETTLED</a:t>
            </a:r>
            <a:endParaRPr lang="en-US" sz="1200" dirty="0"/>
          </a:p>
        </p:txBody>
      </p:sp>
      <p:sp>
        <p:nvSpPr>
          <p:cNvPr id="18" name="Glyph part 520"/>
          <p:cNvSpPr/>
          <p:nvPr/>
        </p:nvSpPr>
        <p:spPr>
          <a:xfrm>
            <a:off x="7086600" y="2743200"/>
            <a:ext cx="4282135" cy="10973"/>
          </a:xfrm>
          <a:prstGeom prst="rect">
            <a:avLst/>
          </a:prstGeom>
          <a:solidFill>
            <a:srgbClr val="E2E5E9"/>
          </a:solidFill>
          <a:ln/>
        </p:spPr>
      </p:sp>
      <p:sp>
        <p:nvSpPr>
          <p:cNvPr id="19" name="Text 521"/>
          <p:cNvSpPr txBox="1"/>
          <p:nvPr/>
        </p:nvSpPr>
        <p:spPr>
          <a:xfrm>
            <a:off x="7086600" y="2944368"/>
            <a:ext cx="2727655" cy="329184"/>
          </a:xfrm>
          <a:prstGeom prst="rect">
            <a:avLst/>
          </a:prstGeom>
          <a:noFill/>
          <a:ln/>
        </p:spPr>
        <p:txBody>
          <a:bodyPr wrap="square" lIns="0" tIns="0" rIns="0" bIns="0" rtlCol="0" anchor="ctr"/>
          <a:lstStyle/>
          <a:p>
            <a:pPr indent="0" marL="0">
              <a:buNone/>
            </a:pPr>
            <a:r>
              <a:rPr lang="en-US" sz="1500" dirty="0">
                <a:solidFill>
                  <a:schemeClr val="tx1"/>
                </a:solidFill>
              </a:rPr>
              <a:t>Deposit held</a:t>
            </a:r>
            <a:endParaRPr lang="en-US" sz="1500" dirty="0"/>
          </a:p>
        </p:txBody>
      </p:sp>
      <p:sp>
        <p:nvSpPr>
          <p:cNvPr id="20" name="Text 522"/>
          <p:cNvSpPr txBox="1"/>
          <p:nvPr/>
        </p:nvSpPr>
        <p:spPr>
          <a:xfrm>
            <a:off x="9814255" y="2944368"/>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R1,200.00</a:t>
            </a:r>
            <a:endParaRPr lang="en-US" sz="1500" dirty="0"/>
          </a:p>
        </p:txBody>
      </p:sp>
      <p:sp>
        <p:nvSpPr>
          <p:cNvPr id="21" name="Text 523"/>
          <p:cNvSpPr txBox="1"/>
          <p:nvPr/>
        </p:nvSpPr>
        <p:spPr>
          <a:xfrm>
            <a:off x="7086600" y="3474720"/>
            <a:ext cx="2727655" cy="329184"/>
          </a:xfrm>
          <a:prstGeom prst="rect">
            <a:avLst/>
          </a:prstGeom>
          <a:noFill/>
          <a:ln/>
        </p:spPr>
        <p:txBody>
          <a:bodyPr wrap="square" lIns="0" tIns="0" rIns="0" bIns="0" rtlCol="0" anchor="ctr"/>
          <a:lstStyle/>
          <a:p>
            <a:pPr indent="0" marL="0">
              <a:buNone/>
            </a:pPr>
            <a:r>
              <a:rPr lang="en-US" sz="1500" dirty="0">
                <a:solidFill>
                  <a:schemeClr val="tx1"/>
                </a:solidFill>
              </a:rPr>
              <a:t>Late fee, two days at R120.00</a:t>
            </a:r>
            <a:endParaRPr lang="en-US" sz="1500" dirty="0"/>
          </a:p>
        </p:txBody>
      </p:sp>
      <p:sp>
        <p:nvSpPr>
          <p:cNvPr id="22" name="Text 524"/>
          <p:cNvSpPr txBox="1"/>
          <p:nvPr/>
        </p:nvSpPr>
        <p:spPr>
          <a:xfrm>
            <a:off x="9814255" y="3474720"/>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R240.00</a:t>
            </a:r>
            <a:endParaRPr lang="en-US" sz="1500" dirty="0"/>
          </a:p>
        </p:txBody>
      </p:sp>
      <p:sp>
        <p:nvSpPr>
          <p:cNvPr id="23" name="Text 525"/>
          <p:cNvSpPr txBox="1"/>
          <p:nvPr/>
        </p:nvSpPr>
        <p:spPr>
          <a:xfrm>
            <a:off x="7086600" y="3822192"/>
            <a:ext cx="4282135" cy="256032"/>
          </a:xfrm>
          <a:prstGeom prst="rect">
            <a:avLst/>
          </a:prstGeom>
          <a:noFill/>
          <a:ln/>
        </p:spPr>
        <p:txBody>
          <a:bodyPr wrap="square" lIns="0" tIns="0" rIns="0" bIns="0" rtlCol="0" anchor="t"/>
          <a:lstStyle/>
          <a:p>
            <a:pPr indent="0" marL="0">
              <a:buNone/>
            </a:pPr>
            <a:r>
              <a:rPr lang="en-US" sz="1200" dirty="0">
                <a:solidFill>
                  <a:schemeClr val="tx2"/>
                </a:solidFill>
              </a:rPr>
              <a:t>Withheld from the deposit, R208.70 plus R31.30 VAT</a:t>
            </a:r>
            <a:endParaRPr lang="en-US" sz="1200" dirty="0"/>
          </a:p>
        </p:txBody>
      </p:sp>
      <p:sp>
        <p:nvSpPr>
          <p:cNvPr id="24" name="Text 526"/>
          <p:cNvSpPr txBox="1"/>
          <p:nvPr/>
        </p:nvSpPr>
        <p:spPr>
          <a:xfrm>
            <a:off x="7086600" y="4279392"/>
            <a:ext cx="2727655" cy="329184"/>
          </a:xfrm>
          <a:prstGeom prst="rect">
            <a:avLst/>
          </a:prstGeom>
          <a:noFill/>
          <a:ln/>
        </p:spPr>
        <p:txBody>
          <a:bodyPr wrap="square" lIns="0" tIns="0" rIns="0" bIns="0" rtlCol="0" anchor="ctr"/>
          <a:lstStyle/>
          <a:p>
            <a:pPr indent="0" marL="0">
              <a:buNone/>
            </a:pPr>
            <a:r>
              <a:rPr lang="en-US" sz="1500" dirty="0">
                <a:solidFill>
                  <a:schemeClr val="tx1"/>
                </a:solidFill>
              </a:rPr>
              <a:t>Released to the customer</a:t>
            </a:r>
            <a:endParaRPr lang="en-US" sz="1500" dirty="0"/>
          </a:p>
        </p:txBody>
      </p:sp>
      <p:sp>
        <p:nvSpPr>
          <p:cNvPr id="25" name="Text 527"/>
          <p:cNvSpPr txBox="1"/>
          <p:nvPr/>
        </p:nvSpPr>
        <p:spPr>
          <a:xfrm>
            <a:off x="9814255" y="4279392"/>
            <a:ext cx="1554480" cy="329184"/>
          </a:xfrm>
          <a:prstGeom prst="rect">
            <a:avLst/>
          </a:prstGeom>
          <a:noFill/>
          <a:ln/>
        </p:spPr>
        <p:txBody>
          <a:bodyPr wrap="square" lIns="0" tIns="0" rIns="0" bIns="0" rtlCol="0" anchor="ctr"/>
          <a:lstStyle/>
          <a:p>
            <a:pPr algn="r" indent="0" marL="0">
              <a:buNone/>
            </a:pPr>
            <a:r>
              <a:rPr lang="en-US" sz="1500" b="1" dirty="0">
                <a:solidFill>
                  <a:schemeClr val="tx1"/>
                </a:solidFill>
              </a:rPr>
              <a:t>R960.00</a:t>
            </a:r>
            <a:endParaRPr lang="en-US" sz="1500" dirty="0"/>
          </a:p>
        </p:txBody>
      </p:sp>
      <p:sp>
        <p:nvSpPr>
          <p:cNvPr id="26" name="Glyph part 528"/>
          <p:cNvSpPr/>
          <p:nvPr/>
        </p:nvSpPr>
        <p:spPr>
          <a:xfrm>
            <a:off x="7086600" y="4791456"/>
            <a:ext cx="4282135" cy="10973"/>
          </a:xfrm>
          <a:prstGeom prst="rect">
            <a:avLst/>
          </a:prstGeom>
          <a:solidFill>
            <a:srgbClr val="E2E5E9"/>
          </a:solidFill>
          <a:ln/>
        </p:spPr>
      </p:sp>
      <p:sp>
        <p:nvSpPr>
          <p:cNvPr id="27" name="Text 529"/>
          <p:cNvSpPr txBox="1"/>
          <p:nvPr/>
        </p:nvSpPr>
        <p:spPr>
          <a:xfrm>
            <a:off x="7086600" y="4956048"/>
            <a:ext cx="2727655" cy="329184"/>
          </a:xfrm>
          <a:prstGeom prst="rect">
            <a:avLst/>
          </a:prstGeom>
          <a:noFill/>
          <a:ln/>
        </p:spPr>
        <p:txBody>
          <a:bodyPr wrap="square" lIns="0" tIns="0" rIns="0" bIns="0" rtlCol="0" anchor="ctr"/>
          <a:lstStyle/>
          <a:p>
            <a:pPr indent="0" marL="0">
              <a:buNone/>
            </a:pPr>
            <a:r>
              <a:rPr lang="en-US" sz="1800" b="1" dirty="0">
                <a:solidFill>
                  <a:schemeClr val="tx1"/>
                </a:solidFill>
              </a:rPr>
              <a:t>Due at the counter</a:t>
            </a:r>
            <a:endParaRPr lang="en-US" sz="1800" dirty="0"/>
          </a:p>
        </p:txBody>
      </p:sp>
      <p:sp>
        <p:nvSpPr>
          <p:cNvPr id="28" name="Text 530"/>
          <p:cNvSpPr txBox="1"/>
          <p:nvPr/>
        </p:nvSpPr>
        <p:spPr>
          <a:xfrm>
            <a:off x="9814255" y="4956048"/>
            <a:ext cx="1554480" cy="329184"/>
          </a:xfrm>
          <a:prstGeom prst="rect">
            <a:avLst/>
          </a:prstGeom>
          <a:noFill/>
          <a:ln/>
        </p:spPr>
        <p:txBody>
          <a:bodyPr wrap="square" lIns="0" tIns="0" rIns="0" bIns="0" rtlCol="0" anchor="ctr"/>
          <a:lstStyle/>
          <a:p>
            <a:pPr algn="r" indent="0" marL="0">
              <a:buNone/>
            </a:pPr>
            <a:r>
              <a:rPr lang="en-US" sz="1800" b="1" dirty="0">
                <a:solidFill>
                  <a:schemeClr val="tx1"/>
                </a:solidFill>
              </a:rPr>
              <a:t>R0.00</a:t>
            </a:r>
            <a:endParaRPr lang="en-US" sz="1800" dirty="0"/>
          </a:p>
        </p:txBody>
      </p:sp>
      <p:sp>
        <p:nvSpPr>
          <p:cNvPr id="29" name="Text 531"/>
          <p:cNvSpPr txBox="1"/>
          <p:nvPr/>
        </p:nvSpPr>
        <p:spPr>
          <a:xfrm>
            <a:off x="7086600" y="5413248"/>
            <a:ext cx="4282135" cy="274320"/>
          </a:xfrm>
          <a:prstGeom prst="rect">
            <a:avLst/>
          </a:prstGeom>
          <a:noFill/>
          <a:ln/>
        </p:spPr>
        <p:txBody>
          <a:bodyPr wrap="square" lIns="0" tIns="0" rIns="0" bIns="0" rtlCol="0" anchor="t"/>
          <a:lstStyle/>
          <a:p>
            <a:pPr indent="0" marL="0">
              <a:buNone/>
            </a:pPr>
            <a:r>
              <a:rPr lang="en-US" sz="1200" dirty="0">
                <a:solidFill>
                  <a:schemeClr val="tx2"/>
                </a:solidFill>
              </a:rPr>
              <a:t>A test follows these figures through the API on every pull request.</a:t>
            </a:r>
            <a:endParaRPr lang="en-US" sz="12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Testing</a:t>
            </a:r>
            <a:endParaRPr lang="en-US" sz="3600" dirty="0"/>
          </a:p>
        </p:txBody>
      </p:sp>
      <p:sp>
        <p:nvSpPr>
          <p:cNvPr id="5" name="Card 532"/>
          <p:cNvSpPr/>
          <p:nvPr/>
        </p:nvSpPr>
        <p:spPr>
          <a:xfrm>
            <a:off x="457200" y="1645920"/>
            <a:ext cx="2613584" cy="1298448"/>
          </a:xfrm>
          <a:prstGeom prst="roundRect">
            <a:avLst>
              <a:gd name="adj" fmla="val 704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533"/>
          <p:cNvSpPr txBox="1"/>
          <p:nvPr/>
        </p:nvSpPr>
        <p:spPr>
          <a:xfrm>
            <a:off x="685800" y="1700784"/>
            <a:ext cx="2156384" cy="640080"/>
          </a:xfrm>
          <a:prstGeom prst="rect">
            <a:avLst/>
          </a:prstGeom>
          <a:noFill/>
          <a:ln/>
        </p:spPr>
        <p:txBody>
          <a:bodyPr wrap="square" lIns="0" tIns="0" rIns="0" bIns="0" rtlCol="0" anchor="b"/>
          <a:lstStyle/>
          <a:p>
            <a:pPr indent="0" marL="0">
              <a:buNone/>
            </a:pPr>
            <a:r>
              <a:rPr lang="en-US" sz="4000" b="1" dirty="0">
                <a:solidFill>
                  <a:schemeClr val="tx1"/>
                </a:solidFill>
              </a:rPr>
              <a:t>3,431</a:t>
            </a:r>
            <a:endParaRPr lang="en-US" sz="4000" dirty="0"/>
          </a:p>
        </p:txBody>
      </p:sp>
      <p:sp>
        <p:nvSpPr>
          <p:cNvPr id="7" name="Text 534"/>
          <p:cNvSpPr txBox="1"/>
          <p:nvPr/>
        </p:nvSpPr>
        <p:spPr>
          <a:xfrm>
            <a:off x="685800" y="2395728"/>
            <a:ext cx="2156384" cy="512064"/>
          </a:xfrm>
          <a:prstGeom prst="rect">
            <a:avLst/>
          </a:prstGeom>
          <a:noFill/>
          <a:ln/>
        </p:spPr>
        <p:txBody>
          <a:bodyPr wrap="square" lIns="0" tIns="0" rIns="0" bIns="0" rtlCol="0" anchor="t"/>
          <a:lstStyle/>
          <a:p>
            <a:pPr indent="0" marL="0">
              <a:buNone/>
            </a:pPr>
            <a:r>
              <a:rPr lang="en-US" sz="1400" dirty="0">
                <a:solidFill>
                  <a:schemeClr val="tx2"/>
                </a:solidFill>
              </a:rPr>
              <a:t>backend tests</a:t>
            </a:r>
            <a:endParaRPr lang="en-US" sz="1400" dirty="0"/>
          </a:p>
        </p:txBody>
      </p:sp>
      <p:sp>
        <p:nvSpPr>
          <p:cNvPr id="8" name="Card 535"/>
          <p:cNvSpPr/>
          <p:nvPr/>
        </p:nvSpPr>
        <p:spPr>
          <a:xfrm>
            <a:off x="3345104" y="1645920"/>
            <a:ext cx="2613584" cy="1298448"/>
          </a:xfrm>
          <a:prstGeom prst="roundRect">
            <a:avLst>
              <a:gd name="adj" fmla="val 704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9" name="Text 536"/>
          <p:cNvSpPr txBox="1"/>
          <p:nvPr/>
        </p:nvSpPr>
        <p:spPr>
          <a:xfrm>
            <a:off x="3573704" y="1700784"/>
            <a:ext cx="2156384" cy="640080"/>
          </a:xfrm>
          <a:prstGeom prst="rect">
            <a:avLst/>
          </a:prstGeom>
          <a:noFill/>
          <a:ln/>
        </p:spPr>
        <p:txBody>
          <a:bodyPr wrap="square" lIns="0" tIns="0" rIns="0" bIns="0" rtlCol="0" anchor="b"/>
          <a:lstStyle/>
          <a:p>
            <a:pPr indent="0" marL="0">
              <a:buNone/>
            </a:pPr>
            <a:r>
              <a:rPr lang="en-US" sz="4000" b="1" dirty="0">
                <a:solidFill>
                  <a:schemeClr val="tx1"/>
                </a:solidFill>
              </a:rPr>
              <a:t>100%</a:t>
            </a:r>
            <a:endParaRPr lang="en-US" sz="4000" dirty="0"/>
          </a:p>
        </p:txBody>
      </p:sp>
      <p:sp>
        <p:nvSpPr>
          <p:cNvPr id="10" name="Text 537"/>
          <p:cNvSpPr txBox="1"/>
          <p:nvPr/>
        </p:nvSpPr>
        <p:spPr>
          <a:xfrm>
            <a:off x="3573704" y="2395728"/>
            <a:ext cx="2156384" cy="512064"/>
          </a:xfrm>
          <a:prstGeom prst="rect">
            <a:avLst/>
          </a:prstGeom>
          <a:noFill/>
          <a:ln/>
        </p:spPr>
        <p:txBody>
          <a:bodyPr wrap="square" lIns="0" tIns="0" rIns="0" bIns="0" rtlCol="0" anchor="t"/>
          <a:lstStyle/>
          <a:p>
            <a:pPr indent="0" marL="0">
              <a:buNone/>
            </a:pPr>
            <a:r>
              <a:rPr lang="en-US" sz="1400" dirty="0">
                <a:solidFill>
                  <a:schemeClr val="tx2"/>
                </a:solidFill>
              </a:rPr>
              <a:t>of lines in the domain and application layers</a:t>
            </a:r>
            <a:endParaRPr lang="en-US" sz="1400" dirty="0"/>
          </a:p>
        </p:txBody>
      </p:sp>
      <p:sp>
        <p:nvSpPr>
          <p:cNvPr id="11" name="Card 538"/>
          <p:cNvSpPr/>
          <p:nvPr/>
        </p:nvSpPr>
        <p:spPr>
          <a:xfrm>
            <a:off x="6233008" y="1645920"/>
            <a:ext cx="2613584" cy="1298448"/>
          </a:xfrm>
          <a:prstGeom prst="roundRect">
            <a:avLst>
              <a:gd name="adj" fmla="val 704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2" name="Text 539"/>
          <p:cNvSpPr txBox="1"/>
          <p:nvPr/>
        </p:nvSpPr>
        <p:spPr>
          <a:xfrm>
            <a:off x="6461608" y="1700784"/>
            <a:ext cx="2156384" cy="640080"/>
          </a:xfrm>
          <a:prstGeom prst="rect">
            <a:avLst/>
          </a:prstGeom>
          <a:noFill/>
          <a:ln/>
        </p:spPr>
        <p:txBody>
          <a:bodyPr wrap="square" lIns="0" tIns="0" rIns="0" bIns="0" rtlCol="0" anchor="b"/>
          <a:lstStyle/>
          <a:p>
            <a:pPr indent="0" marL="0">
              <a:buNone/>
            </a:pPr>
            <a:r>
              <a:rPr lang="en-US" sz="4000" b="1" dirty="0">
                <a:solidFill>
                  <a:schemeClr val="tx1"/>
                </a:solidFill>
              </a:rPr>
              <a:t>1,056</a:t>
            </a:r>
            <a:endParaRPr lang="en-US" sz="4000" dirty="0"/>
          </a:p>
        </p:txBody>
      </p:sp>
      <p:sp>
        <p:nvSpPr>
          <p:cNvPr id="13" name="Text 540"/>
          <p:cNvSpPr txBox="1"/>
          <p:nvPr/>
        </p:nvSpPr>
        <p:spPr>
          <a:xfrm>
            <a:off x="6461608" y="2395728"/>
            <a:ext cx="2156384" cy="512064"/>
          </a:xfrm>
          <a:prstGeom prst="rect">
            <a:avLst/>
          </a:prstGeom>
          <a:noFill/>
          <a:ln/>
        </p:spPr>
        <p:txBody>
          <a:bodyPr wrap="square" lIns="0" tIns="0" rIns="0" bIns="0" rtlCol="0" anchor="t"/>
          <a:lstStyle/>
          <a:p>
            <a:pPr indent="0" marL="0">
              <a:buNone/>
            </a:pPr>
            <a:r>
              <a:rPr lang="en-US" sz="1400" dirty="0">
                <a:solidFill>
                  <a:schemeClr val="tx2"/>
                </a:solidFill>
              </a:rPr>
              <a:t>frontend unit and</a:t>
            </a:r>
            <a:endParaRPr lang="en-US" sz="1400" dirty="0"/>
          </a:p>
          <a:p>
            <a:pPr indent="0" marL="0">
              <a:buNone/>
            </a:pPr>
            <a:r>
              <a:rPr lang="en-US" sz="1400" dirty="0">
                <a:solidFill>
                  <a:schemeClr val="tx2"/>
                </a:solidFill>
              </a:rPr>
              <a:t>component tests</a:t>
            </a:r>
            <a:endParaRPr lang="en-US" sz="1400" dirty="0"/>
          </a:p>
        </p:txBody>
      </p:sp>
      <p:sp>
        <p:nvSpPr>
          <p:cNvPr id="14" name="Card 541"/>
          <p:cNvSpPr/>
          <p:nvPr/>
        </p:nvSpPr>
        <p:spPr>
          <a:xfrm>
            <a:off x="9120911" y="1645920"/>
            <a:ext cx="2613584" cy="1298448"/>
          </a:xfrm>
          <a:prstGeom prst="roundRect">
            <a:avLst>
              <a:gd name="adj" fmla="val 704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5" name="Text 542"/>
          <p:cNvSpPr txBox="1"/>
          <p:nvPr/>
        </p:nvSpPr>
        <p:spPr>
          <a:xfrm>
            <a:off x="9349511" y="1700784"/>
            <a:ext cx="2156384" cy="640080"/>
          </a:xfrm>
          <a:prstGeom prst="rect">
            <a:avLst/>
          </a:prstGeom>
          <a:noFill/>
          <a:ln/>
        </p:spPr>
        <p:txBody>
          <a:bodyPr wrap="square" lIns="0" tIns="0" rIns="0" bIns="0" rtlCol="0" anchor="b"/>
          <a:lstStyle/>
          <a:p>
            <a:pPr indent="0" marL="0">
              <a:buNone/>
            </a:pPr>
            <a:r>
              <a:rPr lang="en-US" sz="4000" b="1" dirty="0">
                <a:solidFill>
                  <a:schemeClr val="tx1"/>
                </a:solidFill>
              </a:rPr>
              <a:t>114</a:t>
            </a:r>
            <a:endParaRPr lang="en-US" sz="4000" dirty="0"/>
          </a:p>
        </p:txBody>
      </p:sp>
      <p:sp>
        <p:nvSpPr>
          <p:cNvPr id="16" name="Text 543"/>
          <p:cNvSpPr txBox="1"/>
          <p:nvPr/>
        </p:nvSpPr>
        <p:spPr>
          <a:xfrm>
            <a:off x="9349511" y="2395728"/>
            <a:ext cx="2156384" cy="512064"/>
          </a:xfrm>
          <a:prstGeom prst="rect">
            <a:avLst/>
          </a:prstGeom>
          <a:noFill/>
          <a:ln/>
        </p:spPr>
        <p:txBody>
          <a:bodyPr wrap="square" lIns="0" tIns="0" rIns="0" bIns="0" rtlCol="0" anchor="t"/>
          <a:lstStyle/>
          <a:p>
            <a:pPr indent="0" marL="0">
              <a:buNone/>
            </a:pPr>
            <a:r>
              <a:rPr lang="en-US" sz="1400" dirty="0">
                <a:solidFill>
                  <a:schemeClr val="tx2"/>
                </a:solidFill>
              </a:rPr>
              <a:t>browser and accessibility tests on the real API</a:t>
            </a:r>
            <a:endParaRPr lang="en-US" sz="1400" dirty="0"/>
          </a:p>
        </p:txBody>
      </p:sp>
      <p:sp>
        <p:nvSpPr>
          <p:cNvPr id="17" name="Card 544"/>
          <p:cNvSpPr/>
          <p:nvPr/>
        </p:nvSpPr>
        <p:spPr>
          <a:xfrm>
            <a:off x="457200" y="3218688"/>
            <a:ext cx="5501488" cy="2633472"/>
          </a:xfrm>
          <a:prstGeom prst="roundRect">
            <a:avLst>
              <a:gd name="adj" fmla="val 347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8" name="Text 545"/>
          <p:cNvSpPr txBox="1"/>
          <p:nvPr/>
        </p:nvSpPr>
        <p:spPr>
          <a:xfrm>
            <a:off x="731520" y="3401568"/>
            <a:ext cx="4952848" cy="347472"/>
          </a:xfrm>
          <a:prstGeom prst="rect">
            <a:avLst/>
          </a:prstGeom>
          <a:noFill/>
          <a:ln/>
        </p:spPr>
        <p:txBody>
          <a:bodyPr wrap="square" lIns="0" tIns="0" rIns="0" bIns="0" rtlCol="0" anchor="t"/>
          <a:lstStyle/>
          <a:p>
            <a:pPr indent="0" marL="0">
              <a:buNone/>
            </a:pPr>
            <a:r>
              <a:rPr lang="en-US" sz="1800" b="1" dirty="0">
                <a:solidFill>
                  <a:schemeClr val="tx1"/>
                </a:solidFill>
              </a:rPr>
              <a:t>Four kinds of test</a:t>
            </a:r>
            <a:endParaRPr lang="en-US" sz="1800" dirty="0"/>
          </a:p>
        </p:txBody>
      </p:sp>
      <p:sp>
        <p:nvSpPr>
          <p:cNvPr id="19" name="Chip 546"/>
          <p:cNvSpPr/>
          <p:nvPr/>
        </p:nvSpPr>
        <p:spPr>
          <a:xfrm>
            <a:off x="1882064" y="3858768"/>
            <a:ext cx="2651760" cy="301752"/>
          </a:xfrm>
          <a:prstGeom prst="roundRect">
            <a:avLst>
              <a:gd name="adj" fmla="val 15152"/>
            </a:avLst>
          </a:prstGeom>
          <a:solidFill>
            <a:schemeClr val="accent1"/>
          </a:solidFill>
          <a:ln/>
        </p:spPr>
        <p:txBody>
          <a:bodyPr wrap="square" lIns="25400" tIns="25400" rIns="25400" bIns="25400" rtlCol="0" anchor="ctr"/>
          <a:lstStyle/>
          <a:p>
            <a:pPr algn="ctr" indent="0" marL="0">
              <a:buNone/>
            </a:pPr>
            <a:r>
              <a:rPr lang="en-US" sz="1300" b="1" dirty="0">
                <a:solidFill>
                  <a:schemeClr val="tx1"/>
                </a:solidFill>
              </a:rPr>
              <a:t>Browser and accessibility</a:t>
            </a:r>
            <a:endParaRPr lang="en-US" sz="1300" dirty="0"/>
          </a:p>
        </p:txBody>
      </p:sp>
      <p:sp>
        <p:nvSpPr>
          <p:cNvPr id="20" name="Chip 547"/>
          <p:cNvSpPr/>
          <p:nvPr/>
        </p:nvSpPr>
        <p:spPr>
          <a:xfrm>
            <a:off x="1516304" y="4224528"/>
            <a:ext cx="3383280" cy="301752"/>
          </a:xfrm>
          <a:prstGeom prst="roundRect">
            <a:avLst>
              <a:gd name="adj" fmla="val 15152"/>
            </a:avLst>
          </a:prstGeom>
          <a:solidFill>
            <a:schemeClr val="accent2"/>
          </a:solidFill>
          <a:ln/>
        </p:spPr>
        <p:txBody>
          <a:bodyPr wrap="square" lIns="25400" tIns="25400" rIns="25400" bIns="25400" rtlCol="0" anchor="ctr"/>
          <a:lstStyle/>
          <a:p>
            <a:pPr algn="ctr" indent="0" marL="0">
              <a:buNone/>
            </a:pPr>
            <a:r>
              <a:rPr lang="en-US" sz="1300" b="1" dirty="0">
                <a:solidFill>
                  <a:schemeClr val="bg1"/>
                </a:solidFill>
              </a:rPr>
              <a:t>PostgreSQL 16 integration</a:t>
            </a:r>
            <a:endParaRPr lang="en-US" sz="1300" dirty="0"/>
          </a:p>
        </p:txBody>
      </p:sp>
      <p:sp>
        <p:nvSpPr>
          <p:cNvPr id="21" name="Chip 548"/>
          <p:cNvSpPr/>
          <p:nvPr/>
        </p:nvSpPr>
        <p:spPr>
          <a:xfrm>
            <a:off x="1150544" y="4590288"/>
            <a:ext cx="4114800" cy="301752"/>
          </a:xfrm>
          <a:prstGeom prst="roundRect">
            <a:avLst>
              <a:gd name="adj" fmla="val 15152"/>
            </a:avLst>
          </a:prstGeom>
          <a:solidFill>
            <a:schemeClr val="tx2"/>
          </a:solidFill>
          <a:ln/>
        </p:spPr>
        <p:txBody>
          <a:bodyPr wrap="square" lIns="25400" tIns="25400" rIns="25400" bIns="25400" rtlCol="0" anchor="ctr"/>
          <a:lstStyle/>
          <a:p>
            <a:pPr algn="ctr" indent="0" marL="0">
              <a:buNone/>
            </a:pPr>
            <a:r>
              <a:rPr lang="en-US" sz="1300" b="1" dirty="0">
                <a:solidFill>
                  <a:schemeClr val="bg1"/>
                </a:solidFill>
              </a:rPr>
              <a:t>API, every route and refusal</a:t>
            </a:r>
            <a:endParaRPr lang="en-US" sz="1300" dirty="0"/>
          </a:p>
        </p:txBody>
      </p:sp>
      <p:sp>
        <p:nvSpPr>
          <p:cNvPr id="22" name="Chip 549"/>
          <p:cNvSpPr/>
          <p:nvPr/>
        </p:nvSpPr>
        <p:spPr>
          <a:xfrm>
            <a:off x="784784" y="4956048"/>
            <a:ext cx="4846320" cy="301752"/>
          </a:xfrm>
          <a:prstGeom prst="roundRect">
            <a:avLst>
              <a:gd name="adj" fmla="val 15152"/>
            </a:avLst>
          </a:prstGeom>
          <a:solidFill>
            <a:schemeClr val="tx1"/>
          </a:solidFill>
          <a:ln/>
        </p:spPr>
        <p:txBody>
          <a:bodyPr wrap="square" lIns="25400" tIns="25400" rIns="25400" bIns="25400" rtlCol="0" anchor="ctr"/>
          <a:lstStyle/>
          <a:p>
            <a:pPr algn="ctr" indent="0" marL="0">
              <a:buNone/>
            </a:pPr>
            <a:r>
              <a:rPr lang="en-US" sz="1300" b="1" dirty="0">
                <a:solidFill>
                  <a:schemeClr val="bg1"/>
                </a:solidFill>
              </a:rPr>
              <a:t>Domain and application, no database</a:t>
            </a:r>
            <a:endParaRPr lang="en-US" sz="1300" dirty="0"/>
          </a:p>
        </p:txBody>
      </p:sp>
      <p:sp>
        <p:nvSpPr>
          <p:cNvPr id="23" name="Text 550"/>
          <p:cNvSpPr txBox="1"/>
          <p:nvPr/>
        </p:nvSpPr>
        <p:spPr>
          <a:xfrm>
            <a:off x="731520" y="5413248"/>
            <a:ext cx="4952848" cy="310896"/>
          </a:xfrm>
          <a:prstGeom prst="rect">
            <a:avLst/>
          </a:prstGeom>
          <a:noFill/>
          <a:ln/>
        </p:spPr>
        <p:txBody>
          <a:bodyPr wrap="square" lIns="0" tIns="0" rIns="0" bIns="0" rtlCol="0" anchor="ctr"/>
          <a:lstStyle/>
          <a:p>
            <a:pPr indent="0" marL="0">
              <a:buNone/>
            </a:pPr>
            <a:r>
              <a:rPr lang="en-US" sz="1200" dirty="0">
                <a:solidFill>
                  <a:schemeClr val="tx2"/>
                </a:solidFill>
              </a:rPr>
              <a:t>Coverage floor of 70 percent, mypy strict on 235 files, 5 layer import contracts</a:t>
            </a:r>
            <a:endParaRPr lang="en-US" sz="1200" dirty="0"/>
          </a:p>
        </p:txBody>
      </p:sp>
      <p:sp>
        <p:nvSpPr>
          <p:cNvPr id="24" name="Card 551"/>
          <p:cNvSpPr/>
          <p:nvPr/>
        </p:nvSpPr>
        <p:spPr>
          <a:xfrm>
            <a:off x="6233008" y="3218688"/>
            <a:ext cx="5501488" cy="2633472"/>
          </a:xfrm>
          <a:prstGeom prst="roundRect">
            <a:avLst>
              <a:gd name="adj" fmla="val 3472"/>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5" name="Text 552"/>
          <p:cNvSpPr txBox="1"/>
          <p:nvPr/>
        </p:nvSpPr>
        <p:spPr>
          <a:xfrm>
            <a:off x="6507328" y="3401568"/>
            <a:ext cx="4952848" cy="347472"/>
          </a:xfrm>
          <a:prstGeom prst="rect">
            <a:avLst/>
          </a:prstGeom>
          <a:noFill/>
          <a:ln/>
        </p:spPr>
        <p:txBody>
          <a:bodyPr wrap="square" lIns="0" tIns="0" rIns="0" bIns="0" rtlCol="0" anchor="t"/>
          <a:lstStyle/>
          <a:p>
            <a:pPr indent="0" marL="0">
              <a:buNone/>
            </a:pPr>
            <a:r>
              <a:rPr lang="en-US" sz="1800" b="1" dirty="0">
                <a:solidFill>
                  <a:schemeClr val="tx1"/>
                </a:solidFill>
              </a:rPr>
              <a:t>Twenty holds at once for five units</a:t>
            </a:r>
            <a:endParaRPr lang="en-US" sz="1800" dirty="0"/>
          </a:p>
        </p:txBody>
      </p:sp>
      <p:sp>
        <p:nvSpPr>
          <p:cNvPr id="26" name="Held request 553"/>
          <p:cNvSpPr/>
          <p:nvPr/>
        </p:nvSpPr>
        <p:spPr>
          <a:xfrm>
            <a:off x="6553048" y="3904488"/>
            <a:ext cx="228600" cy="228600"/>
          </a:xfrm>
          <a:prstGeom prst="ellipse">
            <a:avLst/>
          </a:prstGeom>
          <a:solidFill>
            <a:schemeClr val="accent3"/>
          </a:solidFill>
          <a:ln/>
        </p:spPr>
      </p:sp>
      <p:sp>
        <p:nvSpPr>
          <p:cNvPr id="27" name="Held request 554"/>
          <p:cNvSpPr/>
          <p:nvPr/>
        </p:nvSpPr>
        <p:spPr>
          <a:xfrm>
            <a:off x="6882232" y="3904488"/>
            <a:ext cx="228600" cy="228600"/>
          </a:xfrm>
          <a:prstGeom prst="ellipse">
            <a:avLst/>
          </a:prstGeom>
          <a:solidFill>
            <a:schemeClr val="accent3"/>
          </a:solidFill>
          <a:ln/>
        </p:spPr>
      </p:sp>
      <p:sp>
        <p:nvSpPr>
          <p:cNvPr id="28" name="Held request 555"/>
          <p:cNvSpPr/>
          <p:nvPr/>
        </p:nvSpPr>
        <p:spPr>
          <a:xfrm>
            <a:off x="7211416" y="3904488"/>
            <a:ext cx="228600" cy="228600"/>
          </a:xfrm>
          <a:prstGeom prst="ellipse">
            <a:avLst/>
          </a:prstGeom>
          <a:solidFill>
            <a:schemeClr val="accent3"/>
          </a:solidFill>
          <a:ln/>
        </p:spPr>
      </p:sp>
      <p:sp>
        <p:nvSpPr>
          <p:cNvPr id="29" name="Held request 556"/>
          <p:cNvSpPr/>
          <p:nvPr/>
        </p:nvSpPr>
        <p:spPr>
          <a:xfrm>
            <a:off x="7540600" y="3904488"/>
            <a:ext cx="228600" cy="228600"/>
          </a:xfrm>
          <a:prstGeom prst="ellipse">
            <a:avLst/>
          </a:prstGeom>
          <a:solidFill>
            <a:schemeClr val="accent3"/>
          </a:solidFill>
          <a:ln/>
        </p:spPr>
      </p:sp>
      <p:sp>
        <p:nvSpPr>
          <p:cNvPr id="30" name="Held request 557"/>
          <p:cNvSpPr/>
          <p:nvPr/>
        </p:nvSpPr>
        <p:spPr>
          <a:xfrm>
            <a:off x="7869784" y="3904488"/>
            <a:ext cx="228600" cy="228600"/>
          </a:xfrm>
          <a:prstGeom prst="ellipse">
            <a:avLst/>
          </a:prstGeom>
          <a:solidFill>
            <a:schemeClr val="accent3"/>
          </a:solidFill>
          <a:ln/>
        </p:spPr>
      </p:sp>
      <p:sp>
        <p:nvSpPr>
          <p:cNvPr id="31" name="Refused request 558"/>
          <p:cNvSpPr/>
          <p:nvPr/>
        </p:nvSpPr>
        <p:spPr>
          <a:xfrm>
            <a:off x="6553048" y="4233672"/>
            <a:ext cx="228600" cy="228600"/>
          </a:xfrm>
          <a:prstGeom prst="ellipse">
            <a:avLst/>
          </a:prstGeom>
          <a:solidFill>
            <a:srgbClr val="F1F5F9"/>
          </a:solidFill>
          <a:ln w="12700">
            <a:solidFill>
              <a:srgbClr val="4E5B6F"/>
            </a:solidFill>
            <a:prstDash val="solid"/>
          </a:ln>
        </p:spPr>
      </p:sp>
      <p:sp>
        <p:nvSpPr>
          <p:cNvPr id="32" name="Refused request 559"/>
          <p:cNvSpPr/>
          <p:nvPr/>
        </p:nvSpPr>
        <p:spPr>
          <a:xfrm>
            <a:off x="6882232" y="4233672"/>
            <a:ext cx="228600" cy="228600"/>
          </a:xfrm>
          <a:prstGeom prst="ellipse">
            <a:avLst/>
          </a:prstGeom>
          <a:solidFill>
            <a:srgbClr val="F1F5F9"/>
          </a:solidFill>
          <a:ln w="12700">
            <a:solidFill>
              <a:srgbClr val="4E5B6F"/>
            </a:solidFill>
            <a:prstDash val="solid"/>
          </a:ln>
        </p:spPr>
      </p:sp>
      <p:sp>
        <p:nvSpPr>
          <p:cNvPr id="33" name="Refused request 560"/>
          <p:cNvSpPr/>
          <p:nvPr/>
        </p:nvSpPr>
        <p:spPr>
          <a:xfrm>
            <a:off x="7211416" y="4233672"/>
            <a:ext cx="228600" cy="228600"/>
          </a:xfrm>
          <a:prstGeom prst="ellipse">
            <a:avLst/>
          </a:prstGeom>
          <a:solidFill>
            <a:srgbClr val="F1F5F9"/>
          </a:solidFill>
          <a:ln w="12700">
            <a:solidFill>
              <a:srgbClr val="4E5B6F"/>
            </a:solidFill>
            <a:prstDash val="solid"/>
          </a:ln>
        </p:spPr>
      </p:sp>
      <p:sp>
        <p:nvSpPr>
          <p:cNvPr id="34" name="Refused request 561"/>
          <p:cNvSpPr/>
          <p:nvPr/>
        </p:nvSpPr>
        <p:spPr>
          <a:xfrm>
            <a:off x="7540600" y="4233672"/>
            <a:ext cx="228600" cy="228600"/>
          </a:xfrm>
          <a:prstGeom prst="ellipse">
            <a:avLst/>
          </a:prstGeom>
          <a:solidFill>
            <a:srgbClr val="F1F5F9"/>
          </a:solidFill>
          <a:ln w="12700">
            <a:solidFill>
              <a:srgbClr val="4E5B6F"/>
            </a:solidFill>
            <a:prstDash val="solid"/>
          </a:ln>
        </p:spPr>
      </p:sp>
      <p:sp>
        <p:nvSpPr>
          <p:cNvPr id="35" name="Refused request 562"/>
          <p:cNvSpPr/>
          <p:nvPr/>
        </p:nvSpPr>
        <p:spPr>
          <a:xfrm>
            <a:off x="7869784" y="4233672"/>
            <a:ext cx="228600" cy="228600"/>
          </a:xfrm>
          <a:prstGeom prst="ellipse">
            <a:avLst/>
          </a:prstGeom>
          <a:solidFill>
            <a:srgbClr val="F1F5F9"/>
          </a:solidFill>
          <a:ln w="12700">
            <a:solidFill>
              <a:srgbClr val="4E5B6F"/>
            </a:solidFill>
            <a:prstDash val="solid"/>
          </a:ln>
        </p:spPr>
      </p:sp>
      <p:sp>
        <p:nvSpPr>
          <p:cNvPr id="36" name="Refused request 563"/>
          <p:cNvSpPr/>
          <p:nvPr/>
        </p:nvSpPr>
        <p:spPr>
          <a:xfrm>
            <a:off x="6553048" y="4562856"/>
            <a:ext cx="228600" cy="228600"/>
          </a:xfrm>
          <a:prstGeom prst="ellipse">
            <a:avLst/>
          </a:prstGeom>
          <a:solidFill>
            <a:srgbClr val="F1F5F9"/>
          </a:solidFill>
          <a:ln w="12700">
            <a:solidFill>
              <a:srgbClr val="4E5B6F"/>
            </a:solidFill>
            <a:prstDash val="solid"/>
          </a:ln>
        </p:spPr>
      </p:sp>
      <p:sp>
        <p:nvSpPr>
          <p:cNvPr id="37" name="Refused request 564"/>
          <p:cNvSpPr/>
          <p:nvPr/>
        </p:nvSpPr>
        <p:spPr>
          <a:xfrm>
            <a:off x="6882232" y="4562856"/>
            <a:ext cx="228600" cy="228600"/>
          </a:xfrm>
          <a:prstGeom prst="ellipse">
            <a:avLst/>
          </a:prstGeom>
          <a:solidFill>
            <a:srgbClr val="F1F5F9"/>
          </a:solidFill>
          <a:ln w="12700">
            <a:solidFill>
              <a:srgbClr val="4E5B6F"/>
            </a:solidFill>
            <a:prstDash val="solid"/>
          </a:ln>
        </p:spPr>
      </p:sp>
      <p:sp>
        <p:nvSpPr>
          <p:cNvPr id="38" name="Refused request 565"/>
          <p:cNvSpPr/>
          <p:nvPr/>
        </p:nvSpPr>
        <p:spPr>
          <a:xfrm>
            <a:off x="7211416" y="4562856"/>
            <a:ext cx="228600" cy="228600"/>
          </a:xfrm>
          <a:prstGeom prst="ellipse">
            <a:avLst/>
          </a:prstGeom>
          <a:solidFill>
            <a:srgbClr val="F1F5F9"/>
          </a:solidFill>
          <a:ln w="12700">
            <a:solidFill>
              <a:srgbClr val="4E5B6F"/>
            </a:solidFill>
            <a:prstDash val="solid"/>
          </a:ln>
        </p:spPr>
      </p:sp>
      <p:sp>
        <p:nvSpPr>
          <p:cNvPr id="39" name="Refused request 566"/>
          <p:cNvSpPr/>
          <p:nvPr/>
        </p:nvSpPr>
        <p:spPr>
          <a:xfrm>
            <a:off x="7540600" y="4562856"/>
            <a:ext cx="228600" cy="228600"/>
          </a:xfrm>
          <a:prstGeom prst="ellipse">
            <a:avLst/>
          </a:prstGeom>
          <a:solidFill>
            <a:srgbClr val="F1F5F9"/>
          </a:solidFill>
          <a:ln w="12700">
            <a:solidFill>
              <a:srgbClr val="4E5B6F"/>
            </a:solidFill>
            <a:prstDash val="solid"/>
          </a:ln>
        </p:spPr>
      </p:sp>
      <p:sp>
        <p:nvSpPr>
          <p:cNvPr id="40" name="Refused request 567"/>
          <p:cNvSpPr/>
          <p:nvPr/>
        </p:nvSpPr>
        <p:spPr>
          <a:xfrm>
            <a:off x="7869784" y="4562856"/>
            <a:ext cx="228600" cy="228600"/>
          </a:xfrm>
          <a:prstGeom prst="ellipse">
            <a:avLst/>
          </a:prstGeom>
          <a:solidFill>
            <a:srgbClr val="F1F5F9"/>
          </a:solidFill>
          <a:ln w="12700">
            <a:solidFill>
              <a:srgbClr val="4E5B6F"/>
            </a:solidFill>
            <a:prstDash val="solid"/>
          </a:ln>
        </p:spPr>
      </p:sp>
      <p:sp>
        <p:nvSpPr>
          <p:cNvPr id="41" name="Refused request 568"/>
          <p:cNvSpPr/>
          <p:nvPr/>
        </p:nvSpPr>
        <p:spPr>
          <a:xfrm>
            <a:off x="6553048" y="4892040"/>
            <a:ext cx="228600" cy="228600"/>
          </a:xfrm>
          <a:prstGeom prst="ellipse">
            <a:avLst/>
          </a:prstGeom>
          <a:solidFill>
            <a:srgbClr val="F1F5F9"/>
          </a:solidFill>
          <a:ln w="12700">
            <a:solidFill>
              <a:srgbClr val="4E5B6F"/>
            </a:solidFill>
            <a:prstDash val="solid"/>
          </a:ln>
        </p:spPr>
      </p:sp>
      <p:sp>
        <p:nvSpPr>
          <p:cNvPr id="42" name="Refused request 569"/>
          <p:cNvSpPr/>
          <p:nvPr/>
        </p:nvSpPr>
        <p:spPr>
          <a:xfrm>
            <a:off x="6882232" y="4892040"/>
            <a:ext cx="228600" cy="228600"/>
          </a:xfrm>
          <a:prstGeom prst="ellipse">
            <a:avLst/>
          </a:prstGeom>
          <a:solidFill>
            <a:srgbClr val="F1F5F9"/>
          </a:solidFill>
          <a:ln w="12700">
            <a:solidFill>
              <a:srgbClr val="4E5B6F"/>
            </a:solidFill>
            <a:prstDash val="solid"/>
          </a:ln>
        </p:spPr>
      </p:sp>
      <p:sp>
        <p:nvSpPr>
          <p:cNvPr id="43" name="Refused request 570"/>
          <p:cNvSpPr/>
          <p:nvPr/>
        </p:nvSpPr>
        <p:spPr>
          <a:xfrm>
            <a:off x="7211416" y="4892040"/>
            <a:ext cx="228600" cy="228600"/>
          </a:xfrm>
          <a:prstGeom prst="ellipse">
            <a:avLst/>
          </a:prstGeom>
          <a:solidFill>
            <a:srgbClr val="F1F5F9"/>
          </a:solidFill>
          <a:ln w="12700">
            <a:solidFill>
              <a:srgbClr val="4E5B6F"/>
            </a:solidFill>
            <a:prstDash val="solid"/>
          </a:ln>
        </p:spPr>
      </p:sp>
      <p:sp>
        <p:nvSpPr>
          <p:cNvPr id="44" name="Refused request 571"/>
          <p:cNvSpPr/>
          <p:nvPr/>
        </p:nvSpPr>
        <p:spPr>
          <a:xfrm>
            <a:off x="7540600" y="4892040"/>
            <a:ext cx="228600" cy="228600"/>
          </a:xfrm>
          <a:prstGeom prst="ellipse">
            <a:avLst/>
          </a:prstGeom>
          <a:solidFill>
            <a:srgbClr val="F1F5F9"/>
          </a:solidFill>
          <a:ln w="12700">
            <a:solidFill>
              <a:srgbClr val="4E5B6F"/>
            </a:solidFill>
            <a:prstDash val="solid"/>
          </a:ln>
        </p:spPr>
      </p:sp>
      <p:sp>
        <p:nvSpPr>
          <p:cNvPr id="45" name="Refused request 572"/>
          <p:cNvSpPr/>
          <p:nvPr/>
        </p:nvSpPr>
        <p:spPr>
          <a:xfrm>
            <a:off x="7869784" y="4892040"/>
            <a:ext cx="228600" cy="228600"/>
          </a:xfrm>
          <a:prstGeom prst="ellipse">
            <a:avLst/>
          </a:prstGeom>
          <a:solidFill>
            <a:srgbClr val="F1F5F9"/>
          </a:solidFill>
          <a:ln w="12700">
            <a:solidFill>
              <a:srgbClr val="4E5B6F"/>
            </a:solidFill>
            <a:prstDash val="solid"/>
          </a:ln>
        </p:spPr>
      </p:sp>
      <p:sp>
        <p:nvSpPr>
          <p:cNvPr id="46" name="Connector 573"/>
          <p:cNvSpPr/>
          <p:nvPr/>
        </p:nvSpPr>
        <p:spPr>
          <a:xfrm>
            <a:off x="8235544" y="4512564"/>
            <a:ext cx="502920" cy="0"/>
          </a:xfrm>
          <a:prstGeom prst="line">
            <a:avLst/>
          </a:prstGeom>
          <a:noFill/>
          <a:ln w="25400">
            <a:solidFill>
              <a:schemeClr val="tx2"/>
            </a:solidFill>
            <a:prstDash val="solid"/>
            <a:tailEnd type="triangle"/>
          </a:ln>
        </p:spPr>
      </p:sp>
      <p:sp>
        <p:nvSpPr>
          <p:cNvPr id="47" name="Chip 574"/>
          <p:cNvSpPr/>
          <p:nvPr/>
        </p:nvSpPr>
        <p:spPr>
          <a:xfrm>
            <a:off x="8875624" y="3904488"/>
            <a:ext cx="868680" cy="192024"/>
          </a:xfrm>
          <a:prstGeom prst="roundRect">
            <a:avLst>
              <a:gd name="adj" fmla="val 19048"/>
            </a:avLst>
          </a:prstGeom>
          <a:solidFill>
            <a:schemeClr val="tx1"/>
          </a:solidFill>
          <a:ln/>
        </p:spPr>
        <p:txBody>
          <a:bodyPr wrap="square" lIns="0" tIns="0" rIns="0" bIns="0" rtlCol="0" anchor="ctr"/>
          <a:lstStyle/>
          <a:p>
            <a:pPr algn="ctr" indent="0" marL="0">
              <a:buNone/>
            </a:pPr>
            <a:r>
              <a:rPr lang="en-US" sz="1000" dirty="0">
                <a:solidFill>
                  <a:schemeClr val="bg1"/>
                </a:solidFill>
              </a:rPr>
              <a:t>Unit 1</a:t>
            </a:r>
            <a:endParaRPr lang="en-US" sz="1000" dirty="0"/>
          </a:p>
        </p:txBody>
      </p:sp>
      <p:sp>
        <p:nvSpPr>
          <p:cNvPr id="48" name="Chip 575"/>
          <p:cNvSpPr/>
          <p:nvPr/>
        </p:nvSpPr>
        <p:spPr>
          <a:xfrm>
            <a:off x="8875624" y="4160520"/>
            <a:ext cx="868680" cy="192024"/>
          </a:xfrm>
          <a:prstGeom prst="roundRect">
            <a:avLst>
              <a:gd name="adj" fmla="val 19048"/>
            </a:avLst>
          </a:prstGeom>
          <a:solidFill>
            <a:schemeClr val="tx1"/>
          </a:solidFill>
          <a:ln/>
        </p:spPr>
        <p:txBody>
          <a:bodyPr wrap="square" lIns="0" tIns="0" rIns="0" bIns="0" rtlCol="0" anchor="ctr"/>
          <a:lstStyle/>
          <a:p>
            <a:pPr algn="ctr" indent="0" marL="0">
              <a:buNone/>
            </a:pPr>
            <a:r>
              <a:rPr lang="en-US" sz="1000" dirty="0">
                <a:solidFill>
                  <a:schemeClr val="bg1"/>
                </a:solidFill>
              </a:rPr>
              <a:t>Unit 2</a:t>
            </a:r>
            <a:endParaRPr lang="en-US" sz="1000" dirty="0"/>
          </a:p>
        </p:txBody>
      </p:sp>
      <p:sp>
        <p:nvSpPr>
          <p:cNvPr id="49" name="Chip 576"/>
          <p:cNvSpPr/>
          <p:nvPr/>
        </p:nvSpPr>
        <p:spPr>
          <a:xfrm>
            <a:off x="8875624" y="4416552"/>
            <a:ext cx="868680" cy="192024"/>
          </a:xfrm>
          <a:prstGeom prst="roundRect">
            <a:avLst>
              <a:gd name="adj" fmla="val 19048"/>
            </a:avLst>
          </a:prstGeom>
          <a:solidFill>
            <a:schemeClr val="tx1"/>
          </a:solidFill>
          <a:ln/>
        </p:spPr>
        <p:txBody>
          <a:bodyPr wrap="square" lIns="0" tIns="0" rIns="0" bIns="0" rtlCol="0" anchor="ctr"/>
          <a:lstStyle/>
          <a:p>
            <a:pPr algn="ctr" indent="0" marL="0">
              <a:buNone/>
            </a:pPr>
            <a:r>
              <a:rPr lang="en-US" sz="1000" dirty="0">
                <a:solidFill>
                  <a:schemeClr val="bg1"/>
                </a:solidFill>
              </a:rPr>
              <a:t>Unit 3</a:t>
            </a:r>
            <a:endParaRPr lang="en-US" sz="1000" dirty="0"/>
          </a:p>
        </p:txBody>
      </p:sp>
      <p:sp>
        <p:nvSpPr>
          <p:cNvPr id="50" name="Chip 577"/>
          <p:cNvSpPr/>
          <p:nvPr/>
        </p:nvSpPr>
        <p:spPr>
          <a:xfrm>
            <a:off x="8875624" y="4672584"/>
            <a:ext cx="868680" cy="192024"/>
          </a:xfrm>
          <a:prstGeom prst="roundRect">
            <a:avLst>
              <a:gd name="adj" fmla="val 19048"/>
            </a:avLst>
          </a:prstGeom>
          <a:solidFill>
            <a:schemeClr val="tx1"/>
          </a:solidFill>
          <a:ln/>
        </p:spPr>
        <p:txBody>
          <a:bodyPr wrap="square" lIns="0" tIns="0" rIns="0" bIns="0" rtlCol="0" anchor="ctr"/>
          <a:lstStyle/>
          <a:p>
            <a:pPr algn="ctr" indent="0" marL="0">
              <a:buNone/>
            </a:pPr>
            <a:r>
              <a:rPr lang="en-US" sz="1000" dirty="0">
                <a:solidFill>
                  <a:schemeClr val="bg1"/>
                </a:solidFill>
              </a:rPr>
              <a:t>Unit 4</a:t>
            </a:r>
            <a:endParaRPr lang="en-US" sz="1000" dirty="0"/>
          </a:p>
        </p:txBody>
      </p:sp>
      <p:sp>
        <p:nvSpPr>
          <p:cNvPr id="51" name="Chip 578"/>
          <p:cNvSpPr/>
          <p:nvPr/>
        </p:nvSpPr>
        <p:spPr>
          <a:xfrm>
            <a:off x="8875624" y="4928616"/>
            <a:ext cx="868680" cy="192024"/>
          </a:xfrm>
          <a:prstGeom prst="roundRect">
            <a:avLst>
              <a:gd name="adj" fmla="val 19048"/>
            </a:avLst>
          </a:prstGeom>
          <a:solidFill>
            <a:schemeClr val="tx1"/>
          </a:solidFill>
          <a:ln/>
        </p:spPr>
        <p:txBody>
          <a:bodyPr wrap="square" lIns="0" tIns="0" rIns="0" bIns="0" rtlCol="0" anchor="ctr"/>
          <a:lstStyle/>
          <a:p>
            <a:pPr algn="ctr" indent="0" marL="0">
              <a:buNone/>
            </a:pPr>
            <a:r>
              <a:rPr lang="en-US" sz="1000" dirty="0">
                <a:solidFill>
                  <a:schemeClr val="bg1"/>
                </a:solidFill>
              </a:rPr>
              <a:t>Unit 5</a:t>
            </a:r>
            <a:endParaRPr lang="en-US" sz="1000" dirty="0"/>
          </a:p>
        </p:txBody>
      </p:sp>
      <p:sp>
        <p:nvSpPr>
          <p:cNvPr id="52" name="Text 579"/>
          <p:cNvSpPr txBox="1"/>
          <p:nvPr/>
        </p:nvSpPr>
        <p:spPr>
          <a:xfrm>
            <a:off x="9972904" y="3904488"/>
            <a:ext cx="1487272" cy="1216152"/>
          </a:xfrm>
          <a:prstGeom prst="rect">
            <a:avLst/>
          </a:prstGeom>
          <a:noFill/>
          <a:ln/>
        </p:spPr>
        <p:txBody>
          <a:bodyPr wrap="square" lIns="0" tIns="0" rIns="0" bIns="0" rtlCol="0" anchor="ctr"/>
          <a:lstStyle/>
          <a:p>
            <a:pPr indent="0" marL="0">
              <a:buNone/>
            </a:pPr>
            <a:r>
              <a:rPr lang="en-US" sz="1600" b="1" dirty="0">
                <a:solidFill>
                  <a:schemeClr val="accent3"/>
                </a:solidFill>
              </a:rPr>
              <a:t>5 holds</a:t>
            </a:r>
            <a:endParaRPr lang="en-US" sz="1400" dirty="0"/>
          </a:p>
          <a:p>
            <a:pPr indent="0" marL="0">
              <a:buNone/>
            </a:pPr>
            <a:r>
              <a:rPr lang="en-US" sz="1600" b="1" dirty="0">
                <a:solidFill>
                  <a:schemeClr val="tx2"/>
                </a:solidFill>
              </a:rPr>
              <a:t>15 clean refusals</a:t>
            </a:r>
            <a:endParaRPr lang="en-US" sz="1400" dirty="0"/>
          </a:p>
          <a:p>
            <a:pPr indent="0" marL="0">
              <a:buNone/>
            </a:pPr>
            <a:r>
              <a:rPr lang="en-US" sz="1400" dirty="0">
                <a:solidFill>
                  <a:schemeClr val="tx2"/>
                </a:solidFill>
              </a:rPr>
              <a:t>no unit held twice</a:t>
            </a:r>
            <a:endParaRPr lang="en-US" sz="1400" dirty="0"/>
          </a:p>
        </p:txBody>
      </p:sp>
      <p:sp>
        <p:nvSpPr>
          <p:cNvPr id="53" name="Text 580"/>
          <p:cNvSpPr txBox="1"/>
          <p:nvPr/>
        </p:nvSpPr>
        <p:spPr>
          <a:xfrm>
            <a:off x="6507328" y="5413248"/>
            <a:ext cx="4952848" cy="310896"/>
          </a:xfrm>
          <a:prstGeom prst="rect">
            <a:avLst/>
          </a:prstGeom>
          <a:noFill/>
          <a:ln/>
        </p:spPr>
        <p:txBody>
          <a:bodyPr wrap="square" lIns="0" tIns="0" rIns="0" bIns="0" rtlCol="0" anchor="ctr"/>
          <a:lstStyle/>
          <a:p>
            <a:pPr indent="0" marL="0">
              <a:buNone/>
            </a:pPr>
            <a:r>
              <a:rPr lang="en-US" sz="1200" dirty="0">
                <a:solidFill>
                  <a:schemeClr val="tx2"/>
                </a:solidFill>
              </a:rPr>
              <a:t>On every pull request, through HTTP, against PostgreSQL 16</a:t>
            </a:r>
            <a:endParaRPr lang="en-US" sz="12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Deviations from the design</a:t>
            </a:r>
            <a:endParaRPr lang="en-US" sz="3600" dirty="0"/>
          </a:p>
        </p:txBody>
      </p:sp>
      <p:sp>
        <p:nvSpPr>
          <p:cNvPr id="5" name="Text 581"/>
          <p:cNvSpPr txBox="1"/>
          <p:nvPr/>
        </p:nvSpPr>
        <p:spPr>
          <a:xfrm>
            <a:off x="457200" y="1645920"/>
            <a:ext cx="329184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THE DESIGN</a:t>
            </a:r>
            <a:endParaRPr lang="en-US" sz="1200" dirty="0"/>
          </a:p>
        </p:txBody>
      </p:sp>
      <p:sp>
        <p:nvSpPr>
          <p:cNvPr id="6" name="Text 582"/>
          <p:cNvSpPr txBox="1"/>
          <p:nvPr/>
        </p:nvSpPr>
        <p:spPr>
          <a:xfrm>
            <a:off x="4206240" y="1645920"/>
            <a:ext cx="3291840"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WHAT I BUILT</a:t>
            </a:r>
            <a:endParaRPr lang="en-US" sz="1200" dirty="0"/>
          </a:p>
        </p:txBody>
      </p:sp>
      <p:sp>
        <p:nvSpPr>
          <p:cNvPr id="7" name="Text 583"/>
          <p:cNvSpPr txBox="1"/>
          <p:nvPr/>
        </p:nvSpPr>
        <p:spPr>
          <a:xfrm>
            <a:off x="7772400" y="1645920"/>
            <a:ext cx="3962095" cy="256032"/>
          </a:xfrm>
          <a:prstGeom prst="rect">
            <a:avLst/>
          </a:prstGeom>
          <a:noFill/>
          <a:ln/>
        </p:spPr>
        <p:txBody>
          <a:bodyPr wrap="square" lIns="0" tIns="0" rIns="0" bIns="0" rtlCol="0" anchor="ctr"/>
          <a:lstStyle/>
          <a:p>
            <a:pPr indent="0" marL="0">
              <a:buNone/>
            </a:pPr>
            <a:r>
              <a:rPr lang="en-US" sz="1200" b="1" spc="100" kern="0" dirty="0">
                <a:solidFill>
                  <a:schemeClr val="accent2"/>
                </a:solidFill>
              </a:rPr>
              <a:t>WHY</a:t>
            </a:r>
            <a:endParaRPr lang="en-US" sz="1200" dirty="0"/>
          </a:p>
        </p:txBody>
      </p:sp>
      <p:sp>
        <p:nvSpPr>
          <p:cNvPr id="8" name="Chip 584"/>
          <p:cNvSpPr/>
          <p:nvPr/>
        </p:nvSpPr>
        <p:spPr>
          <a:xfrm>
            <a:off x="457200" y="2029968"/>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Production capped at four instances</a:t>
            </a:r>
            <a:endParaRPr lang="en-US" sz="1400" dirty="0"/>
          </a:p>
        </p:txBody>
      </p:sp>
      <p:sp>
        <p:nvSpPr>
          <p:cNvPr id="9" name="Connector 585"/>
          <p:cNvSpPr/>
          <p:nvPr/>
        </p:nvSpPr>
        <p:spPr>
          <a:xfrm>
            <a:off x="3822192" y="2452878"/>
            <a:ext cx="310896" cy="0"/>
          </a:xfrm>
          <a:prstGeom prst="line">
            <a:avLst/>
          </a:prstGeom>
          <a:noFill/>
          <a:ln w="25400">
            <a:solidFill>
              <a:schemeClr val="tx2"/>
            </a:solidFill>
            <a:prstDash val="solid"/>
            <a:tailEnd type="triangle"/>
          </a:ln>
        </p:spPr>
      </p:sp>
      <p:sp>
        <p:nvSpPr>
          <p:cNvPr id="10" name="Card 586"/>
          <p:cNvSpPr/>
          <p:nvPr/>
        </p:nvSpPr>
        <p:spPr>
          <a:xfrm>
            <a:off x="4206240" y="2029968"/>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1" name="Text 587"/>
          <p:cNvSpPr txBox="1"/>
          <p:nvPr/>
        </p:nvSpPr>
        <p:spPr>
          <a:xfrm>
            <a:off x="4343400" y="2075688"/>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One instance in both environments</a:t>
            </a:r>
            <a:endParaRPr lang="en-US" sz="1400" dirty="0"/>
          </a:p>
        </p:txBody>
      </p:sp>
      <p:sp>
        <p:nvSpPr>
          <p:cNvPr id="12" name="Text 588"/>
          <p:cNvSpPr txBox="1"/>
          <p:nvPr/>
        </p:nvSpPr>
        <p:spPr>
          <a:xfrm>
            <a:off x="7772400" y="2029968"/>
            <a:ext cx="3962095" cy="845820"/>
          </a:xfrm>
          <a:prstGeom prst="rect">
            <a:avLst/>
          </a:prstGeom>
          <a:noFill/>
          <a:ln/>
        </p:spPr>
        <p:txBody>
          <a:bodyPr wrap="square" lIns="0" tIns="0" rIns="0" bIns="0" rtlCol="0" anchor="ctr"/>
          <a:lstStyle/>
          <a:p>
            <a:pPr indent="0" marL="0">
              <a:buNone/>
            </a:pPr>
            <a:r>
              <a:rPr lang="en-US" sz="1400" dirty="0">
                <a:solidFill>
                  <a:schemeClr val="tx2"/>
                </a:solidFill>
              </a:rPr>
              <a:t>An instance cap is the only hard limit on cost while this runs on a free trial.</a:t>
            </a:r>
            <a:endParaRPr lang="en-US" sz="1400" dirty="0"/>
          </a:p>
        </p:txBody>
      </p:sp>
      <p:sp>
        <p:nvSpPr>
          <p:cNvPr id="13" name="Chip 589"/>
          <p:cNvSpPr/>
          <p:nvPr/>
        </p:nvSpPr>
        <p:spPr>
          <a:xfrm>
            <a:off x="457200" y="3022092"/>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Email delivered to every customer</a:t>
            </a:r>
            <a:endParaRPr lang="en-US" sz="1400" dirty="0"/>
          </a:p>
        </p:txBody>
      </p:sp>
      <p:sp>
        <p:nvSpPr>
          <p:cNvPr id="14" name="Connector 590"/>
          <p:cNvSpPr/>
          <p:nvPr/>
        </p:nvSpPr>
        <p:spPr>
          <a:xfrm>
            <a:off x="3822192" y="3445002"/>
            <a:ext cx="310896" cy="0"/>
          </a:xfrm>
          <a:prstGeom prst="line">
            <a:avLst/>
          </a:prstGeom>
          <a:noFill/>
          <a:ln w="25400">
            <a:solidFill>
              <a:schemeClr val="tx2"/>
            </a:solidFill>
            <a:prstDash val="solid"/>
            <a:tailEnd type="triangle"/>
          </a:ln>
        </p:spPr>
      </p:sp>
      <p:sp>
        <p:nvSpPr>
          <p:cNvPr id="15" name="Card 591"/>
          <p:cNvSpPr/>
          <p:nvPr/>
        </p:nvSpPr>
        <p:spPr>
          <a:xfrm>
            <a:off x="4206240" y="3022092"/>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16" name="Text 592"/>
          <p:cNvSpPr txBox="1"/>
          <p:nvPr/>
        </p:nvSpPr>
        <p:spPr>
          <a:xfrm>
            <a:off x="4343400" y="3067812"/>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Restricted mode, delivered to my own address only</a:t>
            </a:r>
            <a:endParaRPr lang="en-US" sz="1400" dirty="0"/>
          </a:p>
        </p:txBody>
      </p:sp>
      <p:sp>
        <p:nvSpPr>
          <p:cNvPr id="17" name="Text 593"/>
          <p:cNvSpPr txBox="1"/>
          <p:nvPr/>
        </p:nvSpPr>
        <p:spPr>
          <a:xfrm>
            <a:off x="7772400" y="3022092"/>
            <a:ext cx="3962095" cy="845820"/>
          </a:xfrm>
          <a:prstGeom prst="rect">
            <a:avLst/>
          </a:prstGeom>
          <a:noFill/>
          <a:ln/>
        </p:spPr>
        <p:txBody>
          <a:bodyPr wrap="square" lIns="0" tIns="0" rIns="0" bIns="0" rtlCol="0" anchor="ctr"/>
          <a:lstStyle/>
          <a:p>
            <a:pPr indent="0" marL="0">
              <a:buNone/>
            </a:pPr>
            <a:r>
              <a:rPr lang="en-US" sz="1400" dirty="0">
                <a:solidFill>
                  <a:schemeClr val="tx2"/>
                </a:solidFill>
              </a:rPr>
              <a:t>There is no verified sending domain, and a stranger should never get mail from a university project.</a:t>
            </a:r>
            <a:endParaRPr lang="en-US" sz="1400" dirty="0"/>
          </a:p>
        </p:txBody>
      </p:sp>
      <p:sp>
        <p:nvSpPr>
          <p:cNvPr id="18" name="Chip 594"/>
          <p:cNvSpPr/>
          <p:nvPr/>
        </p:nvSpPr>
        <p:spPr>
          <a:xfrm>
            <a:off x="457200" y="4014216"/>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Checks every five and thirty minutes</a:t>
            </a:r>
            <a:endParaRPr lang="en-US" sz="1400" dirty="0"/>
          </a:p>
        </p:txBody>
      </p:sp>
      <p:sp>
        <p:nvSpPr>
          <p:cNvPr id="19" name="Connector 595"/>
          <p:cNvSpPr/>
          <p:nvPr/>
        </p:nvSpPr>
        <p:spPr>
          <a:xfrm>
            <a:off x="3822192" y="4437126"/>
            <a:ext cx="310896" cy="0"/>
          </a:xfrm>
          <a:prstGeom prst="line">
            <a:avLst/>
          </a:prstGeom>
          <a:noFill/>
          <a:ln w="25400">
            <a:solidFill>
              <a:schemeClr val="tx2"/>
            </a:solidFill>
            <a:prstDash val="solid"/>
            <a:tailEnd type="triangle"/>
          </a:ln>
        </p:spPr>
      </p:sp>
      <p:sp>
        <p:nvSpPr>
          <p:cNvPr id="20" name="Card 596"/>
          <p:cNvSpPr/>
          <p:nvPr/>
        </p:nvSpPr>
        <p:spPr>
          <a:xfrm>
            <a:off x="4206240" y="4014216"/>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1" name="Text 597"/>
          <p:cNvSpPr txBox="1"/>
          <p:nvPr/>
        </p:nvSpPr>
        <p:spPr>
          <a:xfrm>
            <a:off x="4343400" y="4059936"/>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No scheduled checks, and a smoke test on every deployment</a:t>
            </a:r>
            <a:endParaRPr lang="en-US" sz="1400" dirty="0"/>
          </a:p>
        </p:txBody>
      </p:sp>
      <p:sp>
        <p:nvSpPr>
          <p:cNvPr id="22" name="Text 598"/>
          <p:cNvSpPr txBox="1"/>
          <p:nvPr/>
        </p:nvSpPr>
        <p:spPr>
          <a:xfrm>
            <a:off x="7772400" y="4014216"/>
            <a:ext cx="3962095" cy="845820"/>
          </a:xfrm>
          <a:prstGeom prst="rect">
            <a:avLst/>
          </a:prstGeom>
          <a:noFill/>
          <a:ln/>
        </p:spPr>
        <p:txBody>
          <a:bodyPr wrap="square" lIns="0" tIns="0" rIns="0" bIns="0" rtlCol="0" anchor="ctr"/>
          <a:lstStyle/>
          <a:p>
            <a:pPr indent="0" marL="0">
              <a:buNone/>
            </a:pPr>
            <a:r>
              <a:rPr lang="en-US" sz="1400" dirty="0">
                <a:solidFill>
                  <a:schemeClr val="tx2"/>
                </a:solidFill>
              </a:rPr>
              <a:t>Checks every few minutes would keep the API and the database awake all day.</a:t>
            </a:r>
            <a:endParaRPr lang="en-US" sz="1400" dirty="0"/>
          </a:p>
        </p:txBody>
      </p:sp>
      <p:sp>
        <p:nvSpPr>
          <p:cNvPr id="23" name="Chip 599"/>
          <p:cNvSpPr/>
          <p:nvPr/>
        </p:nvSpPr>
        <p:spPr>
          <a:xfrm>
            <a:off x="457200" y="5006340"/>
            <a:ext cx="3291840" cy="845820"/>
          </a:xfrm>
          <a:prstGeom prst="roundRect">
            <a:avLst>
              <a:gd name="adj" fmla="val 8649"/>
            </a:avLst>
          </a:prstGeom>
          <a:solidFill>
            <a:srgbClr val="F1F2F4"/>
          </a:solidFill>
          <a:ln/>
        </p:spPr>
        <p:txBody>
          <a:bodyPr wrap="square" lIns="127000" tIns="127000" rIns="127000" bIns="127000" rtlCol="0" anchor="ctr"/>
          <a:lstStyle/>
          <a:p>
            <a:pPr algn="l" indent="0" marL="0">
              <a:buNone/>
            </a:pPr>
            <a:r>
              <a:rPr lang="en-US" sz="1400" dirty="0">
                <a:solidFill>
                  <a:schemeClr val="tx2"/>
                </a:solidFill>
              </a:rPr>
              <a:t>A booking may start today at any hour</a:t>
            </a:r>
            <a:endParaRPr lang="en-US" sz="1400" dirty="0"/>
          </a:p>
        </p:txBody>
      </p:sp>
      <p:sp>
        <p:nvSpPr>
          <p:cNvPr id="24" name="Connector 600"/>
          <p:cNvSpPr/>
          <p:nvPr/>
        </p:nvSpPr>
        <p:spPr>
          <a:xfrm>
            <a:off x="3822192" y="5429250"/>
            <a:ext cx="310896" cy="0"/>
          </a:xfrm>
          <a:prstGeom prst="line">
            <a:avLst/>
          </a:prstGeom>
          <a:noFill/>
          <a:ln w="25400">
            <a:solidFill>
              <a:schemeClr val="tx2"/>
            </a:solidFill>
            <a:prstDash val="solid"/>
            <a:tailEnd type="triangle"/>
          </a:ln>
        </p:spPr>
      </p:sp>
      <p:sp>
        <p:nvSpPr>
          <p:cNvPr id="25" name="Card 601"/>
          <p:cNvSpPr/>
          <p:nvPr/>
        </p:nvSpPr>
        <p:spPr>
          <a:xfrm>
            <a:off x="4206240" y="5006340"/>
            <a:ext cx="3291840" cy="845820"/>
          </a:xfrm>
          <a:prstGeom prst="roundRect">
            <a:avLst>
              <a:gd name="adj" fmla="val 10811"/>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26" name="Text 602"/>
          <p:cNvSpPr txBox="1"/>
          <p:nvPr/>
        </p:nvSpPr>
        <p:spPr>
          <a:xfrm>
            <a:off x="4343400" y="5052060"/>
            <a:ext cx="3017520" cy="754380"/>
          </a:xfrm>
          <a:prstGeom prst="rect">
            <a:avLst/>
          </a:prstGeom>
          <a:noFill/>
          <a:ln/>
        </p:spPr>
        <p:txBody>
          <a:bodyPr wrap="square" lIns="0" tIns="0" rIns="0" bIns="0" rtlCol="0" anchor="ctr"/>
          <a:lstStyle/>
          <a:p>
            <a:pPr indent="0" marL="0">
              <a:buNone/>
            </a:pPr>
            <a:r>
              <a:rPr lang="en-US" sz="1400" b="1" dirty="0">
                <a:solidFill>
                  <a:schemeClr val="tx1"/>
                </a:solidFill>
              </a:rPr>
              <a:t>Bookings for today stop at closing</a:t>
            </a:r>
            <a:endParaRPr lang="en-US" sz="1400" dirty="0"/>
          </a:p>
        </p:txBody>
      </p:sp>
      <p:sp>
        <p:nvSpPr>
          <p:cNvPr id="27" name="Text 603"/>
          <p:cNvSpPr txBox="1"/>
          <p:nvPr/>
        </p:nvSpPr>
        <p:spPr>
          <a:xfrm>
            <a:off x="7772400" y="5006340"/>
            <a:ext cx="3962095" cy="845820"/>
          </a:xfrm>
          <a:prstGeom prst="rect">
            <a:avLst/>
          </a:prstGeom>
          <a:noFill/>
          <a:ln/>
        </p:spPr>
        <p:txBody>
          <a:bodyPr wrap="square" lIns="0" tIns="0" rIns="0" bIns="0" rtlCol="0" anchor="ctr"/>
          <a:lstStyle/>
          <a:p>
            <a:pPr indent="0" marL="0">
              <a:buNone/>
            </a:pPr>
            <a:r>
              <a:rPr lang="en-US" sz="1400" dirty="0">
                <a:solidFill>
                  <a:schemeClr val="tx2"/>
                </a:solidFill>
              </a:rPr>
              <a:t>After closing nobody can collect, and the no show sweep would strike the customer at once.</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457200"/>
            <a:ext cx="11277295" cy="256032"/>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5  |  TESTING, DEVIATIONS AND WHAT IS NEXT</a:t>
            </a:r>
            <a:endParaRPr lang="en-US" sz="1200" dirty="0"/>
          </a:p>
        </p:txBody>
      </p:sp>
      <p:sp>
        <p:nvSpPr>
          <p:cNvPr id="3" name="Text 0"/>
          <p:cNvSpPr/>
          <p:nvPr>
            <p:ph idx="101" type="title" hasCustomPrompt="1"/>
          </p:nvPr>
        </p:nvSpPr>
        <p:spPr>
          <a:xfrm>
            <a:off x="457200" y="713232"/>
            <a:ext cx="11277295" cy="658368"/>
          </a:xfrm>
          <a:prstGeom prst="rect">
            <a:avLst/>
          </a:prstGeom>
          <a:noFill/>
          <a:ln/>
        </p:spPr>
        <p:txBody>
          <a:bodyPr wrap="square" lIns="0" tIns="0" rIns="0" bIns="0" rtlCol="0" anchor="ctr"/>
          <a:lstStyle/>
          <a:p>
            <a:pPr algn="l" indent="0" marL="0">
              <a:buNone/>
            </a:pPr>
            <a:r>
              <a:rPr lang="en-US" sz="3600" b="1" dirty="0">
                <a:solidFill>
                  <a:schemeClr val="tx1"/>
                </a:solidFill>
              </a:rPr>
              <a:t>What is left for Task 3</a:t>
            </a:r>
            <a:endParaRPr lang="en-US" sz="3600" dirty="0"/>
          </a:p>
        </p:txBody>
      </p:sp>
      <p:sp>
        <p:nvSpPr>
          <p:cNvPr id="5" name="Card 604"/>
          <p:cNvSpPr/>
          <p:nvPr/>
        </p:nvSpPr>
        <p:spPr>
          <a:xfrm>
            <a:off x="457200" y="1645920"/>
            <a:ext cx="11277295" cy="1371600"/>
          </a:xfrm>
          <a:prstGeom prst="roundRect">
            <a:avLst>
              <a:gd name="adj" fmla="val 6667"/>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6" name="Text 605"/>
          <p:cNvSpPr txBox="1"/>
          <p:nvPr/>
        </p:nvSpPr>
        <p:spPr>
          <a:xfrm>
            <a:off x="731520" y="1828800"/>
            <a:ext cx="5669280" cy="365760"/>
          </a:xfrm>
          <a:prstGeom prst="rect">
            <a:avLst/>
          </a:prstGeom>
          <a:noFill/>
          <a:ln/>
        </p:spPr>
        <p:txBody>
          <a:bodyPr wrap="square" lIns="0" tIns="0" rIns="0" bIns="0" rtlCol="0" anchor="ctr"/>
          <a:lstStyle/>
          <a:p>
            <a:pPr indent="0" marL="0">
              <a:buNone/>
            </a:pPr>
            <a:r>
              <a:rPr lang="en-US" sz="2000" b="1" dirty="0">
                <a:solidFill>
                  <a:schemeClr val="tx1"/>
                </a:solidFill>
              </a:rPr>
              <a:t>15 of 22 planned branches merged</a:t>
            </a:r>
            <a:endParaRPr lang="en-US" sz="2000" dirty="0"/>
          </a:p>
        </p:txBody>
      </p:sp>
      <p:sp>
        <p:nvSpPr>
          <p:cNvPr id="7" name="Chip 606"/>
          <p:cNvSpPr/>
          <p:nvPr/>
        </p:nvSpPr>
        <p:spPr>
          <a:xfrm>
            <a:off x="6476695" y="1865376"/>
            <a:ext cx="1051560"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v0.1.0 live</a:t>
            </a:r>
            <a:endParaRPr lang="en-US" sz="1100" dirty="0"/>
          </a:p>
        </p:txBody>
      </p:sp>
      <p:sp>
        <p:nvSpPr>
          <p:cNvPr id="8" name="Chip 607"/>
          <p:cNvSpPr/>
          <p:nvPr/>
        </p:nvSpPr>
        <p:spPr>
          <a:xfrm>
            <a:off x="7619695" y="1865376"/>
            <a:ext cx="1051560"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v0.2.0 live</a:t>
            </a:r>
            <a:endParaRPr lang="en-US" sz="1100" dirty="0"/>
          </a:p>
        </p:txBody>
      </p:sp>
      <p:sp>
        <p:nvSpPr>
          <p:cNvPr id="9" name="Chip 608"/>
          <p:cNvSpPr/>
          <p:nvPr/>
        </p:nvSpPr>
        <p:spPr>
          <a:xfrm>
            <a:off x="8762695" y="1865376"/>
            <a:ext cx="1051560" cy="292608"/>
          </a:xfrm>
          <a:prstGeom prst="roundRect">
            <a:avLst>
              <a:gd name="adj" fmla="val 50000"/>
            </a:avLst>
          </a:prstGeom>
          <a:solidFill>
            <a:schemeClr val="tx1"/>
          </a:solidFill>
          <a:ln/>
        </p:spPr>
        <p:txBody>
          <a:bodyPr wrap="square" lIns="25400" tIns="25400" rIns="25400" bIns="25400" rtlCol="0" anchor="ctr"/>
          <a:lstStyle/>
          <a:p>
            <a:pPr algn="ctr" indent="0" marL="0">
              <a:buNone/>
            </a:pPr>
            <a:r>
              <a:rPr lang="en-US" sz="1100" dirty="0">
                <a:solidFill>
                  <a:schemeClr val="bg1"/>
                </a:solidFill>
                <a:latin typeface="Consolas" pitchFamily="34" charset="0"/>
                <a:ea typeface="Consolas" pitchFamily="34" charset="-122"/>
                <a:cs typeface="Consolas" pitchFamily="34" charset="-120"/>
              </a:rPr>
              <a:t>v0.3.0 live</a:t>
            </a:r>
            <a:endParaRPr lang="en-US" sz="1100" dirty="0"/>
          </a:p>
        </p:txBody>
      </p:sp>
      <p:sp>
        <p:nvSpPr>
          <p:cNvPr id="10" name="Chip 609"/>
          <p:cNvSpPr/>
          <p:nvPr/>
        </p:nvSpPr>
        <p:spPr>
          <a:xfrm>
            <a:off x="9905695" y="1865376"/>
            <a:ext cx="1554480" cy="292608"/>
          </a:xfrm>
          <a:prstGeom prst="roundRect">
            <a:avLst>
              <a:gd name="adj" fmla="val 50000"/>
            </a:avLst>
          </a:prstGeom>
          <a:solidFill>
            <a:schemeClr val="bg1"/>
          </a:solidFill>
          <a:ln w="12700">
            <a:solidFill>
              <a:srgbClr val="5D6B7E"/>
            </a:solidFill>
            <a:prstDash val="dash"/>
          </a:ln>
        </p:spPr>
        <p:txBody>
          <a:bodyPr wrap="square" lIns="25400" tIns="25400" rIns="25400" bIns="25400" rtlCol="0" anchor="ctr"/>
          <a:lstStyle/>
          <a:p>
            <a:pPr algn="ctr" indent="0" marL="0">
              <a:buNone/>
            </a:pPr>
            <a:r>
              <a:rPr lang="en-US" sz="1100" dirty="0">
                <a:solidFill>
                  <a:schemeClr val="tx2"/>
                </a:solidFill>
                <a:latin typeface="Consolas" pitchFamily="34" charset="0"/>
                <a:ea typeface="Consolas" pitchFamily="34" charset="-122"/>
                <a:cs typeface="Consolas" pitchFamily="34" charset="-120"/>
              </a:rPr>
              <a:t>v1.0.0 in Task 3</a:t>
            </a:r>
            <a:endParaRPr lang="en-US" sz="1100" dirty="0"/>
          </a:p>
        </p:txBody>
      </p:sp>
      <p:sp>
        <p:nvSpPr>
          <p:cNvPr id="11" name="Branch 001 610"/>
          <p:cNvSpPr/>
          <p:nvPr/>
        </p:nvSpPr>
        <p:spPr>
          <a:xfrm>
            <a:off x="73152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001</a:t>
            </a:r>
            <a:endParaRPr lang="en-US" sz="1000" dirty="0"/>
          </a:p>
        </p:txBody>
      </p:sp>
      <p:sp>
        <p:nvSpPr>
          <p:cNvPr id="12" name="Branch 002 611"/>
          <p:cNvSpPr/>
          <p:nvPr/>
        </p:nvSpPr>
        <p:spPr>
          <a:xfrm>
            <a:off x="122334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002</a:t>
            </a:r>
            <a:endParaRPr lang="en-US" sz="1000" dirty="0"/>
          </a:p>
        </p:txBody>
      </p:sp>
      <p:sp>
        <p:nvSpPr>
          <p:cNvPr id="13" name="Branch 003 612"/>
          <p:cNvSpPr/>
          <p:nvPr/>
        </p:nvSpPr>
        <p:spPr>
          <a:xfrm>
            <a:off x="171516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003</a:t>
            </a:r>
            <a:endParaRPr lang="en-US" sz="1000" dirty="0"/>
          </a:p>
        </p:txBody>
      </p:sp>
      <p:sp>
        <p:nvSpPr>
          <p:cNvPr id="14" name="Branch 004 613"/>
          <p:cNvSpPr/>
          <p:nvPr/>
        </p:nvSpPr>
        <p:spPr>
          <a:xfrm>
            <a:off x="220698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004</a:t>
            </a:r>
            <a:endParaRPr lang="en-US" sz="1000" dirty="0"/>
          </a:p>
        </p:txBody>
      </p:sp>
      <p:sp>
        <p:nvSpPr>
          <p:cNvPr id="15" name="Branch 005 614"/>
          <p:cNvSpPr/>
          <p:nvPr/>
        </p:nvSpPr>
        <p:spPr>
          <a:xfrm>
            <a:off x="269881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005</a:t>
            </a:r>
            <a:endParaRPr lang="en-US" sz="1000" dirty="0"/>
          </a:p>
        </p:txBody>
      </p:sp>
      <p:sp>
        <p:nvSpPr>
          <p:cNvPr id="16" name="Branch 006 615"/>
          <p:cNvSpPr/>
          <p:nvPr/>
        </p:nvSpPr>
        <p:spPr>
          <a:xfrm>
            <a:off x="319063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006</a:t>
            </a:r>
            <a:endParaRPr lang="en-US" sz="1000" dirty="0"/>
          </a:p>
        </p:txBody>
      </p:sp>
      <p:sp>
        <p:nvSpPr>
          <p:cNvPr id="17" name="Branch 007 616"/>
          <p:cNvSpPr/>
          <p:nvPr/>
        </p:nvSpPr>
        <p:spPr>
          <a:xfrm>
            <a:off x="368245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007</a:t>
            </a:r>
            <a:endParaRPr lang="en-US" sz="1000" dirty="0"/>
          </a:p>
        </p:txBody>
      </p:sp>
      <p:sp>
        <p:nvSpPr>
          <p:cNvPr id="18" name="Branch 008 617"/>
          <p:cNvSpPr/>
          <p:nvPr/>
        </p:nvSpPr>
        <p:spPr>
          <a:xfrm>
            <a:off x="417427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008</a:t>
            </a:r>
            <a:endParaRPr lang="en-US" sz="1000" dirty="0"/>
          </a:p>
        </p:txBody>
      </p:sp>
      <p:sp>
        <p:nvSpPr>
          <p:cNvPr id="19" name="Branch 009 618"/>
          <p:cNvSpPr/>
          <p:nvPr/>
        </p:nvSpPr>
        <p:spPr>
          <a:xfrm>
            <a:off x="466610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009</a:t>
            </a:r>
            <a:endParaRPr lang="en-US" sz="1000" dirty="0"/>
          </a:p>
        </p:txBody>
      </p:sp>
      <p:sp>
        <p:nvSpPr>
          <p:cNvPr id="20" name="Branch 010 619"/>
          <p:cNvSpPr/>
          <p:nvPr/>
        </p:nvSpPr>
        <p:spPr>
          <a:xfrm>
            <a:off x="515792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010</a:t>
            </a:r>
            <a:endParaRPr lang="en-US" sz="1000" dirty="0"/>
          </a:p>
        </p:txBody>
      </p:sp>
      <p:sp>
        <p:nvSpPr>
          <p:cNvPr id="21" name="Branch 011 620"/>
          <p:cNvSpPr/>
          <p:nvPr/>
        </p:nvSpPr>
        <p:spPr>
          <a:xfrm>
            <a:off x="564974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011</a:t>
            </a:r>
            <a:endParaRPr lang="en-US" sz="1000" dirty="0"/>
          </a:p>
        </p:txBody>
      </p:sp>
      <p:sp>
        <p:nvSpPr>
          <p:cNvPr id="22" name="Branch 012 621"/>
          <p:cNvSpPr/>
          <p:nvPr/>
        </p:nvSpPr>
        <p:spPr>
          <a:xfrm>
            <a:off x="6141568"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012</a:t>
            </a:r>
            <a:endParaRPr lang="en-US" sz="1000" dirty="0"/>
          </a:p>
        </p:txBody>
      </p:sp>
      <p:sp>
        <p:nvSpPr>
          <p:cNvPr id="23" name="Branch 013 622"/>
          <p:cNvSpPr/>
          <p:nvPr/>
        </p:nvSpPr>
        <p:spPr>
          <a:xfrm>
            <a:off x="6633390"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013</a:t>
            </a:r>
            <a:endParaRPr lang="en-US" sz="1000" dirty="0"/>
          </a:p>
        </p:txBody>
      </p:sp>
      <p:sp>
        <p:nvSpPr>
          <p:cNvPr id="24" name="Branch 014 623"/>
          <p:cNvSpPr/>
          <p:nvPr/>
        </p:nvSpPr>
        <p:spPr>
          <a:xfrm>
            <a:off x="7125213"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014</a:t>
            </a:r>
            <a:endParaRPr lang="en-US" sz="1000" dirty="0"/>
          </a:p>
        </p:txBody>
      </p:sp>
      <p:sp>
        <p:nvSpPr>
          <p:cNvPr id="25" name="Branch 015 624"/>
          <p:cNvSpPr/>
          <p:nvPr/>
        </p:nvSpPr>
        <p:spPr>
          <a:xfrm>
            <a:off x="7617035" y="2377440"/>
            <a:ext cx="400383" cy="411480"/>
          </a:xfrm>
          <a:prstGeom prst="roundRect">
            <a:avLst>
              <a:gd name="adj" fmla="val 11419"/>
            </a:avLst>
          </a:prstGeom>
          <a:solidFill>
            <a:schemeClr val="tx1"/>
          </a:solidFill>
          <a:ln/>
        </p:spPr>
        <p:txBody>
          <a:bodyPr wrap="square" lIns="0" tIns="0" rIns="0" bIns="0" rtlCol="0" anchor="ctr"/>
          <a:lstStyle/>
          <a:p>
            <a:pPr algn="ctr" indent="0" marL="0">
              <a:buNone/>
            </a:pPr>
            <a:r>
              <a:rPr lang="en-US" sz="1000" dirty="0">
                <a:solidFill>
                  <a:schemeClr val="bg1"/>
                </a:solidFill>
                <a:latin typeface="Consolas" pitchFamily="34" charset="0"/>
                <a:ea typeface="Consolas" pitchFamily="34" charset="-122"/>
                <a:cs typeface="Consolas" pitchFamily="34" charset="-120"/>
              </a:rPr>
              <a:t>015</a:t>
            </a:r>
            <a:endParaRPr lang="en-US" sz="1000" dirty="0"/>
          </a:p>
        </p:txBody>
      </p:sp>
      <p:sp>
        <p:nvSpPr>
          <p:cNvPr id="26" name="Branch 016 625"/>
          <p:cNvSpPr/>
          <p:nvPr/>
        </p:nvSpPr>
        <p:spPr>
          <a:xfrm>
            <a:off x="8108858" y="2377440"/>
            <a:ext cx="400383" cy="411480"/>
          </a:xfrm>
          <a:prstGeom prst="roundRect">
            <a:avLst>
              <a:gd name="adj" fmla="val 11419"/>
            </a:avLst>
          </a:prstGeom>
          <a:solidFill>
            <a:schemeClr val="bg1"/>
          </a:solidFill>
          <a:ln w="12700">
            <a:solidFill>
              <a:srgbClr val="5D6B7E"/>
            </a:solidFill>
            <a:prstDash val="dash"/>
          </a:ln>
        </p:spPr>
        <p:txBody>
          <a:bodyPr wrap="square" lIns="0" tIns="0" rIns="0" bIns="0" rtlCol="0" anchor="ctr"/>
          <a:lstStyle/>
          <a:p>
            <a:pPr algn="ctr" indent="0" marL="0">
              <a:buNone/>
            </a:pPr>
            <a:r>
              <a:rPr lang="en-US" sz="1000" dirty="0">
                <a:solidFill>
                  <a:srgbClr val="5D6B7E"/>
                </a:solidFill>
                <a:latin typeface="Consolas" pitchFamily="34" charset="0"/>
                <a:ea typeface="Consolas" pitchFamily="34" charset="-122"/>
                <a:cs typeface="Consolas" pitchFamily="34" charset="-120"/>
              </a:rPr>
              <a:t>016</a:t>
            </a:r>
            <a:endParaRPr lang="en-US" sz="1000" dirty="0"/>
          </a:p>
        </p:txBody>
      </p:sp>
      <p:sp>
        <p:nvSpPr>
          <p:cNvPr id="27" name="Branch 017 626"/>
          <p:cNvSpPr/>
          <p:nvPr/>
        </p:nvSpPr>
        <p:spPr>
          <a:xfrm>
            <a:off x="8600680" y="2377440"/>
            <a:ext cx="400383" cy="411480"/>
          </a:xfrm>
          <a:prstGeom prst="roundRect">
            <a:avLst>
              <a:gd name="adj" fmla="val 11419"/>
            </a:avLst>
          </a:prstGeom>
          <a:solidFill>
            <a:schemeClr val="bg1"/>
          </a:solidFill>
          <a:ln w="12700">
            <a:solidFill>
              <a:srgbClr val="5D6B7E"/>
            </a:solidFill>
            <a:prstDash val="dash"/>
          </a:ln>
        </p:spPr>
        <p:txBody>
          <a:bodyPr wrap="square" lIns="0" tIns="0" rIns="0" bIns="0" rtlCol="0" anchor="ctr"/>
          <a:lstStyle/>
          <a:p>
            <a:pPr algn="ctr" indent="0" marL="0">
              <a:buNone/>
            </a:pPr>
            <a:r>
              <a:rPr lang="en-US" sz="1000" dirty="0">
                <a:solidFill>
                  <a:srgbClr val="5D6B7E"/>
                </a:solidFill>
                <a:latin typeface="Consolas" pitchFamily="34" charset="0"/>
                <a:ea typeface="Consolas" pitchFamily="34" charset="-122"/>
                <a:cs typeface="Consolas" pitchFamily="34" charset="-120"/>
              </a:rPr>
              <a:t>017</a:t>
            </a:r>
            <a:endParaRPr lang="en-US" sz="1000" dirty="0"/>
          </a:p>
        </p:txBody>
      </p:sp>
      <p:sp>
        <p:nvSpPr>
          <p:cNvPr id="28" name="Branch 018 627"/>
          <p:cNvSpPr/>
          <p:nvPr/>
        </p:nvSpPr>
        <p:spPr>
          <a:xfrm>
            <a:off x="9092503" y="2377440"/>
            <a:ext cx="400383" cy="411480"/>
          </a:xfrm>
          <a:prstGeom prst="roundRect">
            <a:avLst>
              <a:gd name="adj" fmla="val 11419"/>
            </a:avLst>
          </a:prstGeom>
          <a:solidFill>
            <a:schemeClr val="bg1"/>
          </a:solidFill>
          <a:ln w="12700">
            <a:solidFill>
              <a:srgbClr val="5D6B7E"/>
            </a:solidFill>
            <a:prstDash val="dash"/>
          </a:ln>
        </p:spPr>
        <p:txBody>
          <a:bodyPr wrap="square" lIns="0" tIns="0" rIns="0" bIns="0" rtlCol="0" anchor="ctr"/>
          <a:lstStyle/>
          <a:p>
            <a:pPr algn="ctr" indent="0" marL="0">
              <a:buNone/>
            </a:pPr>
            <a:r>
              <a:rPr lang="en-US" sz="1000" dirty="0">
                <a:solidFill>
                  <a:srgbClr val="5D6B7E"/>
                </a:solidFill>
                <a:latin typeface="Consolas" pitchFamily="34" charset="0"/>
                <a:ea typeface="Consolas" pitchFamily="34" charset="-122"/>
                <a:cs typeface="Consolas" pitchFamily="34" charset="-120"/>
              </a:rPr>
              <a:t>018</a:t>
            </a:r>
            <a:endParaRPr lang="en-US" sz="1000" dirty="0"/>
          </a:p>
        </p:txBody>
      </p:sp>
      <p:sp>
        <p:nvSpPr>
          <p:cNvPr id="29" name="Branch 019 628"/>
          <p:cNvSpPr/>
          <p:nvPr/>
        </p:nvSpPr>
        <p:spPr>
          <a:xfrm>
            <a:off x="9584325" y="2377440"/>
            <a:ext cx="400383" cy="411480"/>
          </a:xfrm>
          <a:prstGeom prst="roundRect">
            <a:avLst>
              <a:gd name="adj" fmla="val 11419"/>
            </a:avLst>
          </a:prstGeom>
          <a:solidFill>
            <a:schemeClr val="bg1"/>
          </a:solidFill>
          <a:ln w="12700">
            <a:solidFill>
              <a:srgbClr val="5D6B7E"/>
            </a:solidFill>
            <a:prstDash val="dash"/>
          </a:ln>
        </p:spPr>
        <p:txBody>
          <a:bodyPr wrap="square" lIns="0" tIns="0" rIns="0" bIns="0" rtlCol="0" anchor="ctr"/>
          <a:lstStyle/>
          <a:p>
            <a:pPr algn="ctr" indent="0" marL="0">
              <a:buNone/>
            </a:pPr>
            <a:r>
              <a:rPr lang="en-US" sz="1000" dirty="0">
                <a:solidFill>
                  <a:srgbClr val="5D6B7E"/>
                </a:solidFill>
                <a:latin typeface="Consolas" pitchFamily="34" charset="0"/>
                <a:ea typeface="Consolas" pitchFamily="34" charset="-122"/>
                <a:cs typeface="Consolas" pitchFamily="34" charset="-120"/>
              </a:rPr>
              <a:t>019</a:t>
            </a:r>
            <a:endParaRPr lang="en-US" sz="1000" dirty="0"/>
          </a:p>
        </p:txBody>
      </p:sp>
      <p:sp>
        <p:nvSpPr>
          <p:cNvPr id="30" name="Branch 020 629"/>
          <p:cNvSpPr/>
          <p:nvPr/>
        </p:nvSpPr>
        <p:spPr>
          <a:xfrm>
            <a:off x="10076148" y="2377440"/>
            <a:ext cx="400383" cy="411480"/>
          </a:xfrm>
          <a:prstGeom prst="roundRect">
            <a:avLst>
              <a:gd name="adj" fmla="val 11419"/>
            </a:avLst>
          </a:prstGeom>
          <a:solidFill>
            <a:schemeClr val="bg1"/>
          </a:solidFill>
          <a:ln w="12700">
            <a:solidFill>
              <a:srgbClr val="5D6B7E"/>
            </a:solidFill>
            <a:prstDash val="dash"/>
          </a:ln>
        </p:spPr>
        <p:txBody>
          <a:bodyPr wrap="square" lIns="0" tIns="0" rIns="0" bIns="0" rtlCol="0" anchor="ctr"/>
          <a:lstStyle/>
          <a:p>
            <a:pPr algn="ctr" indent="0" marL="0">
              <a:buNone/>
            </a:pPr>
            <a:r>
              <a:rPr lang="en-US" sz="1000" dirty="0">
                <a:solidFill>
                  <a:srgbClr val="5D6B7E"/>
                </a:solidFill>
                <a:latin typeface="Consolas" pitchFamily="34" charset="0"/>
                <a:ea typeface="Consolas" pitchFamily="34" charset="-122"/>
                <a:cs typeface="Consolas" pitchFamily="34" charset="-120"/>
              </a:rPr>
              <a:t>020</a:t>
            </a:r>
            <a:endParaRPr lang="en-US" sz="1000" dirty="0"/>
          </a:p>
        </p:txBody>
      </p:sp>
      <p:sp>
        <p:nvSpPr>
          <p:cNvPr id="31" name="Branch 021 630"/>
          <p:cNvSpPr/>
          <p:nvPr/>
        </p:nvSpPr>
        <p:spPr>
          <a:xfrm>
            <a:off x="10567970" y="2377440"/>
            <a:ext cx="400383" cy="411480"/>
          </a:xfrm>
          <a:prstGeom prst="roundRect">
            <a:avLst>
              <a:gd name="adj" fmla="val 11419"/>
            </a:avLst>
          </a:prstGeom>
          <a:solidFill>
            <a:schemeClr val="bg1"/>
          </a:solidFill>
          <a:ln w="12700">
            <a:solidFill>
              <a:srgbClr val="5D6B7E"/>
            </a:solidFill>
            <a:prstDash val="dash"/>
          </a:ln>
        </p:spPr>
        <p:txBody>
          <a:bodyPr wrap="square" lIns="0" tIns="0" rIns="0" bIns="0" rtlCol="0" anchor="ctr"/>
          <a:lstStyle/>
          <a:p>
            <a:pPr algn="ctr" indent="0" marL="0">
              <a:buNone/>
            </a:pPr>
            <a:r>
              <a:rPr lang="en-US" sz="1000" dirty="0">
                <a:solidFill>
                  <a:srgbClr val="5D6B7E"/>
                </a:solidFill>
                <a:latin typeface="Consolas" pitchFamily="34" charset="0"/>
                <a:ea typeface="Consolas" pitchFamily="34" charset="-122"/>
                <a:cs typeface="Consolas" pitchFamily="34" charset="-120"/>
              </a:rPr>
              <a:t>021</a:t>
            </a:r>
            <a:endParaRPr lang="en-US" sz="1000" dirty="0"/>
          </a:p>
        </p:txBody>
      </p:sp>
      <p:sp>
        <p:nvSpPr>
          <p:cNvPr id="32" name="Branch 022 631"/>
          <p:cNvSpPr/>
          <p:nvPr/>
        </p:nvSpPr>
        <p:spPr>
          <a:xfrm>
            <a:off x="11059793" y="2377440"/>
            <a:ext cx="400383" cy="411480"/>
          </a:xfrm>
          <a:prstGeom prst="roundRect">
            <a:avLst>
              <a:gd name="adj" fmla="val 11419"/>
            </a:avLst>
          </a:prstGeom>
          <a:solidFill>
            <a:schemeClr val="bg1"/>
          </a:solidFill>
          <a:ln w="12700">
            <a:solidFill>
              <a:srgbClr val="5D6B7E"/>
            </a:solidFill>
            <a:prstDash val="dash"/>
          </a:ln>
        </p:spPr>
        <p:txBody>
          <a:bodyPr wrap="square" lIns="0" tIns="0" rIns="0" bIns="0" rtlCol="0" anchor="ctr"/>
          <a:lstStyle/>
          <a:p>
            <a:pPr algn="ctr" indent="0" marL="0">
              <a:buNone/>
            </a:pPr>
            <a:r>
              <a:rPr lang="en-US" sz="1000" dirty="0">
                <a:solidFill>
                  <a:srgbClr val="5D6B7E"/>
                </a:solidFill>
                <a:latin typeface="Consolas" pitchFamily="34" charset="0"/>
                <a:ea typeface="Consolas" pitchFamily="34" charset="-122"/>
                <a:cs typeface="Consolas" pitchFamily="34" charset="-120"/>
              </a:rPr>
              <a:t>022</a:t>
            </a:r>
            <a:endParaRPr lang="en-US" sz="1000" dirty="0"/>
          </a:p>
        </p:txBody>
      </p:sp>
      <p:sp>
        <p:nvSpPr>
          <p:cNvPr id="33" name="Card 632"/>
          <p:cNvSpPr/>
          <p:nvPr/>
        </p:nvSpPr>
        <p:spPr>
          <a:xfrm>
            <a:off x="457200" y="3291840"/>
            <a:ext cx="5501488" cy="1143000"/>
          </a:xfrm>
          <a:prstGeom prst="roundRect">
            <a:avLst>
              <a:gd name="adj" fmla="val 8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34" name="Icon clock 633"/>
          <p:cNvSpPr/>
          <p:nvPr/>
        </p:nvSpPr>
        <p:spPr>
          <a:xfrm>
            <a:off x="731520" y="3579876"/>
            <a:ext cx="566928" cy="566928"/>
          </a:xfrm>
          <a:prstGeom prst="ellipse">
            <a:avLst/>
          </a:prstGeom>
          <a:solidFill>
            <a:schemeClr val="accent1"/>
          </a:solidFill>
          <a:ln/>
        </p:spPr>
      </p:sp>
      <p:sp>
        <p:nvSpPr>
          <p:cNvPr id="35" name="Glyph part 635"/>
          <p:cNvSpPr/>
          <p:nvPr/>
        </p:nvSpPr>
        <p:spPr>
          <a:xfrm>
            <a:off x="884591" y="3732947"/>
            <a:ext cx="260787" cy="260787"/>
          </a:xfrm>
          <a:prstGeom prst="ellipse">
            <a:avLst/>
          </a:prstGeom>
          <a:noFill/>
          <a:ln w="28575">
            <a:solidFill>
              <a:schemeClr val="tx1"/>
            </a:solidFill>
            <a:prstDash val="solid"/>
          </a:ln>
        </p:spPr>
      </p:sp>
      <p:sp>
        <p:nvSpPr>
          <p:cNvPr id="36" name="Glyph stroke 636"/>
          <p:cNvSpPr/>
          <p:nvPr/>
        </p:nvSpPr>
        <p:spPr>
          <a:xfrm flipV="1">
            <a:off x="1014984" y="3778301"/>
            <a:ext cx="0" cy="85039"/>
          </a:xfrm>
          <a:prstGeom prst="line">
            <a:avLst/>
          </a:prstGeom>
          <a:noFill/>
          <a:ln w="28575">
            <a:solidFill>
              <a:schemeClr val="tx1"/>
            </a:solidFill>
            <a:prstDash val="solid"/>
          </a:ln>
        </p:spPr>
      </p:sp>
      <p:sp>
        <p:nvSpPr>
          <p:cNvPr id="37" name="Glyph stroke 637"/>
          <p:cNvSpPr/>
          <p:nvPr/>
        </p:nvSpPr>
        <p:spPr>
          <a:xfrm>
            <a:off x="1014984" y="3863340"/>
            <a:ext cx="62362" cy="0"/>
          </a:xfrm>
          <a:prstGeom prst="line">
            <a:avLst/>
          </a:prstGeom>
          <a:noFill/>
          <a:ln w="28575">
            <a:solidFill>
              <a:schemeClr val="tx1"/>
            </a:solidFill>
            <a:prstDash val="solid"/>
          </a:ln>
        </p:spPr>
      </p:sp>
      <p:sp>
        <p:nvSpPr>
          <p:cNvPr id="38" name="Text 638"/>
          <p:cNvSpPr txBox="1"/>
          <p:nvPr/>
        </p:nvSpPr>
        <p:spPr>
          <a:xfrm>
            <a:off x="1527048" y="3383280"/>
            <a:ext cx="4157320" cy="960120"/>
          </a:xfrm>
          <a:prstGeom prst="rect">
            <a:avLst/>
          </a:prstGeom>
          <a:noFill/>
          <a:ln/>
        </p:spPr>
        <p:txBody>
          <a:bodyPr wrap="square" lIns="0" tIns="0" rIns="0" bIns="0" rtlCol="0" anchor="ctr"/>
          <a:lstStyle/>
          <a:p>
            <a:pPr indent="0" marL="0">
              <a:buNone/>
            </a:pPr>
            <a:r>
              <a:rPr lang="en-US" sz="1800" b="1" dirty="0">
                <a:solidFill>
                  <a:schemeClr val="tx1"/>
                </a:solidFill>
              </a:rPr>
              <a:t>Measurements and drills</a:t>
            </a:r>
            <a:endParaRPr lang="en-US" sz="1400" dirty="0"/>
          </a:p>
          <a:p>
            <a:pPr indent="0" marL="0">
              <a:spcBef>
                <a:spcPts val="300"/>
              </a:spcBef>
              <a:buNone/>
            </a:pPr>
            <a:r>
              <a:rPr lang="en-US" sz="1400" dirty="0">
                <a:solidFill>
                  <a:schemeClr val="tx2"/>
                </a:solidFill>
              </a:rPr>
              <a:t>Load, volume and cold start, the restore drill and the usability sessions</a:t>
            </a:r>
            <a:endParaRPr lang="en-US" sz="1400" dirty="0"/>
          </a:p>
        </p:txBody>
      </p:sp>
      <p:sp>
        <p:nvSpPr>
          <p:cNvPr id="39" name="Card 639"/>
          <p:cNvSpPr/>
          <p:nvPr/>
        </p:nvSpPr>
        <p:spPr>
          <a:xfrm>
            <a:off x="6233008" y="3291840"/>
            <a:ext cx="5501488" cy="1143000"/>
          </a:xfrm>
          <a:prstGeom prst="roundRect">
            <a:avLst>
              <a:gd name="adj" fmla="val 8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40" name="Icon bolt 640"/>
          <p:cNvSpPr/>
          <p:nvPr/>
        </p:nvSpPr>
        <p:spPr>
          <a:xfrm>
            <a:off x="6507328" y="3579876"/>
            <a:ext cx="566928" cy="566928"/>
          </a:xfrm>
          <a:prstGeom prst="ellipse">
            <a:avLst/>
          </a:prstGeom>
          <a:solidFill>
            <a:schemeClr val="accent1"/>
          </a:solidFill>
          <a:ln/>
        </p:spPr>
      </p:sp>
      <p:sp>
        <p:nvSpPr>
          <p:cNvPr id="41" name="Glyph part 642"/>
          <p:cNvSpPr/>
          <p:nvPr/>
        </p:nvSpPr>
        <p:spPr>
          <a:xfrm>
            <a:off x="6671737" y="3721608"/>
            <a:ext cx="238110" cy="283464"/>
          </a:xfrm>
          <a:prstGeom prst="lightningBolt">
            <a:avLst/>
          </a:prstGeom>
          <a:solidFill>
            <a:schemeClr val="tx1"/>
          </a:solidFill>
          <a:ln/>
        </p:spPr>
      </p:sp>
      <p:sp>
        <p:nvSpPr>
          <p:cNvPr id="42" name="Text 643"/>
          <p:cNvSpPr txBox="1"/>
          <p:nvPr/>
        </p:nvSpPr>
        <p:spPr>
          <a:xfrm>
            <a:off x="7302856" y="3383280"/>
            <a:ext cx="4157320" cy="960120"/>
          </a:xfrm>
          <a:prstGeom prst="rect">
            <a:avLst/>
          </a:prstGeom>
          <a:noFill/>
          <a:ln/>
        </p:spPr>
        <p:txBody>
          <a:bodyPr wrap="square" lIns="0" tIns="0" rIns="0" bIns="0" rtlCol="0" anchor="ctr"/>
          <a:lstStyle/>
          <a:p>
            <a:pPr indent="0" marL="0">
              <a:buNone/>
            </a:pPr>
            <a:r>
              <a:rPr lang="en-US" sz="1800" b="1" dirty="0">
                <a:solidFill>
                  <a:schemeClr val="tx1"/>
                </a:solidFill>
              </a:rPr>
              <a:t>Alerting and the incident procedure</a:t>
            </a:r>
            <a:endParaRPr lang="en-US" sz="1400" dirty="0"/>
          </a:p>
          <a:p>
            <a:pPr indent="0" marL="0">
              <a:spcBef>
                <a:spcPts val="300"/>
              </a:spcBef>
              <a:buNone/>
            </a:pPr>
            <a:r>
              <a:rPr lang="en-US" sz="1400" dirty="0">
                <a:solidFill>
                  <a:schemeClr val="tx2"/>
                </a:solidFill>
              </a:rPr>
              <a:t>Alerts on token reuse and lockouts, and a written, rehearsed procedure</a:t>
            </a:r>
            <a:endParaRPr lang="en-US" sz="1400" dirty="0"/>
          </a:p>
        </p:txBody>
      </p:sp>
      <p:sp>
        <p:nvSpPr>
          <p:cNvPr id="43" name="Card 644"/>
          <p:cNvSpPr/>
          <p:nvPr/>
        </p:nvSpPr>
        <p:spPr>
          <a:xfrm>
            <a:off x="457200" y="4709160"/>
            <a:ext cx="5501488" cy="1143000"/>
          </a:xfrm>
          <a:prstGeom prst="roundRect">
            <a:avLst>
              <a:gd name="adj" fmla="val 8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44" name="Icon doc 645"/>
          <p:cNvSpPr/>
          <p:nvPr/>
        </p:nvSpPr>
        <p:spPr>
          <a:xfrm>
            <a:off x="731520" y="4997196"/>
            <a:ext cx="566928" cy="566928"/>
          </a:xfrm>
          <a:prstGeom prst="ellipse">
            <a:avLst/>
          </a:prstGeom>
          <a:solidFill>
            <a:schemeClr val="accent1"/>
          </a:solidFill>
          <a:ln/>
        </p:spPr>
      </p:sp>
      <p:sp>
        <p:nvSpPr>
          <p:cNvPr id="45" name="Glyph part 647"/>
          <p:cNvSpPr/>
          <p:nvPr/>
        </p:nvSpPr>
        <p:spPr>
          <a:xfrm>
            <a:off x="912937" y="5138928"/>
            <a:ext cx="204094" cy="283464"/>
          </a:xfrm>
          <a:prstGeom prst="snip1Rect">
            <a:avLst/>
          </a:prstGeom>
          <a:solidFill>
            <a:schemeClr val="tx1"/>
          </a:solidFill>
          <a:ln/>
        </p:spPr>
      </p:sp>
      <p:sp>
        <p:nvSpPr>
          <p:cNvPr id="46" name="Glyph part 648"/>
          <p:cNvSpPr/>
          <p:nvPr/>
        </p:nvSpPr>
        <p:spPr>
          <a:xfrm>
            <a:off x="952622" y="5257983"/>
            <a:ext cx="124724" cy="19842"/>
          </a:xfrm>
          <a:prstGeom prst="rect">
            <a:avLst/>
          </a:prstGeom>
          <a:solidFill>
            <a:schemeClr val="accent1"/>
          </a:solidFill>
          <a:ln/>
        </p:spPr>
      </p:sp>
      <p:sp>
        <p:nvSpPr>
          <p:cNvPr id="47" name="Glyph part 649"/>
          <p:cNvSpPr/>
          <p:nvPr/>
        </p:nvSpPr>
        <p:spPr>
          <a:xfrm>
            <a:off x="952622" y="5314676"/>
            <a:ext cx="124724" cy="19842"/>
          </a:xfrm>
          <a:prstGeom prst="rect">
            <a:avLst/>
          </a:prstGeom>
          <a:solidFill>
            <a:schemeClr val="accent1"/>
          </a:solidFill>
          <a:ln/>
        </p:spPr>
      </p:sp>
      <p:sp>
        <p:nvSpPr>
          <p:cNvPr id="48" name="Text 650"/>
          <p:cNvSpPr txBox="1"/>
          <p:nvPr/>
        </p:nvSpPr>
        <p:spPr>
          <a:xfrm>
            <a:off x="1527048" y="4800600"/>
            <a:ext cx="4157320" cy="960120"/>
          </a:xfrm>
          <a:prstGeom prst="rect">
            <a:avLst/>
          </a:prstGeom>
          <a:noFill/>
          <a:ln/>
        </p:spPr>
        <p:txBody>
          <a:bodyPr wrap="square" lIns="0" tIns="0" rIns="0" bIns="0" rtlCol="0" anchor="ctr"/>
          <a:lstStyle/>
          <a:p>
            <a:pPr indent="0" marL="0">
              <a:buNone/>
            </a:pPr>
            <a:r>
              <a:rPr lang="en-US" sz="1800" b="1" dirty="0">
                <a:solidFill>
                  <a:schemeClr val="tx1"/>
                </a:solidFill>
              </a:rPr>
              <a:t>A customer's own data</a:t>
            </a:r>
            <a:endParaRPr lang="en-US" sz="1400" dirty="0"/>
          </a:p>
          <a:p>
            <a:pPr indent="0" marL="0">
              <a:spcBef>
                <a:spcPts val="300"/>
              </a:spcBef>
              <a:buNone/>
            </a:pPr>
            <a:r>
              <a:rPr lang="en-US" sz="1400" dirty="0">
                <a:solidFill>
                  <a:schemeClr val="tx2"/>
                </a:solidFill>
              </a:rPr>
              <a:t>Statement download, data export, retention period</a:t>
            </a:r>
            <a:endParaRPr lang="en-US" sz="1400" dirty="0"/>
          </a:p>
        </p:txBody>
      </p:sp>
      <p:sp>
        <p:nvSpPr>
          <p:cNvPr id="49" name="Card 651"/>
          <p:cNvSpPr/>
          <p:nvPr/>
        </p:nvSpPr>
        <p:spPr>
          <a:xfrm>
            <a:off x="6233008" y="4709160"/>
            <a:ext cx="5501488" cy="1143000"/>
          </a:xfrm>
          <a:prstGeom prst="roundRect">
            <a:avLst>
              <a:gd name="adj" fmla="val 8000"/>
            </a:avLst>
          </a:prstGeom>
          <a:solidFill>
            <a:schemeClr val="bg1"/>
          </a:solidFill>
          <a:ln w="9525">
            <a:solidFill>
              <a:srgbClr val="E2E5E9"/>
            </a:solidFill>
            <a:prstDash val="solid"/>
          </a:ln>
          <a:effectLst>
            <a:outerShdw sx="100000" sy="100000" kx="0" ky="0" algn="bl" rotWithShape="0" blurRad="101600" dist="25400" dir="5400000">
              <a:srgbClr val="141613">
                <a:alpha val="10000"/>
              </a:srgbClr>
            </a:outerShdw>
          </a:effectLst>
        </p:spPr>
      </p:sp>
      <p:sp>
        <p:nvSpPr>
          <p:cNvPr id="50" name="Icon tag 652"/>
          <p:cNvSpPr/>
          <p:nvPr/>
        </p:nvSpPr>
        <p:spPr>
          <a:xfrm>
            <a:off x="6507328" y="4997196"/>
            <a:ext cx="566928" cy="566928"/>
          </a:xfrm>
          <a:prstGeom prst="ellipse">
            <a:avLst/>
          </a:prstGeom>
          <a:solidFill>
            <a:schemeClr val="accent1"/>
          </a:solidFill>
          <a:ln/>
        </p:spPr>
      </p:sp>
      <p:sp>
        <p:nvSpPr>
          <p:cNvPr id="51" name="Glyph part 654"/>
          <p:cNvSpPr/>
          <p:nvPr/>
        </p:nvSpPr>
        <p:spPr>
          <a:xfrm>
            <a:off x="6649060" y="5195621"/>
            <a:ext cx="283464" cy="170078"/>
          </a:xfrm>
          <a:prstGeom prst="homePlate">
            <a:avLst/>
          </a:prstGeom>
          <a:solidFill>
            <a:schemeClr val="tx1"/>
          </a:solidFill>
          <a:ln/>
        </p:spPr>
      </p:sp>
      <p:sp>
        <p:nvSpPr>
          <p:cNvPr id="52" name="Glyph part 655"/>
          <p:cNvSpPr/>
          <p:nvPr/>
        </p:nvSpPr>
        <p:spPr>
          <a:xfrm>
            <a:off x="6836146" y="5257983"/>
            <a:ext cx="45354" cy="45354"/>
          </a:xfrm>
          <a:prstGeom prst="ellipse">
            <a:avLst/>
          </a:prstGeom>
          <a:solidFill>
            <a:schemeClr val="accent1"/>
          </a:solidFill>
          <a:ln/>
        </p:spPr>
      </p:sp>
      <p:sp>
        <p:nvSpPr>
          <p:cNvPr id="53" name="Text 656"/>
          <p:cNvSpPr txBox="1"/>
          <p:nvPr/>
        </p:nvSpPr>
        <p:spPr>
          <a:xfrm>
            <a:off x="7302856" y="4800600"/>
            <a:ext cx="4157320" cy="960120"/>
          </a:xfrm>
          <a:prstGeom prst="rect">
            <a:avLst/>
          </a:prstGeom>
          <a:noFill/>
          <a:ln/>
        </p:spPr>
        <p:txBody>
          <a:bodyPr wrap="square" lIns="0" tIns="0" rIns="0" bIns="0" rtlCol="0" anchor="ctr"/>
          <a:lstStyle/>
          <a:p>
            <a:pPr indent="0" marL="0">
              <a:buNone/>
            </a:pPr>
            <a:r>
              <a:rPr lang="en-US" sz="1800" b="1" dirty="0">
                <a:solidFill>
                  <a:schemeClr val="tx1"/>
                </a:solidFill>
              </a:rPr>
              <a:t>Release v1.0.0</a:t>
            </a:r>
            <a:endParaRPr lang="en-US" sz="1400" dirty="0"/>
          </a:p>
          <a:p>
            <a:pPr indent="0" marL="0">
              <a:spcBef>
                <a:spcPts val="300"/>
              </a:spcBef>
              <a:buNone/>
            </a:pPr>
            <a:r>
              <a:rPr lang="en-US" sz="1400" dirty="0">
                <a:solidFill>
                  <a:schemeClr val="tx2"/>
                </a:solidFill>
              </a:rPr>
              <a:t>With the report and the user guide, once the system matches the whole design</a:t>
            </a:r>
            <a:endParaRPr lang="en-US" sz="1400" dirty="0"/>
          </a:p>
        </p:txBody>
      </p:sp>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D6B7E"/>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p:nvPr>
            <p:ph idx="100" type="title" hasCustomPrompt="1"/>
          </p:nvPr>
        </p:nvSpPr>
        <p:spPr>
          <a:xfrm>
            <a:off x="457200" y="1600200"/>
            <a:ext cx="6949440" cy="1005840"/>
          </a:xfrm>
          <a:prstGeom prst="rect">
            <a:avLst/>
          </a:prstGeom>
          <a:noFill/>
          <a:ln/>
        </p:spPr>
        <p:txBody>
          <a:bodyPr wrap="square" lIns="0" tIns="0" rIns="0" bIns="0" rtlCol="0" anchor="ctr"/>
          <a:lstStyle/>
          <a:p>
            <a:pPr algn="l" indent="0" marL="0">
              <a:buNone/>
            </a:pPr>
            <a:r>
              <a:rPr lang="en-US" sz="6000" b="1" dirty="0">
                <a:solidFill>
                  <a:schemeClr val="bg1"/>
                </a:solidFill>
              </a:rPr>
              <a:t>Thank you</a:t>
            </a:r>
            <a:endParaRPr lang="en-US" sz="6000" dirty="0"/>
          </a:p>
        </p:txBody>
      </p:sp>
      <p:sp>
        <p:nvSpPr>
          <p:cNvPr id="4" name="Icon browser 657"/>
          <p:cNvSpPr/>
          <p:nvPr/>
        </p:nvSpPr>
        <p:spPr>
          <a:xfrm>
            <a:off x="457200" y="2926080"/>
            <a:ext cx="512064" cy="512064"/>
          </a:xfrm>
          <a:prstGeom prst="ellipse">
            <a:avLst/>
          </a:prstGeom>
          <a:solidFill>
            <a:schemeClr val="accent1"/>
          </a:solidFill>
          <a:ln/>
        </p:spPr>
      </p:sp>
      <p:sp>
        <p:nvSpPr>
          <p:cNvPr id="5" name="Glyph part 659"/>
          <p:cNvSpPr/>
          <p:nvPr/>
        </p:nvSpPr>
        <p:spPr>
          <a:xfrm>
            <a:off x="585216" y="3079699"/>
            <a:ext cx="256032" cy="204826"/>
          </a:xfrm>
          <a:prstGeom prst="rect">
            <a:avLst/>
          </a:prstGeom>
          <a:noFill/>
          <a:ln w="28575">
            <a:solidFill>
              <a:schemeClr val="tx1"/>
            </a:solidFill>
            <a:prstDash val="solid"/>
          </a:ln>
        </p:spPr>
      </p:sp>
      <p:sp>
        <p:nvSpPr>
          <p:cNvPr id="6" name="Glyph part 660"/>
          <p:cNvSpPr/>
          <p:nvPr/>
        </p:nvSpPr>
        <p:spPr>
          <a:xfrm>
            <a:off x="585216" y="3079699"/>
            <a:ext cx="256032" cy="56327"/>
          </a:xfrm>
          <a:prstGeom prst="rect">
            <a:avLst/>
          </a:prstGeom>
          <a:solidFill>
            <a:schemeClr val="tx1"/>
          </a:solidFill>
          <a:ln/>
        </p:spPr>
      </p:sp>
      <p:sp>
        <p:nvSpPr>
          <p:cNvPr id="7" name="Text 661"/>
          <p:cNvSpPr txBox="1"/>
          <p:nvPr/>
        </p:nvSpPr>
        <p:spPr>
          <a:xfrm>
            <a:off x="1234440" y="2926080"/>
            <a:ext cx="6400800" cy="512064"/>
          </a:xfrm>
          <a:prstGeom prst="rect">
            <a:avLst/>
          </a:prstGeom>
          <a:noFill/>
          <a:ln/>
        </p:spPr>
        <p:txBody>
          <a:bodyPr wrap="square" lIns="0" tIns="0" rIns="0" bIns="0" rtlCol="0" anchor="ctr"/>
          <a:lstStyle/>
          <a:p>
            <a:pPr indent="0" marL="0">
              <a:buNone/>
            </a:pPr>
            <a:r>
              <a:rPr lang="en-US" sz="2000" dirty="0">
                <a:solidFill>
                  <a:schemeClr val="bg1"/>
                </a:solidFill>
              </a:rPr>
              <a:t>toolshed-hire.vercel.app</a:t>
            </a:r>
            <a:endParaRPr lang="en-US" sz="2000" dirty="0"/>
          </a:p>
        </p:txBody>
      </p:sp>
      <p:sp>
        <p:nvSpPr>
          <p:cNvPr id="8" name="Icon branch 662"/>
          <p:cNvSpPr/>
          <p:nvPr/>
        </p:nvSpPr>
        <p:spPr>
          <a:xfrm>
            <a:off x="457200" y="3639312"/>
            <a:ext cx="512064" cy="512064"/>
          </a:xfrm>
          <a:prstGeom prst="ellipse">
            <a:avLst/>
          </a:prstGeom>
          <a:solidFill>
            <a:schemeClr val="accent1"/>
          </a:solidFill>
          <a:ln/>
        </p:spPr>
      </p:sp>
      <p:sp>
        <p:nvSpPr>
          <p:cNvPr id="9" name="Glyph stroke 664"/>
          <p:cNvSpPr/>
          <p:nvPr/>
        </p:nvSpPr>
        <p:spPr>
          <a:xfrm>
            <a:off x="646664" y="3803172"/>
            <a:ext cx="0" cy="184343"/>
          </a:xfrm>
          <a:prstGeom prst="line">
            <a:avLst/>
          </a:prstGeom>
          <a:noFill/>
          <a:ln w="28575">
            <a:solidFill>
              <a:schemeClr val="tx1"/>
            </a:solidFill>
            <a:prstDash val="solid"/>
          </a:ln>
        </p:spPr>
      </p:sp>
      <p:sp>
        <p:nvSpPr>
          <p:cNvPr id="10" name="Glyph stroke 665"/>
          <p:cNvSpPr/>
          <p:nvPr/>
        </p:nvSpPr>
        <p:spPr>
          <a:xfrm flipH="1">
            <a:off x="646664" y="3839017"/>
            <a:ext cx="128016" cy="112654"/>
          </a:xfrm>
          <a:prstGeom prst="line">
            <a:avLst/>
          </a:prstGeom>
          <a:noFill/>
          <a:ln w="28575">
            <a:solidFill>
              <a:schemeClr val="tx1"/>
            </a:solidFill>
            <a:prstDash val="solid"/>
          </a:ln>
        </p:spPr>
      </p:sp>
      <p:sp>
        <p:nvSpPr>
          <p:cNvPr id="11" name="Glyph part 666"/>
          <p:cNvSpPr/>
          <p:nvPr/>
        </p:nvSpPr>
        <p:spPr>
          <a:xfrm>
            <a:off x="610819" y="3767328"/>
            <a:ext cx="71689" cy="71689"/>
          </a:xfrm>
          <a:prstGeom prst="ellipse">
            <a:avLst/>
          </a:prstGeom>
          <a:solidFill>
            <a:schemeClr val="tx1"/>
          </a:solidFill>
          <a:ln/>
        </p:spPr>
      </p:sp>
      <p:sp>
        <p:nvSpPr>
          <p:cNvPr id="12" name="Glyph part 667"/>
          <p:cNvSpPr/>
          <p:nvPr/>
        </p:nvSpPr>
        <p:spPr>
          <a:xfrm>
            <a:off x="610819" y="3951671"/>
            <a:ext cx="71689" cy="71689"/>
          </a:xfrm>
          <a:prstGeom prst="ellipse">
            <a:avLst/>
          </a:prstGeom>
          <a:solidFill>
            <a:schemeClr val="tx1"/>
          </a:solidFill>
          <a:ln/>
        </p:spPr>
      </p:sp>
      <p:sp>
        <p:nvSpPr>
          <p:cNvPr id="13" name="Glyph part 668"/>
          <p:cNvSpPr/>
          <p:nvPr/>
        </p:nvSpPr>
        <p:spPr>
          <a:xfrm>
            <a:off x="738835" y="3803172"/>
            <a:ext cx="71689" cy="71689"/>
          </a:xfrm>
          <a:prstGeom prst="ellipse">
            <a:avLst/>
          </a:prstGeom>
          <a:solidFill>
            <a:schemeClr val="tx1"/>
          </a:solidFill>
          <a:ln/>
        </p:spPr>
      </p:sp>
      <p:sp>
        <p:nvSpPr>
          <p:cNvPr id="14" name="Text 669"/>
          <p:cNvSpPr txBox="1"/>
          <p:nvPr/>
        </p:nvSpPr>
        <p:spPr>
          <a:xfrm>
            <a:off x="1234440" y="3639312"/>
            <a:ext cx="6400800" cy="512064"/>
          </a:xfrm>
          <a:prstGeom prst="rect">
            <a:avLst/>
          </a:prstGeom>
          <a:noFill/>
          <a:ln/>
        </p:spPr>
        <p:txBody>
          <a:bodyPr wrap="square" lIns="0" tIns="0" rIns="0" bIns="0" rtlCol="0" anchor="ctr"/>
          <a:lstStyle/>
          <a:p>
            <a:pPr indent="0" marL="0">
              <a:buNone/>
            </a:pPr>
            <a:r>
              <a:rPr lang="en-US" sz="2000" dirty="0">
                <a:solidFill>
                  <a:schemeClr val="bg1"/>
                </a:solidFill>
              </a:rPr>
              <a:t>github.com/teon-artilionAI/toolshed-hire</a:t>
            </a:r>
            <a:endParaRPr lang="en-US" sz="2000" dirty="0"/>
          </a:p>
        </p:txBody>
      </p:sp>
      <p:sp>
        <p:nvSpPr>
          <p:cNvPr id="15" name="Icon person 670"/>
          <p:cNvSpPr/>
          <p:nvPr/>
        </p:nvSpPr>
        <p:spPr>
          <a:xfrm>
            <a:off x="457200" y="4352544"/>
            <a:ext cx="512064" cy="512064"/>
          </a:xfrm>
          <a:prstGeom prst="ellipse">
            <a:avLst/>
          </a:prstGeom>
          <a:solidFill>
            <a:schemeClr val="accent1"/>
          </a:solidFill>
          <a:ln/>
        </p:spPr>
      </p:sp>
      <p:sp>
        <p:nvSpPr>
          <p:cNvPr id="16" name="Glyph part 672"/>
          <p:cNvSpPr/>
          <p:nvPr/>
        </p:nvSpPr>
        <p:spPr>
          <a:xfrm>
            <a:off x="664586" y="4480560"/>
            <a:ext cx="97292" cy="97292"/>
          </a:xfrm>
          <a:prstGeom prst="ellipse">
            <a:avLst/>
          </a:prstGeom>
          <a:solidFill>
            <a:schemeClr val="tx1"/>
          </a:solidFill>
          <a:ln/>
        </p:spPr>
      </p:sp>
      <p:sp>
        <p:nvSpPr>
          <p:cNvPr id="17" name="Glyph part 673"/>
          <p:cNvSpPr/>
          <p:nvPr/>
        </p:nvSpPr>
        <p:spPr>
          <a:xfrm rot="16200000">
            <a:off x="631302" y="4588093"/>
            <a:ext cx="163860" cy="163860"/>
          </a:xfrm>
          <a:prstGeom prst="flowChartDelay">
            <a:avLst/>
          </a:prstGeom>
          <a:solidFill>
            <a:schemeClr val="tx1"/>
          </a:solidFill>
          <a:ln/>
        </p:spPr>
      </p:sp>
      <p:sp>
        <p:nvSpPr>
          <p:cNvPr id="18" name="Text 674"/>
          <p:cNvSpPr txBox="1"/>
          <p:nvPr/>
        </p:nvSpPr>
        <p:spPr>
          <a:xfrm>
            <a:off x="1234440" y="4352544"/>
            <a:ext cx="6400800" cy="512064"/>
          </a:xfrm>
          <a:prstGeom prst="rect">
            <a:avLst/>
          </a:prstGeom>
          <a:noFill/>
          <a:ln/>
        </p:spPr>
        <p:txBody>
          <a:bodyPr wrap="square" lIns="0" tIns="0" rIns="0" bIns="0" rtlCol="0" anchor="ctr"/>
          <a:lstStyle/>
          <a:p>
            <a:pPr indent="0" marL="0">
              <a:buNone/>
            </a:pPr>
            <a:r>
              <a:rPr lang="en-US" sz="2000" dirty="0">
                <a:solidFill>
                  <a:schemeClr val="bg1"/>
                </a:solidFill>
              </a:rPr>
              <a:t>Teon Kleynhans, ST10434209</a:t>
            </a:r>
            <a:endParaRPr lang="en-US" sz="2000" dirty="0"/>
          </a:p>
        </p:txBody>
      </p:sp>
      <p:sp>
        <p:nvSpPr>
          <p:cNvPr id="19" name="Text 675"/>
          <p:cNvSpPr txBox="1"/>
          <p:nvPr/>
        </p:nvSpPr>
        <p:spPr>
          <a:xfrm>
            <a:off x="457200" y="5166360"/>
            <a:ext cx="6400800" cy="365760"/>
          </a:xfrm>
          <a:prstGeom prst="rect">
            <a:avLst/>
          </a:prstGeom>
          <a:noFill/>
          <a:ln/>
        </p:spPr>
        <p:txBody>
          <a:bodyPr wrap="square" lIns="0" tIns="0" rIns="0" bIns="0" rtlCol="0" anchor="ctr"/>
          <a:lstStyle/>
          <a:p>
            <a:pPr indent="0" marL="0">
              <a:buNone/>
            </a:pPr>
            <a:r>
              <a:rPr lang="en-US" sz="1600" dirty="0">
                <a:solidFill>
                  <a:srgbClr val="CBD5E1"/>
                </a:solidFill>
              </a:rPr>
              <a:t>The README is the place to start</a:t>
            </a:r>
            <a:endParaRPr lang="en-US" sz="1600" dirty="0"/>
          </a:p>
        </p:txBody>
      </p:sp>
      <p:pic>
        <p:nvPicPr>
          <p:cNvPr id="20" name="Toolshed Hire mark" descr="Toolshed Hire">    </p:cNvPr>
          <p:cNvPicPr>
            <a:picLocks noChangeAspect="1"/>
          </p:cNvPicPr>
          <p:nvPr/>
        </p:nvPicPr>
        <p:blipFill>
          <a:blip r:embed="rId1"/>
          <a:stretch>
            <a:fillRect/>
          </a:stretch>
        </p:blipFill>
        <p:spPr>
          <a:xfrm>
            <a:off x="8092440" y="1965960"/>
            <a:ext cx="3200400" cy="3200400"/>
          </a:xfrm>
          <a:prstGeom prst="rect">
            <a:avLst/>
          </a:prstGeom>
        </p:spPr>
      </p:pic>
      <p:sp>
        <p:nvSpPr>
          <p:cNvPr id="25" name="Slide Number Placeholder 0"/>
          <p:cNvSpPr>
            <a:spLocks noGrp="1"/>
          </p:cNvSpPr>
          <p:nvPr>
            <p:ph type="sldNum" sz="quarter" idx="4294967295"/>
          </p:nvPr>
        </p:nvSpPr>
        <p:spPr>
          <a:xfrm>
            <a:off x="10820095" y="6144768"/>
            <a:ext cx="914400" cy="256032"/>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CBD5E1"/>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Toolshed Hire">
  <a:themeElements>
    <a:clrScheme name="Toolshed Hire">
      <a:dk1>
        <a:srgbClr val="141613"/>
      </a:dk1>
      <a:lt1>
        <a:srgbClr val="FFFFFF"/>
      </a:lt1>
      <a:dk2>
        <a:srgbClr val="334155"/>
      </a:dk2>
      <a:lt2>
        <a:srgbClr val="F8FAFC"/>
      </a:lt2>
      <a:accent1>
        <a:srgbClr val="F0A600"/>
      </a:accent1>
      <a:accent2>
        <a:srgbClr val="475569"/>
      </a:accent2>
      <a:accent3>
        <a:srgbClr val="047857"/>
      </a:accent3>
      <a:accent4>
        <a:srgbClr val="0369A1"/>
      </a:accent4>
      <a:accent5>
        <a:srgbClr val="B45309"/>
      </a:accent5>
      <a:accent6>
        <a:srgbClr val="B91C1C"/>
      </a:accent6>
      <a:hlink>
        <a:srgbClr val="0369A1"/>
      </a:hlink>
      <a:folHlink>
        <a:srgbClr val="4E5B6F"/>
      </a:folHlink>
    </a:clrScheme>
    <a:fontScheme name="Toolshed Hir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Teon Kleynhans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Toolshed Hire, Task 2</dc:title>
  <dc:subject>INSY7315 Task 2 presentation</dc:subject>
  <dc:creator>Teon Kleynhans</dc:creator>
  <cp:lastModifiedBy>Teon Kleynhans</cp:lastModifiedBy>
  <cp:revision>1</cp:revision>
  <dcterms:created xsi:type="dcterms:W3CDTF">2026-10-03T05:07:43Z</dcterms:created>
  <dcterms:modified xsi:type="dcterms:W3CDTF">2026-10-03T05:07:43Z</dcterms:modified>
</cp:coreProperties>
</file>